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60" r:id="rId2"/>
    <p:sldId id="258" r:id="rId3"/>
    <p:sldId id="259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>
        <p:scale>
          <a:sx n="100" d="100"/>
          <a:sy n="100" d="100"/>
        </p:scale>
        <p:origin x="756" y="-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 custT="1"/>
      <dgm:spPr/>
      <dgm:t>
        <a:bodyPr/>
        <a:lstStyle/>
        <a:p>
          <a:r>
            <a:rPr lang="en-SG" sz="1600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 custT="1"/>
      <dgm:spPr/>
      <dgm:t>
        <a:bodyPr/>
        <a:lstStyle/>
        <a:p>
          <a:r>
            <a:rPr lang="en-SG" sz="1600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 custT="1"/>
      <dgm:spPr/>
      <dgm:t>
        <a:bodyPr/>
        <a:lstStyle/>
        <a:p>
          <a:pPr>
            <a:buNone/>
          </a:pPr>
          <a:r>
            <a:rPr lang="en-SG" sz="1600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600" dirty="0"/>
            <a:t>RAG &amp; Agentic AI Orchestration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 custT="1"/>
      <dgm:spPr/>
      <dgm:t>
        <a:bodyPr/>
        <a:lstStyle/>
        <a:p>
          <a:r>
            <a:rPr lang="en-SG" sz="1600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 custT="1"/>
      <dgm:spPr/>
      <dgm:t>
        <a:bodyPr/>
        <a:lstStyle/>
        <a:p>
          <a:r>
            <a:rPr lang="en-SG" sz="1200" dirty="0"/>
            <a:t>Tag sources by Financial Year,  Type (Budget Statement / Round-Up Speech)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 custT="1"/>
      <dgm:spPr/>
      <dgm:t>
        <a:bodyPr/>
        <a:lstStyle/>
        <a:p>
          <a:r>
            <a:rPr lang="en-SG" sz="1200" dirty="0"/>
            <a:t>10 years Budget Statements, Round-Up Speeches – FY2016 - FY2025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 custT="1"/>
      <dgm:spPr/>
      <dgm:t>
        <a:bodyPr/>
        <a:lstStyle/>
        <a:p>
          <a:r>
            <a:rPr lang="en-SG" sz="1200" dirty="0"/>
            <a:t>Dense semantic embedding + Sparse lexical retrieval (BM25)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 custT="1"/>
      <dgm:spPr/>
      <dgm:t>
        <a:bodyPr/>
        <a:lstStyle/>
        <a:p>
          <a:r>
            <a:rPr lang="en-SG" sz="1200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With re-ranking retrieval (cross-encoder transformers, non-LLM)</a:t>
          </a:r>
          <a:endParaRPr lang="en-SG" sz="12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838D8691-B0A1-48CC-A58B-527833995C1E}">
      <dgm:prSet custT="1"/>
      <dgm:spPr/>
      <dgm:t>
        <a:bodyPr/>
        <a:lstStyle/>
        <a:p>
          <a:r>
            <a:rPr lang="en-SG" sz="1200" b="0" i="0" dirty="0"/>
            <a:t>Evaluation (QA)</a:t>
          </a:r>
          <a:endParaRPr lang="en-SG" sz="1200" b="1" dirty="0"/>
        </a:p>
      </dgm:t>
    </dgm:pt>
    <dgm:pt modelId="{E668D923-6533-40AE-B563-8EEA0442ABDC}" type="parTrans" cxnId="{0CDCD4C6-BAB0-4DD0-8EE5-66CB0023FC20}">
      <dgm:prSet/>
      <dgm:spPr/>
      <dgm:t>
        <a:bodyPr/>
        <a:lstStyle/>
        <a:p>
          <a:endParaRPr lang="en-SG"/>
        </a:p>
      </dgm:t>
    </dgm:pt>
    <dgm:pt modelId="{51F688DA-2903-4106-A015-85C94F7750C5}" type="sibTrans" cxnId="{0CDCD4C6-BAB0-4DD0-8EE5-66CB0023FC20}">
      <dgm:prSet/>
      <dgm:spPr/>
      <dgm:t>
        <a:bodyPr/>
        <a:lstStyle/>
        <a:p>
          <a:endParaRPr lang="en-SG"/>
        </a:p>
      </dgm:t>
    </dgm:pt>
    <dgm:pt modelId="{33DF35EA-74CE-420E-A3C4-4A84E45EB0E6}">
      <dgm:prSet custT="1"/>
      <dgm:spPr/>
      <dgm:t>
        <a:bodyPr/>
        <a:lstStyle/>
        <a:p>
          <a:endParaRPr lang="en-SG" sz="1200" b="1" dirty="0"/>
        </a:p>
      </dgm:t>
    </dgm:pt>
    <dgm:pt modelId="{F42840B0-A56B-493D-81AD-25EC0BD148C5}" type="parTrans" cxnId="{904DE8D0-79AD-43AF-A308-6508A2974A9C}">
      <dgm:prSet/>
      <dgm:spPr/>
      <dgm:t>
        <a:bodyPr/>
        <a:lstStyle/>
        <a:p>
          <a:endParaRPr lang="en-SG"/>
        </a:p>
      </dgm:t>
    </dgm:pt>
    <dgm:pt modelId="{A0523AAA-F6B8-4F7A-8F2E-687343386272}" type="sibTrans" cxnId="{904DE8D0-79AD-43AF-A308-6508A2974A9C}">
      <dgm:prSet/>
      <dgm:spPr/>
      <dgm:t>
        <a:bodyPr/>
        <a:lstStyle/>
        <a:p>
          <a:endParaRPr lang="en-SG"/>
        </a:p>
      </dgm:t>
    </dgm:pt>
    <dgm:pt modelId="{2216AD90-5177-4A66-AA84-50C8EE6450CC}">
      <dgm:prSet custT="1"/>
      <dgm:spPr/>
      <dgm:t>
        <a:bodyPr/>
        <a:lstStyle/>
        <a:p>
          <a:r>
            <a:rPr lang="en-SG" sz="1200" b="0" i="0" dirty="0"/>
            <a:t>AI Safety Guardrails</a:t>
          </a:r>
          <a:endParaRPr lang="en-SG" sz="1200" b="1" dirty="0"/>
        </a:p>
      </dgm:t>
    </dgm:pt>
    <dgm:pt modelId="{C0D068F3-873E-438D-BE39-857CB6D7CFA2}" type="parTrans" cxnId="{B4C7141B-03C3-4682-AAAA-19AF3DFF4B26}">
      <dgm:prSet/>
      <dgm:spPr/>
      <dgm:t>
        <a:bodyPr/>
        <a:lstStyle/>
        <a:p>
          <a:endParaRPr lang="en-SG"/>
        </a:p>
      </dgm:t>
    </dgm:pt>
    <dgm:pt modelId="{3E3317EE-CB4F-4691-A6CF-4AF8A1FE22EE}" type="sibTrans" cxnId="{B4C7141B-03C3-4682-AAAA-19AF3DFF4B26}">
      <dgm:prSet/>
      <dgm:spPr/>
      <dgm:t>
        <a:bodyPr/>
        <a:lstStyle/>
        <a:p>
          <a:endParaRPr lang="en-SG"/>
        </a:p>
      </dgm:t>
    </dgm:pt>
    <dgm:pt modelId="{DF33BD62-E60E-4B90-9780-200DB440587E}">
      <dgm:prSet custT="1"/>
      <dgm:spPr/>
      <dgm:t>
        <a:bodyPr/>
        <a:lstStyle/>
        <a:p>
          <a:r>
            <a:rPr lang="en-SG" sz="1200" b="0" i="0" dirty="0"/>
            <a:t>MCP Tooling</a:t>
          </a:r>
          <a:endParaRPr lang="en-SG" sz="1200" b="1" dirty="0"/>
        </a:p>
      </dgm:t>
    </dgm:pt>
    <dgm:pt modelId="{A04590DE-3551-4A80-8838-70BB6C8E8D47}" type="parTrans" cxnId="{4F439F2B-75CB-4202-8A22-1B0240C3C487}">
      <dgm:prSet/>
      <dgm:spPr/>
      <dgm:t>
        <a:bodyPr/>
        <a:lstStyle/>
        <a:p>
          <a:endParaRPr lang="en-SG"/>
        </a:p>
      </dgm:t>
    </dgm:pt>
    <dgm:pt modelId="{BC754C14-2EAC-4662-9989-E7C5258071F1}" type="sibTrans" cxnId="{4F439F2B-75CB-4202-8A22-1B0240C3C487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X="104663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C7141B-03C3-4682-AAAA-19AF3DFF4B26}" srcId="{8D939E49-1DCF-4EA5-8FAD-4C10D1706BBA}" destId="{2216AD90-5177-4A66-AA84-50C8EE6450CC}" srcOrd="2" destOrd="0" parTransId="{C0D068F3-873E-438D-BE39-857CB6D7CFA2}" sibTransId="{3E3317EE-CB4F-4691-A6CF-4AF8A1FE22EE}"/>
    <dgm:cxn modelId="{11E3A61B-AE8E-4C19-AAC9-01FE8A90EDFA}" type="presOf" srcId="{2216AD90-5177-4A66-AA84-50C8EE6450CC}" destId="{35C9A030-F680-4047-A5AD-E01589EA65AB}" srcOrd="0" destOrd="3" presId="urn:microsoft.com/office/officeart/2005/8/layout/process1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4F439F2B-75CB-4202-8A22-1B0240C3C487}" srcId="{8D939E49-1DCF-4EA5-8FAD-4C10D1706BBA}" destId="{DF33BD62-E60E-4B90-9780-200DB440587E}" srcOrd="3" destOrd="0" parTransId="{A04590DE-3551-4A80-8838-70BB6C8E8D47}" sibTransId="{BC754C14-2EAC-4662-9989-E7C5258071F1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BC0DF755-7F77-4A81-9B82-ADD54CB9E2E7}" type="presOf" srcId="{838D8691-B0A1-48CC-A58B-527833995C1E}" destId="{35C9A030-F680-4047-A5AD-E01589EA65AB}" srcOrd="0" destOrd="2" presId="urn:microsoft.com/office/officeart/2005/8/layout/process1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1CD5D484-CC14-4B81-BA9F-BBC3BAA6A6D1}" type="presOf" srcId="{DF33BD62-E60E-4B90-9780-200DB440587E}" destId="{35C9A030-F680-4047-A5AD-E01589EA65AB}" srcOrd="0" destOrd="4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1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0" destOrd="0" parTransId="{F721625A-BF04-47B9-8FE8-F6319B63F2E9}" sibTransId="{4D514DBE-7EA7-4E0C-82DB-BD5CE9853BC7}"/>
    <dgm:cxn modelId="{0CDCD4C6-BAB0-4DD0-8EE5-66CB0023FC20}" srcId="{8D939E49-1DCF-4EA5-8FAD-4C10D1706BBA}" destId="{838D8691-B0A1-48CC-A58B-527833995C1E}" srcOrd="1" destOrd="0" parTransId="{E668D923-6533-40AE-B563-8EEA0442ABDC}" sibTransId="{51F688DA-2903-4106-A015-85C94F7750C5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904DE8D0-79AD-43AF-A308-6508A2974A9C}" srcId="{8D939E49-1DCF-4EA5-8FAD-4C10D1706BBA}" destId="{33DF35EA-74CE-420E-A3C4-4A84E45EB0E6}" srcOrd="4" destOrd="0" parTransId="{F42840B0-A56B-493D-81AD-25EC0BD148C5}" sibTransId="{A0523AAA-F6B8-4F7A-8F2E-687343386272}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19E925F6-9A1A-41F1-8DC2-6691BB49B535}" type="presOf" srcId="{33DF35EA-74CE-420E-A3C4-4A84E45EB0E6}" destId="{35C9A030-F680-4047-A5AD-E01589EA65AB}" srcOrd="0" destOrd="5" presId="urn:microsoft.com/office/officeart/2005/8/layout/process1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233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Data Sources (Unstructured — Singapore Budgets)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10 years Budget Statements, Round-Up Speeches – FY2016 - FY2025</a:t>
          </a:r>
        </a:p>
      </dsp:txBody>
      <dsp:txXfrm>
        <a:off x="52711" y="838202"/>
        <a:ext cx="1619069" cy="2116203"/>
      </dsp:txXfrm>
    </dsp:sp>
    <dsp:sp modelId="{C8C2DF9B-2592-4876-8559-E8894F0B09C5}">
      <dsp:nvSpPr>
        <dsp:cNvPr id="0" name=""/>
        <dsp:cNvSpPr/>
      </dsp:nvSpPr>
      <dsp:spPr>
        <a:xfrm>
          <a:off x="1894134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1894134" y="1768350"/>
        <a:ext cx="255220" cy="255907"/>
      </dsp:txXfrm>
    </dsp:sp>
    <dsp:sp modelId="{92C6CB1E-8AB8-417B-99FC-BDB0633FF67D}">
      <dsp:nvSpPr>
        <dsp:cNvPr id="0" name=""/>
        <dsp:cNvSpPr/>
      </dsp:nvSpPr>
      <dsp:spPr>
        <a:xfrm>
          <a:off x="2410078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Ingestion &amp; Preprocessing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Tag sources by Financial Year,  Type (Budget Statement / Round-Up Speech)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Overlapping chunking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Dense semantic embedding + Sparse lexical retrieval (BM25)</a:t>
          </a:r>
        </a:p>
      </dsp:txBody>
      <dsp:txXfrm>
        <a:off x="2460450" y="838202"/>
        <a:ext cx="1619069" cy="2116203"/>
      </dsp:txXfrm>
    </dsp:sp>
    <dsp:sp modelId="{5ACAF45A-2293-4DEB-A521-8230FD18B43C}">
      <dsp:nvSpPr>
        <dsp:cNvPr id="0" name=""/>
        <dsp:cNvSpPr/>
      </dsp:nvSpPr>
      <dsp:spPr>
        <a:xfrm>
          <a:off x="4301873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4301873" y="1768350"/>
        <a:ext cx="255220" cy="255907"/>
      </dsp:txXfrm>
    </dsp:sp>
    <dsp:sp modelId="{35E22166-92D8-4563-AFE1-94814331420D}">
      <dsp:nvSpPr>
        <dsp:cNvPr id="0" name=""/>
        <dsp:cNvSpPr/>
      </dsp:nvSpPr>
      <dsp:spPr>
        <a:xfrm>
          <a:off x="4817817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Knowledge Stores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Vector DB</a:t>
          </a:r>
        </a:p>
      </dsp:txBody>
      <dsp:txXfrm>
        <a:off x="4868189" y="838202"/>
        <a:ext cx="1619069" cy="2116203"/>
      </dsp:txXfrm>
    </dsp:sp>
    <dsp:sp modelId="{97535247-3BF9-4E17-BDB4-1A03A64BCCF8}">
      <dsp:nvSpPr>
        <dsp:cNvPr id="0" name=""/>
        <dsp:cNvSpPr/>
      </dsp:nvSpPr>
      <dsp:spPr>
        <a:xfrm rot="21593065">
          <a:off x="6718608" y="1680561"/>
          <a:ext cx="383673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6718608" y="1765980"/>
        <a:ext cx="268571" cy="255907"/>
      </dsp:txXfrm>
    </dsp:sp>
    <dsp:sp modelId="{35C9A030-F680-4047-A5AD-E01589EA65AB}">
      <dsp:nvSpPr>
        <dsp:cNvPr id="0" name=""/>
        <dsp:cNvSpPr/>
      </dsp:nvSpPr>
      <dsp:spPr>
        <a:xfrm>
          <a:off x="7261541" y="782953"/>
          <a:ext cx="1800008" cy="22166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RAG &amp; Agentic AI Orchestration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With re-ranking retrieval (cross-encoder transformers, non-LLM)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Evaluation (QA)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AI Safety Guardrails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MCP Tooling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b="1" kern="1200" dirty="0"/>
        </a:p>
      </dsp:txBody>
      <dsp:txXfrm>
        <a:off x="7314261" y="835673"/>
        <a:ext cx="1694568" cy="2111241"/>
      </dsp:txXfrm>
    </dsp:sp>
    <dsp:sp modelId="{7894FAD1-982C-4135-BFAC-AAC3B729DCE7}">
      <dsp:nvSpPr>
        <dsp:cNvPr id="0" name=""/>
        <dsp:cNvSpPr/>
      </dsp:nvSpPr>
      <dsp:spPr>
        <a:xfrm rot="7141">
          <a:off x="9224534" y="1680604"/>
          <a:ext cx="345528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9224534" y="1765799"/>
        <a:ext cx="241870" cy="255907"/>
      </dsp:txXfrm>
    </dsp:sp>
    <dsp:sp modelId="{C16203E6-504B-4580-8F87-8CBB85053497}">
      <dsp:nvSpPr>
        <dsp:cNvPr id="0" name=""/>
        <dsp:cNvSpPr/>
      </dsp:nvSpPr>
      <dsp:spPr>
        <a:xfrm>
          <a:off x="971348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Response</a:t>
          </a:r>
        </a:p>
      </dsp:txBody>
      <dsp:txXfrm>
        <a:off x="9763861" y="838202"/>
        <a:ext cx="1619069" cy="2116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1C44-BE08-3592-69BD-55C8DBB2C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F6EF5-6308-9B3A-3E67-30BE6B274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14D86-4043-BFAF-275F-7B48B9794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C869E-B087-F74F-73E4-572087618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118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9/2/2026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f.gov.sg/budget-archives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0435161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9603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 A single-question Q&amp;A interface (no chat history) grounded in Singapore Budget Statements,  Annex and Budget Round-Up Speeches from FY2016 – FY2025.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200" dirty="0"/>
                <a:t>API + UI</a:t>
              </a:r>
              <a:endParaRPr lang="en-SG" sz="12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685A2-DDE9-2521-C6C6-1537FC0EF46F}"/>
              </a:ext>
            </a:extLst>
          </p:cNvPr>
          <p:cNvSpPr txBox="1"/>
          <p:nvPr/>
        </p:nvSpPr>
        <p:spPr>
          <a:xfrm>
            <a:off x="357412" y="5256011"/>
            <a:ext cx="21155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>
                <a:solidFill>
                  <a:srgbClr val="0070C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Archives | Ministry of Finance (MOF)</a:t>
            </a:r>
            <a:endParaRPr lang="en-SG" sz="1400" i="1" dirty="0">
              <a:solidFill>
                <a:srgbClr val="0070C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5F748F-418A-7132-FE81-A106F8540CF2}"/>
              </a:ext>
            </a:extLst>
          </p:cNvPr>
          <p:cNvGrpSpPr/>
          <p:nvPr/>
        </p:nvGrpSpPr>
        <p:grpSpPr>
          <a:xfrm>
            <a:off x="5305777" y="6053481"/>
            <a:ext cx="3604445" cy="627331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5F57974-6FD7-1EC4-F569-5E4BF1E07CB9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1E46A179-BA8F-52F4-7F84-AC8CBCB1F70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Frontend – Vercel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/>
                <a:t>Backend – </a:t>
              </a:r>
              <a:r>
                <a:rPr lang="en-SG" sz="1600" kern="1200" dirty="0">
                  <a:solidFill>
                    <a:srgbClr val="FF0000"/>
                  </a:solidFill>
                </a:rPr>
                <a:t>Fly.io / Cloud Run / Railway</a:t>
              </a:r>
              <a:endParaRPr lang="en-SG" sz="1200" kern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337ACDA-50BB-8E5D-4731-1B52C224CBBA}"/>
              </a:ext>
            </a:extLst>
          </p:cNvPr>
          <p:cNvSpPr/>
          <p:nvPr/>
        </p:nvSpPr>
        <p:spPr>
          <a:xfrm>
            <a:off x="10938933" y="0"/>
            <a:ext cx="1253067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Red fonts TBC</a:t>
            </a:r>
          </a:p>
        </p:txBody>
      </p: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>
            <a:off x="9082353" y="217868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726060" y="5804487"/>
            <a:ext cx="3118062" cy="941210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Lightweight security guardrails (prompt injection)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9591675" y="1863968"/>
            <a:ext cx="2457449" cy="1473263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Revise query for clarity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Assess coherence (classify + reason)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year intent (explicit / none)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Forward original </a:t>
              </a:r>
              <a:r>
                <a:rPr lang="en-SG" sz="1000" dirty="0"/>
                <a:t>+ revised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plan steps (non-LLM)</a:t>
              </a:r>
              <a:endParaRPr lang="en-SG" sz="1000" kern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960416" y="1881687"/>
            <a:ext cx="1632221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bg1"/>
                  </a:solidFill>
                </a:rPr>
                <a:t>Orchestrate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Reject incoherent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0800000">
            <a:off x="9075159" y="2461124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588614" y="2554537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52116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965586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merged score (dense + sparse) + tiered recency boost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717464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+ tiered recency boost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609750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298537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Assess evidence coverage, applicability, and confidence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731523" y="1896855"/>
            <a:ext cx="3281976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and Tools exposed as local MCP interface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6973126" y="4774560"/>
            <a:ext cx="150321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8184261" y="3921920"/>
            <a:ext cx="1324065" cy="818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(includes response, confidence, clarifying comments)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6770587" y="5121084"/>
            <a:ext cx="70718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227569" y="3801375"/>
            <a:ext cx="1657668" cy="1912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Deterministic plan steps for state “execute_plan”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"synthesize”, “reflect”],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…,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573690" y="2777843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5270497" y="3048478"/>
            <a:ext cx="1632221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Manager States</a:t>
            </a:r>
            <a:br>
              <a:rPr lang="en-SG" sz="1100" b="1" i="1" dirty="0"/>
            </a:br>
            <a:r>
              <a:rPr lang="en-SG" sz="1100" i="1" dirty="0"/>
              <a:t>{  “states”: [“execute_plan”, “success", “fail"] 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9270" y="2841988"/>
            <a:ext cx="1688459" cy="2910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 “low_coverage”,”ok”]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“low_coverage”,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E5BA77-46D6-8308-7A92-40C0B7EB590B}"/>
              </a:ext>
            </a:extLst>
          </p:cNvPr>
          <p:cNvSpPr txBox="1"/>
          <p:nvPr/>
        </p:nvSpPr>
        <p:spPr>
          <a:xfrm>
            <a:off x="4329588" y="1952624"/>
            <a:ext cx="226703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i="1" dirty="0"/>
              <a:t>Input / Output Guardrails</a:t>
            </a:r>
            <a:br>
              <a:rPr lang="en-SG" sz="1100" i="1" dirty="0"/>
            </a:br>
            <a:r>
              <a:rPr lang="en-SG" sz="1100" i="1" dirty="0"/>
              <a:t>(Specialists, Manager)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462E0-5DCD-B12D-DE47-C3B057C2B698}"/>
              </a:ext>
            </a:extLst>
          </p:cNvPr>
          <p:cNvSpPr txBox="1"/>
          <p:nvPr/>
        </p:nvSpPr>
        <p:spPr>
          <a:xfrm>
            <a:off x="8191657" y="4854426"/>
            <a:ext cx="1571807" cy="802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 (defensive)</a:t>
            </a:r>
            <a:br>
              <a:rPr lang="en-SG" sz="1400" i="1" dirty="0"/>
            </a:br>
            <a:r>
              <a:rPr lang="en-SG" sz="1100" i="1" dirty="0"/>
              <a:t>(incoherent_query, guardrail_block,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unknown_state …)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E9D57-4CA5-68CE-DD14-9D6B6283ACF9}"/>
              </a:ext>
            </a:extLst>
          </p:cNvPr>
          <p:cNvGrpSpPr/>
          <p:nvPr/>
        </p:nvGrpSpPr>
        <p:grpSpPr>
          <a:xfrm rot="16200000">
            <a:off x="6697464" y="4763981"/>
            <a:ext cx="1503211" cy="250602"/>
            <a:chOff x="9272692" y="1547728"/>
            <a:chExt cx="370682" cy="433628"/>
          </a:xfrm>
        </p:grpSpPr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E4533F2-DB46-C289-F345-6B5D40E73E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2CA80236-F093-7F12-AE10-1184EDB059A5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5323C58B-1605-649D-5677-C6ED87FDC8C1}"/>
              </a:ext>
            </a:extLst>
          </p:cNvPr>
          <p:cNvSpPr/>
          <p:nvPr/>
        </p:nvSpPr>
        <p:spPr>
          <a:xfrm>
            <a:off x="6944597" y="5407316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F48CA32-E56A-D01A-5C9C-BC013D7E177A}"/>
              </a:ext>
            </a:extLst>
          </p:cNvPr>
          <p:cNvSpPr/>
          <p:nvPr/>
        </p:nvSpPr>
        <p:spPr>
          <a:xfrm>
            <a:off x="8732392" y="2283425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5216FE-39CF-1A56-70BD-1C961579F31B}"/>
              </a:ext>
            </a:extLst>
          </p:cNvPr>
          <p:cNvSpPr/>
          <p:nvPr/>
        </p:nvSpPr>
        <p:spPr>
          <a:xfrm>
            <a:off x="6517180" y="2677353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A677A806-DFA6-24FA-4CA9-27CD0E893455}"/>
              </a:ext>
            </a:extLst>
          </p:cNvPr>
          <p:cNvSpPr/>
          <p:nvPr/>
        </p:nvSpPr>
        <p:spPr>
          <a:xfrm>
            <a:off x="7887193" y="4053720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759E-F857-2A8A-F8A4-B3A7D013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26FE4-12B7-A0B5-AE37-7D821815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7A5608C-5B79-B70F-37AB-29B3CC0326E5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Scoring Algorithm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223B41-FF33-C214-F5A9-DA4E7CF9BF28}"/>
              </a:ext>
            </a:extLst>
          </p:cNvPr>
          <p:cNvSpPr/>
          <p:nvPr/>
        </p:nvSpPr>
        <p:spPr>
          <a:xfrm>
            <a:off x="10938933" y="0"/>
            <a:ext cx="1253067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400" dirty="0">
                <a:solidFill>
                  <a:srgbClr val="FF0000"/>
                </a:solidFill>
              </a:rPr>
              <a:t>To update scoring tier-based recency boost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8C9308-CA7F-C1F7-4199-A64285DFD968}"/>
              </a:ext>
            </a:extLst>
          </p:cNvPr>
          <p:cNvSpPr/>
          <p:nvPr/>
        </p:nvSpPr>
        <p:spPr>
          <a:xfrm>
            <a:off x="8920632" y="145983"/>
            <a:ext cx="1762309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400" dirty="0">
                <a:solidFill>
                  <a:srgbClr val="FF0000"/>
                </a:solidFill>
              </a:rPr>
              <a:t>Consider add 1 slide on scoring algorithm based on scoring.md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07CA1-E503-3353-826C-7F79398D9DC9}"/>
              </a:ext>
            </a:extLst>
          </p:cNvPr>
          <p:cNvSpPr txBox="1"/>
          <p:nvPr/>
        </p:nvSpPr>
        <p:spPr>
          <a:xfrm>
            <a:off x="1451579" y="2045391"/>
            <a:ext cx="35511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Retrieval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/>
              <a:t>Get </a:t>
            </a:r>
            <a:r>
              <a:rPr lang="en-SG" dirty="0" err="1"/>
              <a:t>top_k</a:t>
            </a:r>
            <a:r>
              <a:rPr lang="en-SG" dirty="0"/>
              <a:t> from each list before merging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/>
              <a:t>Reciprocal Rank Fusion (RRF) + Tiered recency boost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dirty="0"/>
              <a:t>Two ranked lists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en-SG" dirty="0"/>
              <a:t>dense_vector search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en-SG" dirty="0"/>
              <a:t>Sparse/BM25 search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90EC47-D8AD-718E-CA31-BB2581371739}"/>
              </a:ext>
            </a:extLst>
          </p:cNvPr>
          <p:cNvSpPr txBox="1"/>
          <p:nvPr/>
        </p:nvSpPr>
        <p:spPr>
          <a:xfrm>
            <a:off x="6454901" y="2045391"/>
            <a:ext cx="44840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Re-ranking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/>
              <a:t>Re-rank merged list with cross-encoder transformer + tiered recency boost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DB90E-7027-E0DE-996E-AE611B00081B}"/>
              </a:ext>
            </a:extLst>
          </p:cNvPr>
          <p:cNvSpPr txBox="1"/>
          <p:nvPr/>
        </p:nvSpPr>
        <p:spPr>
          <a:xfrm>
            <a:off x="638175" y="4649939"/>
            <a:ext cx="49244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/>
              <a:t>score_rrf = sum(1 / (k + rank))</a:t>
            </a:r>
          </a:p>
          <a:p>
            <a:r>
              <a:rPr lang="en-SG" sz="1400" i="1" dirty="0" err="1"/>
              <a:t>boost_tier</a:t>
            </a:r>
            <a:r>
              <a:rPr lang="en-SG" sz="1400" i="1" dirty="0"/>
              <a:t> = (window - (</a:t>
            </a:r>
            <a:r>
              <a:rPr lang="en-SG" sz="1400" i="1" dirty="0" err="1"/>
              <a:t>current_year</a:t>
            </a:r>
            <a:r>
              <a:rPr lang="en-SG" sz="1400" i="1" dirty="0"/>
              <a:t> - </a:t>
            </a:r>
            <a:r>
              <a:rPr lang="en-SG" sz="1400" i="1" dirty="0" err="1"/>
              <a:t>fy</a:t>
            </a:r>
            <a:r>
              <a:rPr lang="en-SG" sz="1400" i="1" dirty="0"/>
              <a:t>)) / window</a:t>
            </a:r>
          </a:p>
          <a:p>
            <a:r>
              <a:rPr lang="en-SG" sz="1400" i="1" dirty="0"/>
              <a:t>score_rrf = score_rrf + </a:t>
            </a:r>
            <a:r>
              <a:rPr lang="en-SG" sz="1400" i="1" dirty="0" err="1"/>
              <a:t>retrieve_recency_boost</a:t>
            </a:r>
            <a:r>
              <a:rPr lang="en-SG" sz="1400" i="1" dirty="0"/>
              <a:t> * </a:t>
            </a:r>
            <a:r>
              <a:rPr lang="en-SG" sz="1400" i="1" dirty="0" err="1"/>
              <a:t>boost_tier</a:t>
            </a:r>
            <a:endParaRPr lang="en-SG" sz="1400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185B77-498E-A08D-71E4-B988F1BEEA43}"/>
              </a:ext>
            </a:extLst>
          </p:cNvPr>
          <p:cNvSpPr txBox="1"/>
          <p:nvPr/>
        </p:nvSpPr>
        <p:spPr>
          <a:xfrm>
            <a:off x="6096000" y="4491037"/>
            <a:ext cx="59869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 err="1"/>
              <a:t>score_ce</a:t>
            </a:r>
            <a:r>
              <a:rPr lang="en-SG" sz="1400" i="1" dirty="0"/>
              <a:t> = </a:t>
            </a:r>
            <a:r>
              <a:rPr lang="en-SG" sz="1400" i="1" dirty="0" err="1"/>
              <a:t>cross_encoder.predict</a:t>
            </a:r>
            <a:r>
              <a:rPr lang="en-SG" sz="1400" i="1" dirty="0"/>
              <a:t>(query, </a:t>
            </a:r>
            <a:r>
              <a:rPr lang="en-SG" sz="1400" i="1" dirty="0" err="1"/>
              <a:t>hit.text</a:t>
            </a:r>
            <a:r>
              <a:rPr lang="en-SG" sz="1400" i="1" dirty="0"/>
              <a:t>)</a:t>
            </a:r>
          </a:p>
          <a:p>
            <a:r>
              <a:rPr lang="en-SG" sz="1400" i="1" dirty="0" err="1"/>
              <a:t>score_norm</a:t>
            </a:r>
            <a:r>
              <a:rPr lang="en-SG" sz="1400" i="1" dirty="0"/>
              <a:t> = (</a:t>
            </a:r>
            <a:r>
              <a:rPr lang="en-SG" sz="1400" i="1" dirty="0" err="1"/>
              <a:t>score_ce</a:t>
            </a:r>
            <a:r>
              <a:rPr lang="en-SG" sz="1400" i="1" dirty="0"/>
              <a:t> - min) / (max - min)</a:t>
            </a:r>
          </a:p>
          <a:p>
            <a:r>
              <a:rPr lang="en-SG" sz="1400" i="1" dirty="0" err="1"/>
              <a:t>score_final</a:t>
            </a:r>
            <a:r>
              <a:rPr lang="en-SG" sz="1400" i="1" dirty="0"/>
              <a:t> = </a:t>
            </a:r>
            <a:r>
              <a:rPr lang="en-SG" sz="1400" i="1" dirty="0" err="1"/>
              <a:t>score_norm</a:t>
            </a:r>
            <a:r>
              <a:rPr lang="en-SG" sz="1400" i="1" dirty="0"/>
              <a:t> + </a:t>
            </a:r>
            <a:r>
              <a:rPr lang="en-SG" sz="1400" i="1" dirty="0" err="1"/>
              <a:t>rerank_recency_boost</a:t>
            </a:r>
            <a:r>
              <a:rPr lang="en-SG" sz="1400" i="1" dirty="0"/>
              <a:t> (if hit is in recent window)</a:t>
            </a:r>
          </a:p>
        </p:txBody>
      </p:sp>
    </p:spTree>
    <p:extLst>
      <p:ext uri="{BB962C8B-B14F-4D97-AF65-F5344CB8AC3E}">
        <p14:creationId xmlns:p14="http://schemas.microsoft.com/office/powerpoint/2010/main" val="866133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1798</TotalTime>
  <Words>709</Words>
  <Application>Microsoft Office PowerPoint</Application>
  <PresentationFormat>Widescreen</PresentationFormat>
  <Paragraphs>106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Gill Sans MT</vt:lpstr>
      <vt:lpstr>Wingdings</vt:lpstr>
      <vt:lpstr>Gallery</vt:lpstr>
      <vt:lpstr>System Architecture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469</cp:revision>
  <dcterms:created xsi:type="dcterms:W3CDTF">2026-01-26T05:50:14Z</dcterms:created>
  <dcterms:modified xsi:type="dcterms:W3CDTF">2026-02-09T06:39:31Z</dcterms:modified>
</cp:coreProperties>
</file>