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"/>
  </p:notesMasterIdLst>
  <p:sldIdLst>
    <p:sldId id="260" r:id="rId2"/>
    <p:sldId id="258" r:id="rId3"/>
    <p:sldId id="259" r:id="rId4"/>
    <p:sldId id="262" r:id="rId5"/>
    <p:sldId id="261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C54DA0C-8B6E-4887-85F2-7BA7E28D98A6}">
          <p14:sldIdLst>
            <p14:sldId id="260"/>
            <p14:sldId id="258"/>
            <p14:sldId id="259"/>
          </p14:sldIdLst>
        </p14:section>
        <p14:section name="Key Algorithm" id="{FC6F502C-BCB0-4E8E-B6F1-A2E6C8A60000}">
          <p14:sldIdLst>
            <p14:sldId id="262"/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2" autoAdjust="0"/>
    <p:restoredTop sz="94660"/>
  </p:normalViewPr>
  <p:slideViewPr>
    <p:cSldViewPr snapToGrid="0">
      <p:cViewPr>
        <p:scale>
          <a:sx n="100" d="100"/>
          <a:sy n="100" d="100"/>
        </p:scale>
        <p:origin x="756" y="-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3C774CC-5ABC-4DBC-AA95-95A8E9530D0F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6F5E7D44-1557-4D24-B418-71C970AD6BEF}">
      <dgm:prSet custT="1"/>
      <dgm:spPr/>
      <dgm:t>
        <a:bodyPr/>
        <a:lstStyle/>
        <a:p>
          <a:r>
            <a:rPr lang="en-SG" sz="1600" dirty="0"/>
            <a:t>Data Sources (Unstructured — Singapore Budgets)</a:t>
          </a:r>
        </a:p>
      </dgm:t>
    </dgm:pt>
    <dgm:pt modelId="{650FB0FD-2931-4FC3-85ED-4A827A98927E}" type="parTrans" cxnId="{F2982640-DDF6-43CD-A2E2-A039D5D679A3}">
      <dgm:prSet/>
      <dgm:spPr/>
      <dgm:t>
        <a:bodyPr/>
        <a:lstStyle/>
        <a:p>
          <a:endParaRPr lang="en-SG"/>
        </a:p>
      </dgm:t>
    </dgm:pt>
    <dgm:pt modelId="{E0E4E17F-FE6C-4091-ACB5-7F2D6C4BE1D7}" type="sibTrans" cxnId="{F2982640-DDF6-43CD-A2E2-A039D5D679A3}">
      <dgm:prSet/>
      <dgm:spPr/>
      <dgm:t>
        <a:bodyPr/>
        <a:lstStyle/>
        <a:p>
          <a:endParaRPr lang="en-SG" dirty="0"/>
        </a:p>
      </dgm:t>
    </dgm:pt>
    <dgm:pt modelId="{079FAE3C-BF08-425F-BECA-798B744C0D11}">
      <dgm:prSet custT="1"/>
      <dgm:spPr/>
      <dgm:t>
        <a:bodyPr/>
        <a:lstStyle/>
        <a:p>
          <a:r>
            <a:rPr lang="en-SG" sz="1600" dirty="0"/>
            <a:t>Ingestion &amp; Preprocessing</a:t>
          </a:r>
        </a:p>
      </dgm:t>
    </dgm:pt>
    <dgm:pt modelId="{A29D9133-0987-4FED-9312-D210C92FC2FD}" type="parTrans" cxnId="{B42B22D3-A5F4-462F-8295-0AFA45E9B3DF}">
      <dgm:prSet/>
      <dgm:spPr/>
      <dgm:t>
        <a:bodyPr/>
        <a:lstStyle/>
        <a:p>
          <a:endParaRPr lang="en-SG"/>
        </a:p>
      </dgm:t>
    </dgm:pt>
    <dgm:pt modelId="{4E8D1881-922E-437F-B010-AA1E6A222DFE}" type="sibTrans" cxnId="{B42B22D3-A5F4-462F-8295-0AFA45E9B3DF}">
      <dgm:prSet/>
      <dgm:spPr/>
      <dgm:t>
        <a:bodyPr/>
        <a:lstStyle/>
        <a:p>
          <a:endParaRPr lang="en-SG" dirty="0"/>
        </a:p>
      </dgm:t>
    </dgm:pt>
    <dgm:pt modelId="{27C25BF8-704C-4EDD-AD83-35C8EFC3F1E2}">
      <dgm:prSet custT="1"/>
      <dgm:spPr/>
      <dgm:t>
        <a:bodyPr/>
        <a:lstStyle/>
        <a:p>
          <a:pPr>
            <a:buNone/>
          </a:pPr>
          <a:r>
            <a:rPr lang="en-SG" sz="1600" dirty="0"/>
            <a:t>Knowledge Stores</a:t>
          </a:r>
        </a:p>
      </dgm:t>
    </dgm:pt>
    <dgm:pt modelId="{B1030CD2-66E4-4418-B5D8-421063A87A63}" type="parTrans" cxnId="{B6895D99-57E2-4E90-96D1-6D8068EF1F00}">
      <dgm:prSet/>
      <dgm:spPr/>
      <dgm:t>
        <a:bodyPr/>
        <a:lstStyle/>
        <a:p>
          <a:endParaRPr lang="en-SG"/>
        </a:p>
      </dgm:t>
    </dgm:pt>
    <dgm:pt modelId="{24A5978D-6909-40FE-907E-7396AD1AE1D2}" type="sibTrans" cxnId="{B6895D99-57E2-4E90-96D1-6D8068EF1F00}">
      <dgm:prSet/>
      <dgm:spPr/>
      <dgm:t>
        <a:bodyPr/>
        <a:lstStyle/>
        <a:p>
          <a:endParaRPr lang="en-SG" dirty="0"/>
        </a:p>
      </dgm:t>
    </dgm:pt>
    <dgm:pt modelId="{8D939E49-1DCF-4EA5-8FAD-4C10D1706BBA}">
      <dgm:prSet custT="1"/>
      <dgm:spPr/>
      <dgm:t>
        <a:bodyPr/>
        <a:lstStyle/>
        <a:p>
          <a:pPr>
            <a:buNone/>
          </a:pPr>
          <a:r>
            <a:rPr lang="en-SG" sz="1600" dirty="0"/>
            <a:t>RAG &amp; Agentic AI Orchestration</a:t>
          </a:r>
        </a:p>
      </dgm:t>
    </dgm:pt>
    <dgm:pt modelId="{FBE8369D-0324-41FE-B007-2B20E3C80C06}" type="parTrans" cxnId="{BF37E6A6-BF8A-4A85-8947-CA083D59FDA9}">
      <dgm:prSet/>
      <dgm:spPr/>
      <dgm:t>
        <a:bodyPr/>
        <a:lstStyle/>
        <a:p>
          <a:endParaRPr lang="en-SG"/>
        </a:p>
      </dgm:t>
    </dgm:pt>
    <dgm:pt modelId="{8B4A4F78-DE25-471A-8C80-F5931F735A9D}" type="sibTrans" cxnId="{BF37E6A6-BF8A-4A85-8947-CA083D59FDA9}">
      <dgm:prSet/>
      <dgm:spPr/>
      <dgm:t>
        <a:bodyPr/>
        <a:lstStyle/>
        <a:p>
          <a:endParaRPr lang="en-SG" dirty="0"/>
        </a:p>
      </dgm:t>
    </dgm:pt>
    <dgm:pt modelId="{CA85AEC3-64F6-4ABB-BAE0-5B3CFE072DA2}">
      <dgm:prSet custT="1"/>
      <dgm:spPr/>
      <dgm:t>
        <a:bodyPr/>
        <a:lstStyle/>
        <a:p>
          <a:r>
            <a:rPr lang="en-SG" sz="1600" dirty="0"/>
            <a:t>Response</a:t>
          </a:r>
        </a:p>
      </dgm:t>
    </dgm:pt>
    <dgm:pt modelId="{901EECF6-A23F-41F9-B435-5CAF35502B6B}" type="parTrans" cxnId="{762BCF7E-9BA8-4864-997A-B572791B4B73}">
      <dgm:prSet/>
      <dgm:spPr/>
      <dgm:t>
        <a:bodyPr/>
        <a:lstStyle/>
        <a:p>
          <a:endParaRPr lang="en-SG"/>
        </a:p>
      </dgm:t>
    </dgm:pt>
    <dgm:pt modelId="{0DBFFCDE-B8FF-4550-A083-C0374CF8F108}" type="sibTrans" cxnId="{762BCF7E-9BA8-4864-997A-B572791B4B73}">
      <dgm:prSet/>
      <dgm:spPr/>
      <dgm:t>
        <a:bodyPr/>
        <a:lstStyle/>
        <a:p>
          <a:endParaRPr lang="en-SG"/>
        </a:p>
      </dgm:t>
    </dgm:pt>
    <dgm:pt modelId="{FC0F9AFE-2DC1-4CC8-B649-12982D951021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SG" sz="1200" dirty="0"/>
            <a:t>Vector DB</a:t>
          </a:r>
        </a:p>
      </dgm:t>
    </dgm:pt>
    <dgm:pt modelId="{2FAC6633-295A-4515-96D7-FE1B808C1B63}" type="parTrans" cxnId="{B41D552A-A7CD-48A2-B689-A82BDFD5B0FF}">
      <dgm:prSet/>
      <dgm:spPr/>
      <dgm:t>
        <a:bodyPr/>
        <a:lstStyle/>
        <a:p>
          <a:endParaRPr lang="en-SG"/>
        </a:p>
      </dgm:t>
    </dgm:pt>
    <dgm:pt modelId="{9EDD29D1-B9DF-44B0-8902-9E49AD4AC93B}" type="sibTrans" cxnId="{B41D552A-A7CD-48A2-B689-A82BDFD5B0FF}">
      <dgm:prSet/>
      <dgm:spPr/>
      <dgm:t>
        <a:bodyPr/>
        <a:lstStyle/>
        <a:p>
          <a:endParaRPr lang="en-SG"/>
        </a:p>
      </dgm:t>
    </dgm:pt>
    <dgm:pt modelId="{160C48D4-816C-4610-8145-C4A8BA1165ED}">
      <dgm:prSet custT="1"/>
      <dgm:spPr/>
      <dgm:t>
        <a:bodyPr/>
        <a:lstStyle/>
        <a:p>
          <a:r>
            <a:rPr lang="en-SG" sz="1200" dirty="0"/>
            <a:t>Tag sources by Financial Year,  Type (Budget Statement / Round-Up Speech)</a:t>
          </a:r>
        </a:p>
      </dgm:t>
    </dgm:pt>
    <dgm:pt modelId="{A0A0FE57-917B-4AE5-9575-E039280D23BF}" type="parTrans" cxnId="{4FF1C943-C55F-43F4-9D3F-1F39432EC1EC}">
      <dgm:prSet/>
      <dgm:spPr/>
      <dgm:t>
        <a:bodyPr/>
        <a:lstStyle/>
        <a:p>
          <a:endParaRPr lang="en-SG"/>
        </a:p>
      </dgm:t>
    </dgm:pt>
    <dgm:pt modelId="{B6513777-C514-4AF8-B67C-3023EB0A6C28}" type="sibTrans" cxnId="{4FF1C943-C55F-43F4-9D3F-1F39432EC1EC}">
      <dgm:prSet/>
      <dgm:spPr/>
      <dgm:t>
        <a:bodyPr/>
        <a:lstStyle/>
        <a:p>
          <a:endParaRPr lang="en-SG"/>
        </a:p>
      </dgm:t>
    </dgm:pt>
    <dgm:pt modelId="{CF4E7E4F-DF45-4333-BC11-CA48C662E33A}">
      <dgm:prSet custT="1"/>
      <dgm:spPr/>
      <dgm:t>
        <a:bodyPr/>
        <a:lstStyle/>
        <a:p>
          <a:r>
            <a:rPr lang="en-SG" sz="1200" dirty="0"/>
            <a:t>10 years Budget Statements, Round-Up Speeches – FY2016 - FY2025</a:t>
          </a:r>
        </a:p>
      </dgm:t>
    </dgm:pt>
    <dgm:pt modelId="{97FD80C0-EE24-4989-AC3B-3D2B9D1C6DD7}" type="parTrans" cxnId="{D59C6718-48B0-41EE-9EFB-8567CAE979BE}">
      <dgm:prSet/>
      <dgm:spPr/>
      <dgm:t>
        <a:bodyPr/>
        <a:lstStyle/>
        <a:p>
          <a:endParaRPr lang="en-SG"/>
        </a:p>
      </dgm:t>
    </dgm:pt>
    <dgm:pt modelId="{71FD74C0-1BD3-4910-A6E2-97861893B144}" type="sibTrans" cxnId="{D59C6718-48B0-41EE-9EFB-8567CAE979BE}">
      <dgm:prSet/>
      <dgm:spPr/>
      <dgm:t>
        <a:bodyPr/>
        <a:lstStyle/>
        <a:p>
          <a:endParaRPr lang="en-SG"/>
        </a:p>
      </dgm:t>
    </dgm:pt>
    <dgm:pt modelId="{4F971BCF-6BF9-4240-BD4F-DF7FC6ED3A3C}">
      <dgm:prSet custT="1"/>
      <dgm:spPr/>
      <dgm:t>
        <a:bodyPr/>
        <a:lstStyle/>
        <a:p>
          <a:r>
            <a:rPr lang="en-SG" sz="1200" dirty="0"/>
            <a:t>Dense semantic embedding + Sparse lexical retrieval (BM25-style)</a:t>
          </a:r>
        </a:p>
      </dgm:t>
    </dgm:pt>
    <dgm:pt modelId="{7FD38D87-98A3-4038-AAB3-ED60042E90AB}" type="parTrans" cxnId="{5CC78B03-FFE8-4425-B89B-296BEC8F4D01}">
      <dgm:prSet/>
      <dgm:spPr/>
      <dgm:t>
        <a:bodyPr/>
        <a:lstStyle/>
        <a:p>
          <a:endParaRPr lang="en-SG"/>
        </a:p>
      </dgm:t>
    </dgm:pt>
    <dgm:pt modelId="{EAEAFAAC-29C2-4173-BB09-A9ACE02CAA4A}" type="sibTrans" cxnId="{5CC78B03-FFE8-4425-B89B-296BEC8F4D01}">
      <dgm:prSet/>
      <dgm:spPr/>
      <dgm:t>
        <a:bodyPr/>
        <a:lstStyle/>
        <a:p>
          <a:endParaRPr lang="en-SG"/>
        </a:p>
      </dgm:t>
    </dgm:pt>
    <dgm:pt modelId="{AD318CD4-0D24-4292-960A-331D4871A296}">
      <dgm:prSet custT="1"/>
      <dgm:spPr/>
      <dgm:t>
        <a:bodyPr/>
        <a:lstStyle/>
        <a:p>
          <a:r>
            <a:rPr lang="en-SG" sz="1200" dirty="0"/>
            <a:t>Overlapping chunking</a:t>
          </a:r>
        </a:p>
      </dgm:t>
    </dgm:pt>
    <dgm:pt modelId="{5DD6E0D8-1627-48EF-946B-F1C280CE00B7}" type="parTrans" cxnId="{4A5825BA-5664-4E5A-8EB9-F6C7A6474C13}">
      <dgm:prSet/>
      <dgm:spPr/>
      <dgm:t>
        <a:bodyPr/>
        <a:lstStyle/>
        <a:p>
          <a:endParaRPr lang="en-SG"/>
        </a:p>
      </dgm:t>
    </dgm:pt>
    <dgm:pt modelId="{DC3EF715-4F6E-4BEB-9B25-6555509B9B9C}" type="sibTrans" cxnId="{4A5825BA-5664-4E5A-8EB9-F6C7A6474C13}">
      <dgm:prSet/>
      <dgm:spPr/>
      <dgm:t>
        <a:bodyPr/>
        <a:lstStyle/>
        <a:p>
          <a:endParaRPr lang="en-SG"/>
        </a:p>
      </dgm:t>
    </dgm:pt>
    <dgm:pt modelId="{3BD596F6-11EB-48AD-9E08-8787E5F683F7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SG" sz="1200" dirty="0"/>
            <a:t>With re-ranking retrieval (cross-encoder transformers, non-LLM)</a:t>
          </a:r>
          <a:endParaRPr lang="en-SG" sz="1200" b="1" dirty="0"/>
        </a:p>
      </dgm:t>
    </dgm:pt>
    <dgm:pt modelId="{F721625A-BF04-47B9-8FE8-F6319B63F2E9}" type="parTrans" cxnId="{DA735BC0-76E0-474D-853A-9CAFEAD6275A}">
      <dgm:prSet/>
      <dgm:spPr/>
      <dgm:t>
        <a:bodyPr/>
        <a:lstStyle/>
        <a:p>
          <a:endParaRPr lang="en-SG"/>
        </a:p>
      </dgm:t>
    </dgm:pt>
    <dgm:pt modelId="{4D514DBE-7EA7-4E0C-82DB-BD5CE9853BC7}" type="sibTrans" cxnId="{DA735BC0-76E0-474D-853A-9CAFEAD6275A}">
      <dgm:prSet/>
      <dgm:spPr/>
      <dgm:t>
        <a:bodyPr/>
        <a:lstStyle/>
        <a:p>
          <a:endParaRPr lang="en-SG"/>
        </a:p>
      </dgm:t>
    </dgm:pt>
    <dgm:pt modelId="{838D8691-B0A1-48CC-A58B-527833995C1E}">
      <dgm:prSet custT="1"/>
      <dgm:spPr/>
      <dgm:t>
        <a:bodyPr/>
        <a:lstStyle/>
        <a:p>
          <a:r>
            <a:rPr lang="en-SG" sz="1200" b="0" i="0" dirty="0"/>
            <a:t>Evaluation (QA)</a:t>
          </a:r>
          <a:endParaRPr lang="en-SG" sz="1200" b="1" dirty="0"/>
        </a:p>
      </dgm:t>
    </dgm:pt>
    <dgm:pt modelId="{E668D923-6533-40AE-B563-8EEA0442ABDC}" type="parTrans" cxnId="{0CDCD4C6-BAB0-4DD0-8EE5-66CB0023FC20}">
      <dgm:prSet/>
      <dgm:spPr/>
      <dgm:t>
        <a:bodyPr/>
        <a:lstStyle/>
        <a:p>
          <a:endParaRPr lang="en-SG"/>
        </a:p>
      </dgm:t>
    </dgm:pt>
    <dgm:pt modelId="{51F688DA-2903-4106-A015-85C94F7750C5}" type="sibTrans" cxnId="{0CDCD4C6-BAB0-4DD0-8EE5-66CB0023FC20}">
      <dgm:prSet/>
      <dgm:spPr/>
      <dgm:t>
        <a:bodyPr/>
        <a:lstStyle/>
        <a:p>
          <a:endParaRPr lang="en-SG"/>
        </a:p>
      </dgm:t>
    </dgm:pt>
    <dgm:pt modelId="{33DF35EA-74CE-420E-A3C4-4A84E45EB0E6}">
      <dgm:prSet custT="1"/>
      <dgm:spPr/>
      <dgm:t>
        <a:bodyPr/>
        <a:lstStyle/>
        <a:p>
          <a:endParaRPr lang="en-SG" sz="1200" b="1" dirty="0"/>
        </a:p>
      </dgm:t>
    </dgm:pt>
    <dgm:pt modelId="{F42840B0-A56B-493D-81AD-25EC0BD148C5}" type="parTrans" cxnId="{904DE8D0-79AD-43AF-A308-6508A2974A9C}">
      <dgm:prSet/>
      <dgm:spPr/>
      <dgm:t>
        <a:bodyPr/>
        <a:lstStyle/>
        <a:p>
          <a:endParaRPr lang="en-SG"/>
        </a:p>
      </dgm:t>
    </dgm:pt>
    <dgm:pt modelId="{A0523AAA-F6B8-4F7A-8F2E-687343386272}" type="sibTrans" cxnId="{904DE8D0-79AD-43AF-A308-6508A2974A9C}">
      <dgm:prSet/>
      <dgm:spPr/>
      <dgm:t>
        <a:bodyPr/>
        <a:lstStyle/>
        <a:p>
          <a:endParaRPr lang="en-SG"/>
        </a:p>
      </dgm:t>
    </dgm:pt>
    <dgm:pt modelId="{2216AD90-5177-4A66-AA84-50C8EE6450CC}">
      <dgm:prSet custT="1"/>
      <dgm:spPr/>
      <dgm:t>
        <a:bodyPr/>
        <a:lstStyle/>
        <a:p>
          <a:r>
            <a:rPr lang="en-SG" sz="1200" b="0" i="0" dirty="0"/>
            <a:t>AI Safety Guardrails</a:t>
          </a:r>
          <a:endParaRPr lang="en-SG" sz="1200" b="1" dirty="0"/>
        </a:p>
      </dgm:t>
    </dgm:pt>
    <dgm:pt modelId="{C0D068F3-873E-438D-BE39-857CB6D7CFA2}" type="parTrans" cxnId="{B4C7141B-03C3-4682-AAAA-19AF3DFF4B26}">
      <dgm:prSet/>
      <dgm:spPr/>
      <dgm:t>
        <a:bodyPr/>
        <a:lstStyle/>
        <a:p>
          <a:endParaRPr lang="en-SG"/>
        </a:p>
      </dgm:t>
    </dgm:pt>
    <dgm:pt modelId="{3E3317EE-CB4F-4691-A6CF-4AF8A1FE22EE}" type="sibTrans" cxnId="{B4C7141B-03C3-4682-AAAA-19AF3DFF4B26}">
      <dgm:prSet/>
      <dgm:spPr/>
      <dgm:t>
        <a:bodyPr/>
        <a:lstStyle/>
        <a:p>
          <a:endParaRPr lang="en-SG"/>
        </a:p>
      </dgm:t>
    </dgm:pt>
    <dgm:pt modelId="{DF33BD62-E60E-4B90-9780-200DB440587E}">
      <dgm:prSet custT="1"/>
      <dgm:spPr/>
      <dgm:t>
        <a:bodyPr/>
        <a:lstStyle/>
        <a:p>
          <a:r>
            <a:rPr lang="en-SG" sz="1200" b="0" i="0" dirty="0"/>
            <a:t>MCP Tooling</a:t>
          </a:r>
          <a:endParaRPr lang="en-SG" sz="1200" b="1" dirty="0"/>
        </a:p>
      </dgm:t>
    </dgm:pt>
    <dgm:pt modelId="{A04590DE-3551-4A80-8838-70BB6C8E8D47}" type="parTrans" cxnId="{4F439F2B-75CB-4202-8A22-1B0240C3C487}">
      <dgm:prSet/>
      <dgm:spPr/>
      <dgm:t>
        <a:bodyPr/>
        <a:lstStyle/>
        <a:p>
          <a:endParaRPr lang="en-SG"/>
        </a:p>
      </dgm:t>
    </dgm:pt>
    <dgm:pt modelId="{BC754C14-2EAC-4662-9989-E7C5258071F1}" type="sibTrans" cxnId="{4F439F2B-75CB-4202-8A22-1B0240C3C487}">
      <dgm:prSet/>
      <dgm:spPr/>
      <dgm:t>
        <a:bodyPr/>
        <a:lstStyle/>
        <a:p>
          <a:endParaRPr lang="en-SG"/>
        </a:p>
      </dgm:t>
    </dgm:pt>
    <dgm:pt modelId="{98DF7536-9BEC-484E-820A-4149F93A37D7}" type="pres">
      <dgm:prSet presAssocID="{33C774CC-5ABC-4DBC-AA95-95A8E9530D0F}" presName="Name0" presStyleCnt="0">
        <dgm:presLayoutVars>
          <dgm:dir/>
          <dgm:resizeHandles val="exact"/>
        </dgm:presLayoutVars>
      </dgm:prSet>
      <dgm:spPr/>
    </dgm:pt>
    <dgm:pt modelId="{8B60FB5F-05B2-459A-9300-9D95BF839B98}" type="pres">
      <dgm:prSet presAssocID="{6F5E7D44-1557-4D24-B418-71C970AD6BEF}" presName="node" presStyleLbl="node1" presStyleIdx="0" presStyleCnt="5">
        <dgm:presLayoutVars>
          <dgm:bulletEnabled val="1"/>
        </dgm:presLayoutVars>
      </dgm:prSet>
      <dgm:spPr/>
    </dgm:pt>
    <dgm:pt modelId="{C8C2DF9B-2592-4876-8559-E8894F0B09C5}" type="pres">
      <dgm:prSet presAssocID="{E0E4E17F-FE6C-4091-ACB5-7F2D6C4BE1D7}" presName="sibTrans" presStyleLbl="sibTrans2D1" presStyleIdx="0" presStyleCnt="4"/>
      <dgm:spPr/>
    </dgm:pt>
    <dgm:pt modelId="{F8BF7B47-155E-4BC1-9AD2-5A3BBE6D98E3}" type="pres">
      <dgm:prSet presAssocID="{E0E4E17F-FE6C-4091-ACB5-7F2D6C4BE1D7}" presName="connectorText" presStyleLbl="sibTrans2D1" presStyleIdx="0" presStyleCnt="4"/>
      <dgm:spPr/>
    </dgm:pt>
    <dgm:pt modelId="{92C6CB1E-8AB8-417B-99FC-BDB0633FF67D}" type="pres">
      <dgm:prSet presAssocID="{079FAE3C-BF08-425F-BECA-798B744C0D11}" presName="node" presStyleLbl="node1" presStyleIdx="1" presStyleCnt="5">
        <dgm:presLayoutVars>
          <dgm:bulletEnabled val="1"/>
        </dgm:presLayoutVars>
      </dgm:prSet>
      <dgm:spPr/>
    </dgm:pt>
    <dgm:pt modelId="{5ACAF45A-2293-4DEB-A521-8230FD18B43C}" type="pres">
      <dgm:prSet presAssocID="{4E8D1881-922E-437F-B010-AA1E6A222DFE}" presName="sibTrans" presStyleLbl="sibTrans2D1" presStyleIdx="1" presStyleCnt="4"/>
      <dgm:spPr/>
    </dgm:pt>
    <dgm:pt modelId="{8F0A802E-4130-4BA7-B156-F1D61C2ED953}" type="pres">
      <dgm:prSet presAssocID="{4E8D1881-922E-437F-B010-AA1E6A222DFE}" presName="connectorText" presStyleLbl="sibTrans2D1" presStyleIdx="1" presStyleCnt="4"/>
      <dgm:spPr/>
    </dgm:pt>
    <dgm:pt modelId="{35E22166-92D8-4563-AFE1-94814331420D}" type="pres">
      <dgm:prSet presAssocID="{27C25BF8-704C-4EDD-AD83-35C8EFC3F1E2}" presName="node" presStyleLbl="node1" presStyleIdx="2" presStyleCnt="5">
        <dgm:presLayoutVars>
          <dgm:bulletEnabled val="1"/>
        </dgm:presLayoutVars>
      </dgm:prSet>
      <dgm:spPr/>
    </dgm:pt>
    <dgm:pt modelId="{97535247-3BF9-4E17-BDB4-1A03A64BCCF8}" type="pres">
      <dgm:prSet presAssocID="{24A5978D-6909-40FE-907E-7396AD1AE1D2}" presName="sibTrans" presStyleLbl="sibTrans2D1" presStyleIdx="2" presStyleCnt="4"/>
      <dgm:spPr/>
    </dgm:pt>
    <dgm:pt modelId="{C5CD479F-24D8-4092-9152-A0E6EF993B70}" type="pres">
      <dgm:prSet presAssocID="{24A5978D-6909-40FE-907E-7396AD1AE1D2}" presName="connectorText" presStyleLbl="sibTrans2D1" presStyleIdx="2" presStyleCnt="4"/>
      <dgm:spPr/>
    </dgm:pt>
    <dgm:pt modelId="{35C9A030-F680-4047-A5AD-E01589EA65AB}" type="pres">
      <dgm:prSet presAssocID="{8D939E49-1DCF-4EA5-8FAD-4C10D1706BBA}" presName="node" presStyleLbl="node1" presStyleIdx="3" presStyleCnt="5" custScaleX="104663" custScaleY="99988" custLinFactNeighborX="5231" custLinFactNeighborY="-226">
        <dgm:presLayoutVars>
          <dgm:bulletEnabled val="1"/>
        </dgm:presLayoutVars>
      </dgm:prSet>
      <dgm:spPr/>
    </dgm:pt>
    <dgm:pt modelId="{7894FAD1-982C-4135-BFAC-AAC3B729DCE7}" type="pres">
      <dgm:prSet presAssocID="{8B4A4F78-DE25-471A-8C80-F5931F735A9D}" presName="sibTrans" presStyleLbl="sibTrans2D1" presStyleIdx="3" presStyleCnt="4"/>
      <dgm:spPr/>
    </dgm:pt>
    <dgm:pt modelId="{3CBF0380-0755-479F-9DFB-25A252235DAE}" type="pres">
      <dgm:prSet presAssocID="{8B4A4F78-DE25-471A-8C80-F5931F735A9D}" presName="connectorText" presStyleLbl="sibTrans2D1" presStyleIdx="3" presStyleCnt="4"/>
      <dgm:spPr/>
    </dgm:pt>
    <dgm:pt modelId="{C16203E6-504B-4580-8F87-8CBB85053497}" type="pres">
      <dgm:prSet presAssocID="{CA85AEC3-64F6-4ABB-BAE0-5B3CFE072DA2}" presName="node" presStyleLbl="node1" presStyleIdx="4" presStyleCnt="5">
        <dgm:presLayoutVars>
          <dgm:bulletEnabled val="1"/>
        </dgm:presLayoutVars>
      </dgm:prSet>
      <dgm:spPr/>
    </dgm:pt>
  </dgm:ptLst>
  <dgm:cxnLst>
    <dgm:cxn modelId="{48F04302-DD6A-484E-AFCD-D92C8A99D2A8}" type="presOf" srcId="{4E8D1881-922E-437F-B010-AA1E6A222DFE}" destId="{5ACAF45A-2293-4DEB-A521-8230FD18B43C}" srcOrd="0" destOrd="0" presId="urn:microsoft.com/office/officeart/2005/8/layout/process1"/>
    <dgm:cxn modelId="{5CC78B03-FFE8-4425-B89B-296BEC8F4D01}" srcId="{079FAE3C-BF08-425F-BECA-798B744C0D11}" destId="{4F971BCF-6BF9-4240-BD4F-DF7FC6ED3A3C}" srcOrd="2" destOrd="0" parTransId="{7FD38D87-98A3-4038-AAB3-ED60042E90AB}" sibTransId="{EAEAFAAC-29C2-4173-BB09-A9ACE02CAA4A}"/>
    <dgm:cxn modelId="{09675112-9356-460B-804C-288F82767D17}" type="presOf" srcId="{AD318CD4-0D24-4292-960A-331D4871A296}" destId="{92C6CB1E-8AB8-417B-99FC-BDB0633FF67D}" srcOrd="0" destOrd="2" presId="urn:microsoft.com/office/officeart/2005/8/layout/process1"/>
    <dgm:cxn modelId="{D59C6718-48B0-41EE-9EFB-8567CAE979BE}" srcId="{6F5E7D44-1557-4D24-B418-71C970AD6BEF}" destId="{CF4E7E4F-DF45-4333-BC11-CA48C662E33A}" srcOrd="0" destOrd="0" parTransId="{97FD80C0-EE24-4989-AC3B-3D2B9D1C6DD7}" sibTransId="{71FD74C0-1BD3-4910-A6E2-97861893B144}"/>
    <dgm:cxn modelId="{B4C7141B-03C3-4682-AAAA-19AF3DFF4B26}" srcId="{8D939E49-1DCF-4EA5-8FAD-4C10D1706BBA}" destId="{2216AD90-5177-4A66-AA84-50C8EE6450CC}" srcOrd="2" destOrd="0" parTransId="{C0D068F3-873E-438D-BE39-857CB6D7CFA2}" sibTransId="{3E3317EE-CB4F-4691-A6CF-4AF8A1FE22EE}"/>
    <dgm:cxn modelId="{11E3A61B-AE8E-4C19-AAC9-01FE8A90EDFA}" type="presOf" srcId="{2216AD90-5177-4A66-AA84-50C8EE6450CC}" destId="{35C9A030-F680-4047-A5AD-E01589EA65AB}" srcOrd="0" destOrd="3" presId="urn:microsoft.com/office/officeart/2005/8/layout/process1"/>
    <dgm:cxn modelId="{B41D552A-A7CD-48A2-B689-A82BDFD5B0FF}" srcId="{27C25BF8-704C-4EDD-AD83-35C8EFC3F1E2}" destId="{FC0F9AFE-2DC1-4CC8-B649-12982D951021}" srcOrd="0" destOrd="0" parTransId="{2FAC6633-295A-4515-96D7-FE1B808C1B63}" sibTransId="{9EDD29D1-B9DF-44B0-8902-9E49AD4AC93B}"/>
    <dgm:cxn modelId="{4F439F2B-75CB-4202-8A22-1B0240C3C487}" srcId="{8D939E49-1DCF-4EA5-8FAD-4C10D1706BBA}" destId="{DF33BD62-E60E-4B90-9780-200DB440587E}" srcOrd="3" destOrd="0" parTransId="{A04590DE-3551-4A80-8838-70BB6C8E8D47}" sibTransId="{BC754C14-2EAC-4662-9989-E7C5258071F1}"/>
    <dgm:cxn modelId="{A558902C-FACF-49D9-9753-2D0A7C7E17C0}" type="presOf" srcId="{27C25BF8-704C-4EDD-AD83-35C8EFC3F1E2}" destId="{35E22166-92D8-4563-AFE1-94814331420D}" srcOrd="0" destOrd="0" presId="urn:microsoft.com/office/officeart/2005/8/layout/process1"/>
    <dgm:cxn modelId="{F2982640-DDF6-43CD-A2E2-A039D5D679A3}" srcId="{33C774CC-5ABC-4DBC-AA95-95A8E9530D0F}" destId="{6F5E7D44-1557-4D24-B418-71C970AD6BEF}" srcOrd="0" destOrd="0" parTransId="{650FB0FD-2931-4FC3-85ED-4A827A98927E}" sibTransId="{E0E4E17F-FE6C-4091-ACB5-7F2D6C4BE1D7}"/>
    <dgm:cxn modelId="{A5B9CE40-2E0F-4395-BD03-19333B2C3538}" type="presOf" srcId="{FC0F9AFE-2DC1-4CC8-B649-12982D951021}" destId="{35E22166-92D8-4563-AFE1-94814331420D}" srcOrd="0" destOrd="1" presId="urn:microsoft.com/office/officeart/2005/8/layout/process1"/>
    <dgm:cxn modelId="{0223BD60-F4B7-4EA3-B04E-326134A32B4F}" type="presOf" srcId="{160C48D4-816C-4610-8145-C4A8BA1165ED}" destId="{92C6CB1E-8AB8-417B-99FC-BDB0633FF67D}" srcOrd="0" destOrd="1" presId="urn:microsoft.com/office/officeart/2005/8/layout/process1"/>
    <dgm:cxn modelId="{4FF1C943-C55F-43F4-9D3F-1F39432EC1EC}" srcId="{079FAE3C-BF08-425F-BECA-798B744C0D11}" destId="{160C48D4-816C-4610-8145-C4A8BA1165ED}" srcOrd="0" destOrd="0" parTransId="{A0A0FE57-917B-4AE5-9575-E039280D23BF}" sibTransId="{B6513777-C514-4AF8-B67C-3023EB0A6C28}"/>
    <dgm:cxn modelId="{BC0DF755-7F77-4A81-9B82-ADD54CB9E2E7}" type="presOf" srcId="{838D8691-B0A1-48CC-A58B-527833995C1E}" destId="{35C9A030-F680-4047-A5AD-E01589EA65AB}" srcOrd="0" destOrd="2" presId="urn:microsoft.com/office/officeart/2005/8/layout/process1"/>
    <dgm:cxn modelId="{94745B79-3BBD-4FB6-8AB2-DF52DE8C8B0E}" type="presOf" srcId="{E0E4E17F-FE6C-4091-ACB5-7F2D6C4BE1D7}" destId="{F8BF7B47-155E-4BC1-9AD2-5A3BBE6D98E3}" srcOrd="1" destOrd="0" presId="urn:microsoft.com/office/officeart/2005/8/layout/process1"/>
    <dgm:cxn modelId="{AA92E759-917C-42D7-8B00-3F890057F8DC}" type="presOf" srcId="{33C774CC-5ABC-4DBC-AA95-95A8E9530D0F}" destId="{98DF7536-9BEC-484E-820A-4149F93A37D7}" srcOrd="0" destOrd="0" presId="urn:microsoft.com/office/officeart/2005/8/layout/process1"/>
    <dgm:cxn modelId="{762BCF7E-9BA8-4864-997A-B572791B4B73}" srcId="{33C774CC-5ABC-4DBC-AA95-95A8E9530D0F}" destId="{CA85AEC3-64F6-4ABB-BAE0-5B3CFE072DA2}" srcOrd="4" destOrd="0" parTransId="{901EECF6-A23F-41F9-B435-5CAF35502B6B}" sibTransId="{0DBFFCDE-B8FF-4550-A083-C0374CF8F108}"/>
    <dgm:cxn modelId="{FC87F980-2044-453C-9D30-B1E693A75729}" type="presOf" srcId="{24A5978D-6909-40FE-907E-7396AD1AE1D2}" destId="{C5CD479F-24D8-4092-9152-A0E6EF993B70}" srcOrd="1" destOrd="0" presId="urn:microsoft.com/office/officeart/2005/8/layout/process1"/>
    <dgm:cxn modelId="{01EF8482-E188-4101-9624-DEB60ECB022A}" type="presOf" srcId="{079FAE3C-BF08-425F-BECA-798B744C0D11}" destId="{92C6CB1E-8AB8-417B-99FC-BDB0633FF67D}" srcOrd="0" destOrd="0" presId="urn:microsoft.com/office/officeart/2005/8/layout/process1"/>
    <dgm:cxn modelId="{1CD5D484-CC14-4B81-BA9F-BBC3BAA6A6D1}" type="presOf" srcId="{DF33BD62-E60E-4B90-9780-200DB440587E}" destId="{35C9A030-F680-4047-A5AD-E01589EA65AB}" srcOrd="0" destOrd="4" presId="urn:microsoft.com/office/officeart/2005/8/layout/process1"/>
    <dgm:cxn modelId="{B951F189-DCBE-4370-91A7-4D2985A5388C}" type="presOf" srcId="{8D939E49-1DCF-4EA5-8FAD-4C10D1706BBA}" destId="{35C9A030-F680-4047-A5AD-E01589EA65AB}" srcOrd="0" destOrd="0" presId="urn:microsoft.com/office/officeart/2005/8/layout/process1"/>
    <dgm:cxn modelId="{FF98CE97-4217-4FC3-9B86-5BBDA540C0A6}" type="presOf" srcId="{8B4A4F78-DE25-471A-8C80-F5931F735A9D}" destId="{7894FAD1-982C-4135-BFAC-AAC3B729DCE7}" srcOrd="0" destOrd="0" presId="urn:microsoft.com/office/officeart/2005/8/layout/process1"/>
    <dgm:cxn modelId="{6E8C0B99-21F6-469C-A307-83DD79A42450}" type="presOf" srcId="{3BD596F6-11EB-48AD-9E08-8787E5F683F7}" destId="{35C9A030-F680-4047-A5AD-E01589EA65AB}" srcOrd="0" destOrd="1" presId="urn:microsoft.com/office/officeart/2005/8/layout/process1"/>
    <dgm:cxn modelId="{B6895D99-57E2-4E90-96D1-6D8068EF1F00}" srcId="{33C774CC-5ABC-4DBC-AA95-95A8E9530D0F}" destId="{27C25BF8-704C-4EDD-AD83-35C8EFC3F1E2}" srcOrd="2" destOrd="0" parTransId="{B1030CD2-66E4-4418-B5D8-421063A87A63}" sibTransId="{24A5978D-6909-40FE-907E-7396AD1AE1D2}"/>
    <dgm:cxn modelId="{BF37E6A6-BF8A-4A85-8947-CA083D59FDA9}" srcId="{33C774CC-5ABC-4DBC-AA95-95A8E9530D0F}" destId="{8D939E49-1DCF-4EA5-8FAD-4C10D1706BBA}" srcOrd="3" destOrd="0" parTransId="{FBE8369D-0324-41FE-B007-2B20E3C80C06}" sibTransId="{8B4A4F78-DE25-471A-8C80-F5931F735A9D}"/>
    <dgm:cxn modelId="{C269F3A7-87C3-4D9A-876B-A752FFEC4C5E}" type="presOf" srcId="{E0E4E17F-FE6C-4091-ACB5-7F2D6C4BE1D7}" destId="{C8C2DF9B-2592-4876-8559-E8894F0B09C5}" srcOrd="0" destOrd="0" presId="urn:microsoft.com/office/officeart/2005/8/layout/process1"/>
    <dgm:cxn modelId="{CFE1F6AD-C461-422A-BF11-02DF52A75FFE}" type="presOf" srcId="{CA85AEC3-64F6-4ABB-BAE0-5B3CFE072DA2}" destId="{C16203E6-504B-4580-8F87-8CBB85053497}" srcOrd="0" destOrd="0" presId="urn:microsoft.com/office/officeart/2005/8/layout/process1"/>
    <dgm:cxn modelId="{4A5825BA-5664-4E5A-8EB9-F6C7A6474C13}" srcId="{079FAE3C-BF08-425F-BECA-798B744C0D11}" destId="{AD318CD4-0D24-4292-960A-331D4871A296}" srcOrd="1" destOrd="0" parTransId="{5DD6E0D8-1627-48EF-946B-F1C280CE00B7}" sibTransId="{DC3EF715-4F6E-4BEB-9B25-6555509B9B9C}"/>
    <dgm:cxn modelId="{D50FCABB-2625-4041-9D9B-C96FCFBFBACF}" type="presOf" srcId="{CF4E7E4F-DF45-4333-BC11-CA48C662E33A}" destId="{8B60FB5F-05B2-459A-9300-9D95BF839B98}" srcOrd="0" destOrd="1" presId="urn:microsoft.com/office/officeart/2005/8/layout/process1"/>
    <dgm:cxn modelId="{DA735BC0-76E0-474D-853A-9CAFEAD6275A}" srcId="{8D939E49-1DCF-4EA5-8FAD-4C10D1706BBA}" destId="{3BD596F6-11EB-48AD-9E08-8787E5F683F7}" srcOrd="0" destOrd="0" parTransId="{F721625A-BF04-47B9-8FE8-F6319B63F2E9}" sibTransId="{4D514DBE-7EA7-4E0C-82DB-BD5CE9853BC7}"/>
    <dgm:cxn modelId="{0CDCD4C6-BAB0-4DD0-8EE5-66CB0023FC20}" srcId="{8D939E49-1DCF-4EA5-8FAD-4C10D1706BBA}" destId="{838D8691-B0A1-48CC-A58B-527833995C1E}" srcOrd="1" destOrd="0" parTransId="{E668D923-6533-40AE-B563-8EEA0442ABDC}" sibTransId="{51F688DA-2903-4106-A015-85C94F7750C5}"/>
    <dgm:cxn modelId="{89E7EEC8-6D59-48DE-A3C0-9EED5C714490}" type="presOf" srcId="{24A5978D-6909-40FE-907E-7396AD1AE1D2}" destId="{97535247-3BF9-4E17-BDB4-1A03A64BCCF8}" srcOrd="0" destOrd="0" presId="urn:microsoft.com/office/officeart/2005/8/layout/process1"/>
    <dgm:cxn modelId="{904DE8D0-79AD-43AF-A308-6508A2974A9C}" srcId="{8D939E49-1DCF-4EA5-8FAD-4C10D1706BBA}" destId="{33DF35EA-74CE-420E-A3C4-4A84E45EB0E6}" srcOrd="4" destOrd="0" parTransId="{F42840B0-A56B-493D-81AD-25EC0BD148C5}" sibTransId="{A0523AAA-F6B8-4F7A-8F2E-687343386272}"/>
    <dgm:cxn modelId="{FDDE30D2-1DF6-4205-AD62-55C99DCBD6A7}" type="presOf" srcId="{6F5E7D44-1557-4D24-B418-71C970AD6BEF}" destId="{8B60FB5F-05B2-459A-9300-9D95BF839B98}" srcOrd="0" destOrd="0" presId="urn:microsoft.com/office/officeart/2005/8/layout/process1"/>
    <dgm:cxn modelId="{B42B22D3-A5F4-462F-8295-0AFA45E9B3DF}" srcId="{33C774CC-5ABC-4DBC-AA95-95A8E9530D0F}" destId="{079FAE3C-BF08-425F-BECA-798B744C0D11}" srcOrd="1" destOrd="0" parTransId="{A29D9133-0987-4FED-9312-D210C92FC2FD}" sibTransId="{4E8D1881-922E-437F-B010-AA1E6A222DFE}"/>
    <dgm:cxn modelId="{2DA59ED4-2DF4-407D-8000-A9FAE5F4F08C}" type="presOf" srcId="{8B4A4F78-DE25-471A-8C80-F5931F735A9D}" destId="{3CBF0380-0755-479F-9DFB-25A252235DAE}" srcOrd="1" destOrd="0" presId="urn:microsoft.com/office/officeart/2005/8/layout/process1"/>
    <dgm:cxn modelId="{CFBA6FDE-69FA-45AD-8199-996CE0013D1F}" type="presOf" srcId="{4F971BCF-6BF9-4240-BD4F-DF7FC6ED3A3C}" destId="{92C6CB1E-8AB8-417B-99FC-BDB0633FF67D}" srcOrd="0" destOrd="3" presId="urn:microsoft.com/office/officeart/2005/8/layout/process1"/>
    <dgm:cxn modelId="{D5D47EDE-44E1-49D9-A863-989628FB031C}" type="presOf" srcId="{4E8D1881-922E-437F-B010-AA1E6A222DFE}" destId="{8F0A802E-4130-4BA7-B156-F1D61C2ED953}" srcOrd="1" destOrd="0" presId="urn:microsoft.com/office/officeart/2005/8/layout/process1"/>
    <dgm:cxn modelId="{19E925F6-9A1A-41F1-8DC2-6691BB49B535}" type="presOf" srcId="{33DF35EA-74CE-420E-A3C4-4A84E45EB0E6}" destId="{35C9A030-F680-4047-A5AD-E01589EA65AB}" srcOrd="0" destOrd="5" presId="urn:microsoft.com/office/officeart/2005/8/layout/process1"/>
    <dgm:cxn modelId="{C583BF58-51AF-40AA-B853-47C55EF7A119}" type="presParOf" srcId="{98DF7536-9BEC-484E-820A-4149F93A37D7}" destId="{8B60FB5F-05B2-459A-9300-9D95BF839B98}" srcOrd="0" destOrd="0" presId="urn:microsoft.com/office/officeart/2005/8/layout/process1"/>
    <dgm:cxn modelId="{0516B65B-0382-4155-9E38-EFAA6FB25B31}" type="presParOf" srcId="{98DF7536-9BEC-484E-820A-4149F93A37D7}" destId="{C8C2DF9B-2592-4876-8559-E8894F0B09C5}" srcOrd="1" destOrd="0" presId="urn:microsoft.com/office/officeart/2005/8/layout/process1"/>
    <dgm:cxn modelId="{EE5D305E-2F30-499A-9E9F-6BA269C18416}" type="presParOf" srcId="{C8C2DF9B-2592-4876-8559-E8894F0B09C5}" destId="{F8BF7B47-155E-4BC1-9AD2-5A3BBE6D98E3}" srcOrd="0" destOrd="0" presId="urn:microsoft.com/office/officeart/2005/8/layout/process1"/>
    <dgm:cxn modelId="{01B04BD6-9FF4-4B77-9A68-DBC24DC42617}" type="presParOf" srcId="{98DF7536-9BEC-484E-820A-4149F93A37D7}" destId="{92C6CB1E-8AB8-417B-99FC-BDB0633FF67D}" srcOrd="2" destOrd="0" presId="urn:microsoft.com/office/officeart/2005/8/layout/process1"/>
    <dgm:cxn modelId="{BD52DE2B-9F45-47C3-A126-C824B7A19F7E}" type="presParOf" srcId="{98DF7536-9BEC-484E-820A-4149F93A37D7}" destId="{5ACAF45A-2293-4DEB-A521-8230FD18B43C}" srcOrd="3" destOrd="0" presId="urn:microsoft.com/office/officeart/2005/8/layout/process1"/>
    <dgm:cxn modelId="{4691C764-424C-40B0-9CDE-2C16967AD7CA}" type="presParOf" srcId="{5ACAF45A-2293-4DEB-A521-8230FD18B43C}" destId="{8F0A802E-4130-4BA7-B156-F1D61C2ED953}" srcOrd="0" destOrd="0" presId="urn:microsoft.com/office/officeart/2005/8/layout/process1"/>
    <dgm:cxn modelId="{ABEB5E6E-F9F3-4DD6-B500-A0D880B792E9}" type="presParOf" srcId="{98DF7536-9BEC-484E-820A-4149F93A37D7}" destId="{35E22166-92D8-4563-AFE1-94814331420D}" srcOrd="4" destOrd="0" presId="urn:microsoft.com/office/officeart/2005/8/layout/process1"/>
    <dgm:cxn modelId="{AAF95C71-3E7B-481D-A4B2-EDC7B5EF5FAB}" type="presParOf" srcId="{98DF7536-9BEC-484E-820A-4149F93A37D7}" destId="{97535247-3BF9-4E17-BDB4-1A03A64BCCF8}" srcOrd="5" destOrd="0" presId="urn:microsoft.com/office/officeart/2005/8/layout/process1"/>
    <dgm:cxn modelId="{A305DDF4-8941-4E34-B3A1-F5DD91EDB20D}" type="presParOf" srcId="{97535247-3BF9-4E17-BDB4-1A03A64BCCF8}" destId="{C5CD479F-24D8-4092-9152-A0E6EF993B70}" srcOrd="0" destOrd="0" presId="urn:microsoft.com/office/officeart/2005/8/layout/process1"/>
    <dgm:cxn modelId="{AB1541F0-6C65-40DC-ADE6-4A9D050F4D36}" type="presParOf" srcId="{98DF7536-9BEC-484E-820A-4149F93A37D7}" destId="{35C9A030-F680-4047-A5AD-E01589EA65AB}" srcOrd="6" destOrd="0" presId="urn:microsoft.com/office/officeart/2005/8/layout/process1"/>
    <dgm:cxn modelId="{C8C17E8A-0C0C-4510-B682-3310517EF4B7}" type="presParOf" srcId="{98DF7536-9BEC-484E-820A-4149F93A37D7}" destId="{7894FAD1-982C-4135-BFAC-AAC3B729DCE7}" srcOrd="7" destOrd="0" presId="urn:microsoft.com/office/officeart/2005/8/layout/process1"/>
    <dgm:cxn modelId="{73DFF4FC-95C2-43D3-8745-9BFEBB38CCE3}" type="presParOf" srcId="{7894FAD1-982C-4135-BFAC-AAC3B729DCE7}" destId="{3CBF0380-0755-479F-9DFB-25A252235DAE}" srcOrd="0" destOrd="0" presId="urn:microsoft.com/office/officeart/2005/8/layout/process1"/>
    <dgm:cxn modelId="{3752DA32-C642-4992-8EF6-91733CB8E3EF}" type="presParOf" srcId="{98DF7536-9BEC-484E-820A-4149F93A37D7}" destId="{C16203E6-504B-4580-8F87-8CBB85053497}" srcOrd="8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60FB5F-05B2-459A-9300-9D95BF839B98}">
      <dsp:nvSpPr>
        <dsp:cNvPr id="0" name=""/>
        <dsp:cNvSpPr/>
      </dsp:nvSpPr>
      <dsp:spPr>
        <a:xfrm>
          <a:off x="2339" y="787830"/>
          <a:ext cx="1719813" cy="22169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600" kern="1200" dirty="0"/>
            <a:t>Data Sources (Unstructured — Singapore Budgets)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kern="1200" dirty="0"/>
            <a:t>10 years Budget Statements, Round-Up Speeches – FY2016 - FY2025</a:t>
          </a:r>
        </a:p>
      </dsp:txBody>
      <dsp:txXfrm>
        <a:off x="52711" y="838202"/>
        <a:ext cx="1619069" cy="2116203"/>
      </dsp:txXfrm>
    </dsp:sp>
    <dsp:sp modelId="{C8C2DF9B-2592-4876-8559-E8894F0B09C5}">
      <dsp:nvSpPr>
        <dsp:cNvPr id="0" name=""/>
        <dsp:cNvSpPr/>
      </dsp:nvSpPr>
      <dsp:spPr>
        <a:xfrm>
          <a:off x="1894134" y="1683047"/>
          <a:ext cx="364600" cy="426513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1900" kern="1200" dirty="0"/>
        </a:p>
      </dsp:txBody>
      <dsp:txXfrm>
        <a:off x="1894134" y="1768350"/>
        <a:ext cx="255220" cy="255907"/>
      </dsp:txXfrm>
    </dsp:sp>
    <dsp:sp modelId="{92C6CB1E-8AB8-417B-99FC-BDB0633FF67D}">
      <dsp:nvSpPr>
        <dsp:cNvPr id="0" name=""/>
        <dsp:cNvSpPr/>
      </dsp:nvSpPr>
      <dsp:spPr>
        <a:xfrm>
          <a:off x="2410078" y="787830"/>
          <a:ext cx="1719813" cy="22169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600" kern="1200" dirty="0"/>
            <a:t>Ingestion &amp; Preprocessing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kern="1200" dirty="0"/>
            <a:t>Tag sources by Financial Year,  Type (Budget Statement / Round-Up Speech)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kern="1200" dirty="0"/>
            <a:t>Overlapping chunking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kern="1200" dirty="0"/>
            <a:t>Dense semantic embedding + Sparse lexical retrieval (BM25-style)</a:t>
          </a:r>
        </a:p>
      </dsp:txBody>
      <dsp:txXfrm>
        <a:off x="2460450" y="838202"/>
        <a:ext cx="1619069" cy="2116203"/>
      </dsp:txXfrm>
    </dsp:sp>
    <dsp:sp modelId="{5ACAF45A-2293-4DEB-A521-8230FD18B43C}">
      <dsp:nvSpPr>
        <dsp:cNvPr id="0" name=""/>
        <dsp:cNvSpPr/>
      </dsp:nvSpPr>
      <dsp:spPr>
        <a:xfrm>
          <a:off x="4301873" y="1683047"/>
          <a:ext cx="364600" cy="426513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1900" kern="1200" dirty="0"/>
        </a:p>
      </dsp:txBody>
      <dsp:txXfrm>
        <a:off x="4301873" y="1768350"/>
        <a:ext cx="255220" cy="255907"/>
      </dsp:txXfrm>
    </dsp:sp>
    <dsp:sp modelId="{35E22166-92D8-4563-AFE1-94814331420D}">
      <dsp:nvSpPr>
        <dsp:cNvPr id="0" name=""/>
        <dsp:cNvSpPr/>
      </dsp:nvSpPr>
      <dsp:spPr>
        <a:xfrm>
          <a:off x="4817817" y="787830"/>
          <a:ext cx="1719813" cy="22169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600" kern="1200" dirty="0"/>
            <a:t>Knowledge Stores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SG" sz="1200" kern="1200" dirty="0"/>
            <a:t>Vector DB</a:t>
          </a:r>
        </a:p>
      </dsp:txBody>
      <dsp:txXfrm>
        <a:off x="4868189" y="838202"/>
        <a:ext cx="1619069" cy="2116203"/>
      </dsp:txXfrm>
    </dsp:sp>
    <dsp:sp modelId="{97535247-3BF9-4E17-BDB4-1A03A64BCCF8}">
      <dsp:nvSpPr>
        <dsp:cNvPr id="0" name=""/>
        <dsp:cNvSpPr/>
      </dsp:nvSpPr>
      <dsp:spPr>
        <a:xfrm rot="21593065">
          <a:off x="6718608" y="1680561"/>
          <a:ext cx="383673" cy="426513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1900" kern="1200" dirty="0"/>
        </a:p>
      </dsp:txBody>
      <dsp:txXfrm>
        <a:off x="6718608" y="1765980"/>
        <a:ext cx="268571" cy="255907"/>
      </dsp:txXfrm>
    </dsp:sp>
    <dsp:sp modelId="{35C9A030-F680-4047-A5AD-E01589EA65AB}">
      <dsp:nvSpPr>
        <dsp:cNvPr id="0" name=""/>
        <dsp:cNvSpPr/>
      </dsp:nvSpPr>
      <dsp:spPr>
        <a:xfrm>
          <a:off x="7261541" y="782953"/>
          <a:ext cx="1800008" cy="221668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600" kern="1200" dirty="0"/>
            <a:t>RAG &amp; Agentic AI Orchestration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SG" sz="1200" kern="1200" dirty="0"/>
            <a:t>With re-ranking retrieval (cross-encoder transformers, non-LLM)</a:t>
          </a:r>
          <a:endParaRPr lang="en-SG" sz="1200" b="1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b="0" i="0" kern="1200" dirty="0"/>
            <a:t>Evaluation (QA)</a:t>
          </a:r>
          <a:endParaRPr lang="en-SG" sz="1200" b="1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b="0" i="0" kern="1200" dirty="0"/>
            <a:t>AI Safety Guardrails</a:t>
          </a:r>
          <a:endParaRPr lang="en-SG" sz="1200" b="1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b="0" i="0" kern="1200" dirty="0"/>
            <a:t>MCP Tooling</a:t>
          </a:r>
          <a:endParaRPr lang="en-SG" sz="1200" b="1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SG" sz="1200" b="1" kern="1200" dirty="0"/>
        </a:p>
      </dsp:txBody>
      <dsp:txXfrm>
        <a:off x="7314261" y="835673"/>
        <a:ext cx="1694568" cy="2111241"/>
      </dsp:txXfrm>
    </dsp:sp>
    <dsp:sp modelId="{7894FAD1-982C-4135-BFAC-AAC3B729DCE7}">
      <dsp:nvSpPr>
        <dsp:cNvPr id="0" name=""/>
        <dsp:cNvSpPr/>
      </dsp:nvSpPr>
      <dsp:spPr>
        <a:xfrm rot="7141">
          <a:off x="9224534" y="1680604"/>
          <a:ext cx="345528" cy="426513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1900" kern="1200" dirty="0"/>
        </a:p>
      </dsp:txBody>
      <dsp:txXfrm>
        <a:off x="9224534" y="1765799"/>
        <a:ext cx="241870" cy="255907"/>
      </dsp:txXfrm>
    </dsp:sp>
    <dsp:sp modelId="{C16203E6-504B-4580-8F87-8CBB85053497}">
      <dsp:nvSpPr>
        <dsp:cNvPr id="0" name=""/>
        <dsp:cNvSpPr/>
      </dsp:nvSpPr>
      <dsp:spPr>
        <a:xfrm>
          <a:off x="9713489" y="787830"/>
          <a:ext cx="1719813" cy="22169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600" kern="1200" dirty="0"/>
            <a:t>Response</a:t>
          </a:r>
        </a:p>
      </dsp:txBody>
      <dsp:txXfrm>
        <a:off x="9763861" y="838202"/>
        <a:ext cx="1619069" cy="211620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211DB0-4CAC-4D90-907F-FD24F16BC89C}" type="datetimeFigureOut">
              <a:rPr lang="en-SG" smtClean="0"/>
              <a:t>10/2/2026</a:t>
            </a:fld>
            <a:endParaRPr lang="en-SG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9A4FB01-E6F3-460D-8523-1D01053AD545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0542080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0E09CC-8764-B6A4-1AEA-76F35CAC1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1D8362-B757-013C-5258-CDE583C57F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24D05E-4C99-9ECA-D858-45E3BCC7EE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32CFEA-E442-43C6-2BBF-0F4A4583F9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A4FB01-E6F3-460D-8523-1D01053AD545}" type="slidenum">
              <a:rPr lang="en-SG" smtClean="0"/>
              <a:t>1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4141117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A4FB01-E6F3-460D-8523-1D01053AD545}" type="slidenum">
              <a:rPr lang="en-SG" smtClean="0"/>
              <a:t>2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6743795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A4FB01-E6F3-460D-8523-1D01053AD545}" type="slidenum">
              <a:rPr lang="en-SG" smtClean="0"/>
              <a:t>3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8835787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6F63F-D9BD-DE22-D67B-0C691B04F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7F160B-16EB-F0C5-675E-FA8CE35FD1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A67F33-9429-5FB5-7107-9951A2C739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AFE0A6-4298-748E-FC4B-60CA848C1E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A4FB01-E6F3-460D-8523-1D01053AD545}" type="slidenum">
              <a:rPr lang="en-SG" smtClean="0"/>
              <a:t>4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068161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D1C44-BE08-3592-69BD-55C8DBB2C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6F6EF5-6308-9B3A-3E67-30BE6B2749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F14D86-4043-BFAF-275F-7B48B97941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3C869E-B087-F74F-73E4-572087618D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A4FB01-E6F3-460D-8523-1D01053AD545}" type="slidenum">
              <a:rPr lang="en-SG" smtClean="0"/>
              <a:t>5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431182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10/2/2026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20676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10/2/2026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42205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10/2/2026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6791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10/2/2026</a:t>
            </a:fld>
            <a:endParaRPr lang="en-SG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60358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10/2/2026</a:t>
            </a:fld>
            <a:endParaRPr lang="en-SG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7068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10/2/2026</a:t>
            </a:fld>
            <a:endParaRPr lang="en-SG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39795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10/2/2026</a:t>
            </a:fld>
            <a:endParaRPr lang="en-SG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3316923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10/2/2026</a:t>
            </a:fld>
            <a:endParaRPr lang="en-SG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50607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893A27CD-D406-492E-A632-D285B7EF3DB9}" type="datetimeFigureOut">
              <a:rPr lang="en-SG" smtClean="0"/>
              <a:t>10/2/2026</a:t>
            </a:fld>
            <a:endParaRPr lang="en-SG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45353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10/2/2026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91485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10/2/2026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54269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3A27CD-D406-492E-A632-D285B7EF3DB9}" type="datetimeFigureOut">
              <a:rPr lang="en-SG" smtClean="0"/>
              <a:t>10/2/2026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15535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mof.gov.sg/budget-archives/" TargetMode="Externa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nlp/what-is-bm25-best-matching-25-algorithm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0B568-3D68-8D61-05D8-A8407D005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52F57-1FBB-0E94-1291-76DFAD19A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System Architecture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763D794-7DB9-06CD-DC30-A361231CCAE6}"/>
              </a:ext>
            </a:extLst>
          </p:cNvPr>
          <p:cNvSpPr txBox="1"/>
          <p:nvPr/>
        </p:nvSpPr>
        <p:spPr>
          <a:xfrm>
            <a:off x="1451579" y="1469398"/>
            <a:ext cx="43298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Scope &amp; Non-Goals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796149-1FFC-2ADD-4D58-43803AADFE5B}"/>
              </a:ext>
            </a:extLst>
          </p:cNvPr>
          <p:cNvSpPr txBox="1"/>
          <p:nvPr/>
        </p:nvSpPr>
        <p:spPr>
          <a:xfrm>
            <a:off x="1382842" y="2045391"/>
            <a:ext cx="9603275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dirty="0"/>
              <a:t>This system focuses on interpreting narrative content from publicly available Singapore Budget documents after normalization to text. </a:t>
            </a:r>
          </a:p>
          <a:p>
            <a:endParaRPr lang="en-SG" dirty="0"/>
          </a:p>
          <a:p>
            <a:r>
              <a:rPr lang="en-SG" dirty="0"/>
              <a:t>Vision- or audio-only understanding without text conversion is out of scope. </a:t>
            </a:r>
          </a:p>
          <a:p>
            <a:endParaRPr lang="en-SG" dirty="0"/>
          </a:p>
          <a:p>
            <a:r>
              <a:rPr lang="en-SG" dirty="0"/>
              <a:t>Structured financial modelling, tabular computation, and chart-level numerical synthesis are also out of scope, as the primary goal is to evaluate the effectiveness of RAG and agentic orchestration for grounded understanding of unstructured policy narratives.</a:t>
            </a:r>
          </a:p>
          <a:p>
            <a:endParaRPr lang="en-SG" dirty="0"/>
          </a:p>
          <a:p>
            <a:r>
              <a:rPr lang="en-SG" dirty="0"/>
              <a:t>Potential extensions could incorporate structured extraction and numerical reasoning, but are intentionally excluded here to isolate and evaluate RAG-LLM grounding and agentic control behaviours.</a:t>
            </a:r>
          </a:p>
        </p:txBody>
      </p:sp>
    </p:spTree>
    <p:extLst>
      <p:ext uri="{BB962C8B-B14F-4D97-AF65-F5344CB8AC3E}">
        <p14:creationId xmlns:p14="http://schemas.microsoft.com/office/powerpoint/2010/main" val="17876871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3E5E70-07E2-45A3-59BF-F7CFEB06B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59C7E-B272-A9F4-2BDF-FF0362F8F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System Architecture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A05987A-596F-4248-7D7F-63089B75FAEB}"/>
              </a:ext>
            </a:extLst>
          </p:cNvPr>
          <p:cNvSpPr txBox="1"/>
          <p:nvPr/>
        </p:nvSpPr>
        <p:spPr>
          <a:xfrm>
            <a:off x="1451579" y="1469398"/>
            <a:ext cx="43298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SG Budgets RAG</a:t>
            </a:r>
          </a:p>
        </p:txBody>
      </p:sp>
      <p:graphicFrame>
        <p:nvGraphicFramePr>
          <p:cNvPr id="31" name="Content Placeholder 3">
            <a:extLst>
              <a:ext uri="{FF2B5EF4-FFF2-40B4-BE49-F238E27FC236}">
                <a16:creationId xmlns:a16="http://schemas.microsoft.com/office/drawing/2014/main" id="{AB879FA8-925F-2D2F-B039-858CFE6FBA7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9407742"/>
              </p:ext>
            </p:extLst>
          </p:nvPr>
        </p:nvGraphicFramePr>
        <p:xfrm>
          <a:off x="587024" y="2193037"/>
          <a:ext cx="11435643" cy="37926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830E1DE8-6EBE-944B-8E5D-AD63EB06EDA3}"/>
              </a:ext>
            </a:extLst>
          </p:cNvPr>
          <p:cNvSpPr txBox="1"/>
          <p:nvPr/>
        </p:nvSpPr>
        <p:spPr>
          <a:xfrm>
            <a:off x="1451579" y="1904789"/>
            <a:ext cx="96032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i="1" dirty="0"/>
              <a:t>Key Goal:  A single-question Q&amp;A interface (no chat history) grounded in Singapore Budget Statements,  Annex and Budget Round-Up Speeches from FY2016 – FY2025.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60E1F04-B61C-9582-9D44-15BED0E68DDC}"/>
              </a:ext>
            </a:extLst>
          </p:cNvPr>
          <p:cNvGrpSpPr/>
          <p:nvPr/>
        </p:nvGrpSpPr>
        <p:grpSpPr>
          <a:xfrm rot="16200000">
            <a:off x="9426998" y="5664002"/>
            <a:ext cx="383993" cy="200048"/>
            <a:chOff x="9272692" y="1547728"/>
            <a:chExt cx="370682" cy="433628"/>
          </a:xfrm>
        </p:grpSpPr>
        <p:sp>
          <p:nvSpPr>
            <p:cNvPr id="4" name="Arrow: Right 3">
              <a:extLst>
                <a:ext uri="{FF2B5EF4-FFF2-40B4-BE49-F238E27FC236}">
                  <a16:creationId xmlns:a16="http://schemas.microsoft.com/office/drawing/2014/main" id="{B65E4D5E-720A-AF11-9A30-D749EB030491}"/>
                </a:ext>
              </a:extLst>
            </p:cNvPr>
            <p:cNvSpPr/>
            <p:nvPr/>
          </p:nvSpPr>
          <p:spPr>
            <a:xfrm>
              <a:off x="9272692" y="1547728"/>
              <a:ext cx="370682" cy="433628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5" name="Arrow: Right 4">
              <a:extLst>
                <a:ext uri="{FF2B5EF4-FFF2-40B4-BE49-F238E27FC236}">
                  <a16:creationId xmlns:a16="http://schemas.microsoft.com/office/drawing/2014/main" id="{48AD26D9-592C-4306-5099-FE75FD19C990}"/>
                </a:ext>
              </a:extLst>
            </p:cNvPr>
            <p:cNvSpPr txBox="1"/>
            <p:nvPr/>
          </p:nvSpPr>
          <p:spPr>
            <a:xfrm>
              <a:off x="9272692" y="1634454"/>
              <a:ext cx="259477" cy="26017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300" kern="120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C37F2C80-C713-D88B-9A69-D147FABA2D6B}"/>
              </a:ext>
            </a:extLst>
          </p:cNvPr>
          <p:cNvGrpSpPr/>
          <p:nvPr/>
        </p:nvGrpSpPr>
        <p:grpSpPr>
          <a:xfrm>
            <a:off x="9310724" y="6053481"/>
            <a:ext cx="882711" cy="627331"/>
            <a:chOff x="0" y="0"/>
            <a:chExt cx="1153770" cy="692262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0387E5D5-FDF2-4861-E74B-881CFEAB9926}"/>
                </a:ext>
              </a:extLst>
            </p:cNvPr>
            <p:cNvSpPr/>
            <p:nvPr/>
          </p:nvSpPr>
          <p:spPr>
            <a:xfrm>
              <a:off x="0" y="0"/>
              <a:ext cx="1153770" cy="692262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8" name="Rectangle: Rounded Corners 4">
              <a:extLst>
                <a:ext uri="{FF2B5EF4-FFF2-40B4-BE49-F238E27FC236}">
                  <a16:creationId xmlns:a16="http://schemas.microsoft.com/office/drawing/2014/main" id="{7E3BA1AC-3B1B-CF43-A7EF-100C437D20F5}"/>
                </a:ext>
              </a:extLst>
            </p:cNvPr>
            <p:cNvSpPr txBox="1"/>
            <p:nvPr/>
          </p:nvSpPr>
          <p:spPr>
            <a:xfrm>
              <a:off x="20276" y="20276"/>
              <a:ext cx="1113218" cy="6517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marL="0" lvl="0" indent="0" algn="ctr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SG" sz="1600" dirty="0"/>
                <a:t>User</a:t>
              </a:r>
            </a:p>
            <a:p>
              <a:pPr marL="171450" lvl="0" indent="-171450" algn="ctr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200" dirty="0"/>
                <a:t>API + UI</a:t>
              </a:r>
              <a:endParaRPr lang="en-SG" sz="1200" kern="1200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D29197C-C3E0-7FA4-8597-08EDF6687BF4}"/>
              </a:ext>
            </a:extLst>
          </p:cNvPr>
          <p:cNvGrpSpPr/>
          <p:nvPr/>
        </p:nvGrpSpPr>
        <p:grpSpPr>
          <a:xfrm rot="5400000">
            <a:off x="9700117" y="5675251"/>
            <a:ext cx="383995" cy="200049"/>
            <a:chOff x="9272692" y="1547728"/>
            <a:chExt cx="370682" cy="433628"/>
          </a:xfrm>
        </p:grpSpPr>
        <p:sp>
          <p:nvSpPr>
            <p:cNvPr id="10" name="Arrow: Right 9">
              <a:extLst>
                <a:ext uri="{FF2B5EF4-FFF2-40B4-BE49-F238E27FC236}">
                  <a16:creationId xmlns:a16="http://schemas.microsoft.com/office/drawing/2014/main" id="{5577A9EE-91A2-C4D2-A211-32E05BAE53EE}"/>
                </a:ext>
              </a:extLst>
            </p:cNvPr>
            <p:cNvSpPr/>
            <p:nvPr/>
          </p:nvSpPr>
          <p:spPr>
            <a:xfrm>
              <a:off x="9272692" y="1547728"/>
              <a:ext cx="370682" cy="433628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11" name="Arrow: Right 4">
              <a:extLst>
                <a:ext uri="{FF2B5EF4-FFF2-40B4-BE49-F238E27FC236}">
                  <a16:creationId xmlns:a16="http://schemas.microsoft.com/office/drawing/2014/main" id="{629B0C25-D41A-6765-F1F8-A5C4DCC9ECCE}"/>
                </a:ext>
              </a:extLst>
            </p:cNvPr>
            <p:cNvSpPr txBox="1"/>
            <p:nvPr/>
          </p:nvSpPr>
          <p:spPr>
            <a:xfrm>
              <a:off x="9272692" y="1634454"/>
              <a:ext cx="259477" cy="26017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300" kern="1200" dirty="0"/>
            </a:p>
          </p:txBody>
        </p:sp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1A281A4-7593-B0F8-E76E-6A017C269BF6}"/>
              </a:ext>
            </a:extLst>
          </p:cNvPr>
          <p:cNvSpPr/>
          <p:nvPr/>
        </p:nvSpPr>
        <p:spPr>
          <a:xfrm>
            <a:off x="5305778" y="2621130"/>
            <a:ext cx="6845983" cy="2875939"/>
          </a:xfrm>
          <a:prstGeom prst="roundRect">
            <a:avLst/>
          </a:prstGeom>
          <a:noFill/>
          <a:ln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F685A2-DDE9-2521-C6C6-1537FC0EF46F}"/>
              </a:ext>
            </a:extLst>
          </p:cNvPr>
          <p:cNvSpPr txBox="1"/>
          <p:nvPr/>
        </p:nvSpPr>
        <p:spPr>
          <a:xfrm>
            <a:off x="357412" y="5256011"/>
            <a:ext cx="211556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i="1" dirty="0">
                <a:solidFill>
                  <a:srgbClr val="0070C0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Budget Archives | Ministry of Finance (MOF)</a:t>
            </a:r>
            <a:endParaRPr lang="en-SG" sz="1400" i="1" dirty="0">
              <a:solidFill>
                <a:srgbClr val="0070C0"/>
              </a:solidFill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45F748F-418A-7132-FE81-A106F8540CF2}"/>
              </a:ext>
            </a:extLst>
          </p:cNvPr>
          <p:cNvGrpSpPr/>
          <p:nvPr/>
        </p:nvGrpSpPr>
        <p:grpSpPr>
          <a:xfrm>
            <a:off x="5305777" y="6053481"/>
            <a:ext cx="3604445" cy="627331"/>
            <a:chOff x="0" y="0"/>
            <a:chExt cx="1153770" cy="692262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A5F57974-6FD7-1EC4-F569-5E4BF1E07CB9}"/>
                </a:ext>
              </a:extLst>
            </p:cNvPr>
            <p:cNvSpPr/>
            <p:nvPr/>
          </p:nvSpPr>
          <p:spPr>
            <a:xfrm>
              <a:off x="0" y="0"/>
              <a:ext cx="1153770" cy="692262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16" name="Rectangle: Rounded Corners 4">
              <a:extLst>
                <a:ext uri="{FF2B5EF4-FFF2-40B4-BE49-F238E27FC236}">
                  <a16:creationId xmlns:a16="http://schemas.microsoft.com/office/drawing/2014/main" id="{1E46A179-BA8F-52F4-7F84-AC8CBCB1F705}"/>
                </a:ext>
              </a:extLst>
            </p:cNvPr>
            <p:cNvSpPr txBox="1"/>
            <p:nvPr/>
          </p:nvSpPr>
          <p:spPr>
            <a:xfrm>
              <a:off x="20276" y="20276"/>
              <a:ext cx="1113218" cy="6517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marL="0" lvl="0" indent="0" algn="ctr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SG" sz="1600" dirty="0"/>
                <a:t>Frontend – Vercel (html / css / js)</a:t>
              </a:r>
            </a:p>
            <a:p>
              <a:pPr marL="0" lvl="0" indent="0" algn="ctr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SG" sz="1600" kern="1200" dirty="0"/>
                <a:t>Backend – </a:t>
              </a:r>
              <a:r>
                <a:rPr lang="en-SG" sz="1600" kern="1200" dirty="0">
                  <a:solidFill>
                    <a:srgbClr val="FF0000"/>
                  </a:solidFill>
                </a:rPr>
                <a:t>Cloud Run (FastAPI)</a:t>
              </a:r>
              <a:endParaRPr lang="en-SG" sz="1200" kern="1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337ACDA-50BB-8E5D-4731-1B52C224CBBA}"/>
              </a:ext>
            </a:extLst>
          </p:cNvPr>
          <p:cNvSpPr/>
          <p:nvPr/>
        </p:nvSpPr>
        <p:spPr>
          <a:xfrm>
            <a:off x="10938933" y="0"/>
            <a:ext cx="1253067" cy="1049235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dirty="0">
                <a:solidFill>
                  <a:srgbClr val="FF0000"/>
                </a:solidFill>
              </a:rPr>
              <a:t>Red fonts TBC</a:t>
            </a:r>
          </a:p>
        </p:txBody>
      </p:sp>
    </p:spTree>
    <p:extLst>
      <p:ext uri="{BB962C8B-B14F-4D97-AF65-F5344CB8AC3E}">
        <p14:creationId xmlns:p14="http://schemas.microsoft.com/office/powerpoint/2010/main" val="26008752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3D1BB-048E-5EA5-A1B4-2655EEDDE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DB220-4882-72FC-7196-24F49053E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System Architecture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2A38914-4CA0-AE8B-F9BE-463696675B1B}"/>
              </a:ext>
            </a:extLst>
          </p:cNvPr>
          <p:cNvGrpSpPr/>
          <p:nvPr/>
        </p:nvGrpSpPr>
        <p:grpSpPr>
          <a:xfrm>
            <a:off x="9082353" y="2178682"/>
            <a:ext cx="383993" cy="200048"/>
            <a:chOff x="9272692" y="1547728"/>
            <a:chExt cx="370682" cy="433628"/>
          </a:xfrm>
        </p:grpSpPr>
        <p:sp>
          <p:nvSpPr>
            <p:cNvPr id="4" name="Arrow: Right 3">
              <a:extLst>
                <a:ext uri="{FF2B5EF4-FFF2-40B4-BE49-F238E27FC236}">
                  <a16:creationId xmlns:a16="http://schemas.microsoft.com/office/drawing/2014/main" id="{B1337678-AD9E-CE07-8FF6-5C68C12B3B48}"/>
                </a:ext>
              </a:extLst>
            </p:cNvPr>
            <p:cNvSpPr/>
            <p:nvPr/>
          </p:nvSpPr>
          <p:spPr>
            <a:xfrm>
              <a:off x="9272692" y="1547728"/>
              <a:ext cx="370682" cy="433628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5" name="Arrow: Right 4">
              <a:extLst>
                <a:ext uri="{FF2B5EF4-FFF2-40B4-BE49-F238E27FC236}">
                  <a16:creationId xmlns:a16="http://schemas.microsoft.com/office/drawing/2014/main" id="{9DD2B8D4-0376-5140-1242-3822D94D9A9E}"/>
                </a:ext>
              </a:extLst>
            </p:cNvPr>
            <p:cNvSpPr txBox="1"/>
            <p:nvPr/>
          </p:nvSpPr>
          <p:spPr>
            <a:xfrm>
              <a:off x="9272692" y="1634454"/>
              <a:ext cx="259477" cy="26017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300" kern="120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04BE4E3A-366E-BD6A-56EA-226F5B6B9211}"/>
              </a:ext>
            </a:extLst>
          </p:cNvPr>
          <p:cNvGrpSpPr/>
          <p:nvPr/>
        </p:nvGrpSpPr>
        <p:grpSpPr>
          <a:xfrm>
            <a:off x="6726060" y="5804487"/>
            <a:ext cx="3118062" cy="941210"/>
            <a:chOff x="0" y="0"/>
            <a:chExt cx="1153770" cy="692262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CE89F097-43FE-4B06-C0BD-0ADDE5610CEB}"/>
                </a:ext>
              </a:extLst>
            </p:cNvPr>
            <p:cNvSpPr/>
            <p:nvPr/>
          </p:nvSpPr>
          <p:spPr>
            <a:xfrm>
              <a:off x="0" y="0"/>
              <a:ext cx="1153770" cy="692262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8" name="Rectangle: Rounded Corners 4">
              <a:extLst>
                <a:ext uri="{FF2B5EF4-FFF2-40B4-BE49-F238E27FC236}">
                  <a16:creationId xmlns:a16="http://schemas.microsoft.com/office/drawing/2014/main" id="{F5F46178-A6EF-FF21-60EF-0C3A9B798F68}"/>
                </a:ext>
              </a:extLst>
            </p:cNvPr>
            <p:cNvSpPr txBox="1"/>
            <p:nvPr/>
          </p:nvSpPr>
          <p:spPr>
            <a:xfrm>
              <a:off x="20276" y="20276"/>
              <a:ext cx="1113218" cy="6517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marL="0" lvl="0" indent="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SG" dirty="0"/>
                <a:t>User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dirty="0"/>
                <a:t>API + UI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dirty="0"/>
                <a:t>Lightweight security guardrails (prompt injection)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endParaRPr lang="en-SG" sz="1000" kern="1200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30FA5AC-0A5E-A7D0-02D7-1AE882AF25A9}"/>
              </a:ext>
            </a:extLst>
          </p:cNvPr>
          <p:cNvGrpSpPr/>
          <p:nvPr/>
        </p:nvGrpSpPr>
        <p:grpSpPr>
          <a:xfrm>
            <a:off x="9591675" y="1863968"/>
            <a:ext cx="2457449" cy="1473263"/>
            <a:chOff x="0" y="0"/>
            <a:chExt cx="1153770" cy="692262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9494732C-4783-DF68-7957-3396674C393D}"/>
                </a:ext>
              </a:extLst>
            </p:cNvPr>
            <p:cNvSpPr/>
            <p:nvPr/>
          </p:nvSpPr>
          <p:spPr>
            <a:xfrm>
              <a:off x="0" y="0"/>
              <a:ext cx="1153770" cy="692262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16" name="Rectangle: Rounded Corners 4">
              <a:extLst>
                <a:ext uri="{FF2B5EF4-FFF2-40B4-BE49-F238E27FC236}">
                  <a16:creationId xmlns:a16="http://schemas.microsoft.com/office/drawing/2014/main" id="{4ABE6940-D21F-FAC3-5ABC-C274021317D9}"/>
                </a:ext>
              </a:extLst>
            </p:cNvPr>
            <p:cNvSpPr txBox="1"/>
            <p:nvPr/>
          </p:nvSpPr>
          <p:spPr>
            <a:xfrm>
              <a:off x="20275" y="20276"/>
              <a:ext cx="1113218" cy="6517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marL="0" lvl="0" indent="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SG" dirty="0"/>
                <a:t>Planner AI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dirty="0"/>
                <a:t>Revise query for clarity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dirty="0"/>
                <a:t>Assess coherence (classify + reason)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dirty="0"/>
                <a:t>Forward year intent (explicit / none)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kern="1200" dirty="0"/>
                <a:t>Forward original </a:t>
              </a:r>
              <a:r>
                <a:rPr lang="en-SG" sz="1000" dirty="0"/>
                <a:t>+ revised query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dirty="0"/>
                <a:t>Forward plan steps (non-LLM)</a:t>
              </a:r>
              <a:endParaRPr lang="en-SG" sz="1000" kern="1200" dirty="0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37BC9331-C8FB-7BC8-0B89-14152379F8B8}"/>
              </a:ext>
            </a:extLst>
          </p:cNvPr>
          <p:cNvGrpSpPr/>
          <p:nvPr/>
        </p:nvGrpSpPr>
        <p:grpSpPr>
          <a:xfrm>
            <a:off x="6960416" y="1881687"/>
            <a:ext cx="1632221" cy="2040234"/>
            <a:chOff x="0" y="0"/>
            <a:chExt cx="1153770" cy="692262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9DEE8EAA-618A-1AFD-A045-905C36A76B07}"/>
                </a:ext>
              </a:extLst>
            </p:cNvPr>
            <p:cNvSpPr/>
            <p:nvPr/>
          </p:nvSpPr>
          <p:spPr>
            <a:xfrm>
              <a:off x="0" y="0"/>
              <a:ext cx="1153770" cy="692262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23" name="Rectangle: Rounded Corners 4">
              <a:extLst>
                <a:ext uri="{FF2B5EF4-FFF2-40B4-BE49-F238E27FC236}">
                  <a16:creationId xmlns:a16="http://schemas.microsoft.com/office/drawing/2014/main" id="{6FDF4DF7-6362-1331-AB24-9B650936D5AE}"/>
                </a:ext>
              </a:extLst>
            </p:cNvPr>
            <p:cNvSpPr txBox="1"/>
            <p:nvPr/>
          </p:nvSpPr>
          <p:spPr>
            <a:xfrm>
              <a:off x="20275" y="20276"/>
              <a:ext cx="1113218" cy="6517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SG" dirty="0"/>
                <a:t>Manager</a:t>
              </a:r>
              <a:endParaRPr lang="en-SG" dirty="0">
                <a:solidFill>
                  <a:schemeClr val="tx1"/>
                </a:solidFill>
              </a:endParaRP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dirty="0">
                  <a:solidFill>
                    <a:schemeClr val="bg1"/>
                  </a:solidFill>
                </a:rPr>
                <a:t>Orchestrate via states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dirty="0"/>
                <a:t>Reject incoherent query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dirty="0"/>
                <a:t>Fixed confidence threshold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dirty="0"/>
                <a:t>Fixed top_k and top_n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2AF7160C-BE2D-D445-5190-9FCB1D41538E}"/>
              </a:ext>
            </a:extLst>
          </p:cNvPr>
          <p:cNvGrpSpPr/>
          <p:nvPr/>
        </p:nvGrpSpPr>
        <p:grpSpPr>
          <a:xfrm rot="10800000">
            <a:off x="9075159" y="2461124"/>
            <a:ext cx="383993" cy="200048"/>
            <a:chOff x="9272692" y="1547728"/>
            <a:chExt cx="370682" cy="433628"/>
          </a:xfrm>
        </p:grpSpPr>
        <p:sp>
          <p:nvSpPr>
            <p:cNvPr id="36" name="Arrow: Right 35">
              <a:extLst>
                <a:ext uri="{FF2B5EF4-FFF2-40B4-BE49-F238E27FC236}">
                  <a16:creationId xmlns:a16="http://schemas.microsoft.com/office/drawing/2014/main" id="{0B5B0A02-19F2-85B2-1884-5E9810B94D6D}"/>
                </a:ext>
              </a:extLst>
            </p:cNvPr>
            <p:cNvSpPr/>
            <p:nvPr/>
          </p:nvSpPr>
          <p:spPr>
            <a:xfrm>
              <a:off x="9272692" y="1547728"/>
              <a:ext cx="370682" cy="433628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37" name="Arrow: Right 4">
              <a:extLst>
                <a:ext uri="{FF2B5EF4-FFF2-40B4-BE49-F238E27FC236}">
                  <a16:creationId xmlns:a16="http://schemas.microsoft.com/office/drawing/2014/main" id="{0EA93302-8F68-370A-CD83-3E84B5A2CD77}"/>
                </a:ext>
              </a:extLst>
            </p:cNvPr>
            <p:cNvSpPr txBox="1"/>
            <p:nvPr/>
          </p:nvSpPr>
          <p:spPr>
            <a:xfrm>
              <a:off x="9272692" y="1634454"/>
              <a:ext cx="259477" cy="26017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300" kern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5D20758D-45D1-FE03-63CA-E40E90BE2F01}"/>
              </a:ext>
            </a:extLst>
          </p:cNvPr>
          <p:cNvGrpSpPr/>
          <p:nvPr/>
        </p:nvGrpSpPr>
        <p:grpSpPr>
          <a:xfrm rot="10800000">
            <a:off x="5588614" y="2554537"/>
            <a:ext cx="878101" cy="236637"/>
            <a:chOff x="9272692" y="1547728"/>
            <a:chExt cx="370682" cy="433628"/>
          </a:xfrm>
        </p:grpSpPr>
        <p:sp>
          <p:nvSpPr>
            <p:cNvPr id="49" name="Arrow: Right 48">
              <a:extLst>
                <a:ext uri="{FF2B5EF4-FFF2-40B4-BE49-F238E27FC236}">
                  <a16:creationId xmlns:a16="http://schemas.microsoft.com/office/drawing/2014/main" id="{E21DAFA5-5844-BA22-D986-12490B7E0A99}"/>
                </a:ext>
              </a:extLst>
            </p:cNvPr>
            <p:cNvSpPr/>
            <p:nvPr/>
          </p:nvSpPr>
          <p:spPr>
            <a:xfrm>
              <a:off x="9272692" y="1547728"/>
              <a:ext cx="370682" cy="433628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50" name="Arrow: Right 4">
              <a:extLst>
                <a:ext uri="{FF2B5EF4-FFF2-40B4-BE49-F238E27FC236}">
                  <a16:creationId xmlns:a16="http://schemas.microsoft.com/office/drawing/2014/main" id="{82F373F8-2C94-9AF2-ADC1-DB2D10EF644C}"/>
                </a:ext>
              </a:extLst>
            </p:cNvPr>
            <p:cNvSpPr txBox="1"/>
            <p:nvPr/>
          </p:nvSpPr>
          <p:spPr>
            <a:xfrm>
              <a:off x="9272692" y="1634454"/>
              <a:ext cx="259477" cy="26017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300" kern="1200" dirty="0"/>
            </a:p>
          </p:txBody>
        </p:sp>
      </p:grp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0E4E659F-6A99-F156-27C1-A1C47E04326C}"/>
              </a:ext>
            </a:extLst>
          </p:cNvPr>
          <p:cNvSpPr/>
          <p:nvPr/>
        </p:nvSpPr>
        <p:spPr>
          <a:xfrm>
            <a:off x="1641992" y="2532320"/>
            <a:ext cx="3437522" cy="3521161"/>
          </a:xfrm>
          <a:prstGeom prst="roundRect">
            <a:avLst/>
          </a:prstGeom>
          <a:noFill/>
          <a:ln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B0D98E74-D3A2-AA22-5FCD-52AF02374656}"/>
              </a:ext>
            </a:extLst>
          </p:cNvPr>
          <p:cNvGrpSpPr/>
          <p:nvPr/>
        </p:nvGrpSpPr>
        <p:grpSpPr>
          <a:xfrm>
            <a:off x="1862855" y="2678879"/>
            <a:ext cx="2953787" cy="965586"/>
            <a:chOff x="0" y="0"/>
            <a:chExt cx="1153770" cy="692262"/>
          </a:xfrm>
        </p:grpSpPr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5DEA24C5-9F7E-02C5-6861-37512E378685}"/>
                </a:ext>
              </a:extLst>
            </p:cNvPr>
            <p:cNvSpPr/>
            <p:nvPr/>
          </p:nvSpPr>
          <p:spPr>
            <a:xfrm>
              <a:off x="0" y="0"/>
              <a:ext cx="1153770" cy="692262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57" name="Rectangle: Rounded Corners 4">
              <a:extLst>
                <a:ext uri="{FF2B5EF4-FFF2-40B4-BE49-F238E27FC236}">
                  <a16:creationId xmlns:a16="http://schemas.microsoft.com/office/drawing/2014/main" id="{B5CEAB89-285A-8DAA-12F4-5387D6191CF3}"/>
                </a:ext>
              </a:extLst>
            </p:cNvPr>
            <p:cNvSpPr txBox="1"/>
            <p:nvPr/>
          </p:nvSpPr>
          <p:spPr>
            <a:xfrm>
              <a:off x="20275" y="20276"/>
              <a:ext cx="1113218" cy="6517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lvl="0"/>
              <a:r>
                <a:rPr lang="en-SG" dirty="0"/>
                <a:t>Retrieval (Tool)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SG" sz="1000" dirty="0"/>
                <a:t>Hybrid retrieval merged score (dense + sparse) + tiered recency boost and return top_k candidates from each list</a:t>
              </a:r>
              <a:endParaRPr lang="en-SG" sz="1000" b="1" dirty="0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17D419B6-A5BF-2521-FF5A-03B11706283F}"/>
              </a:ext>
            </a:extLst>
          </p:cNvPr>
          <p:cNvGrpSpPr/>
          <p:nvPr/>
        </p:nvGrpSpPr>
        <p:grpSpPr>
          <a:xfrm>
            <a:off x="1863986" y="3717464"/>
            <a:ext cx="2953787" cy="871177"/>
            <a:chOff x="0" y="0"/>
            <a:chExt cx="1153770" cy="692262"/>
          </a:xfrm>
        </p:grpSpPr>
        <p:sp>
          <p:nvSpPr>
            <p:cNvPr id="59" name="Rectangle: Rounded Corners 58">
              <a:extLst>
                <a:ext uri="{FF2B5EF4-FFF2-40B4-BE49-F238E27FC236}">
                  <a16:creationId xmlns:a16="http://schemas.microsoft.com/office/drawing/2014/main" id="{67C575E6-A7D5-F350-5A47-BCAB93E73DE6}"/>
                </a:ext>
              </a:extLst>
            </p:cNvPr>
            <p:cNvSpPr/>
            <p:nvPr/>
          </p:nvSpPr>
          <p:spPr>
            <a:xfrm>
              <a:off x="0" y="0"/>
              <a:ext cx="1153770" cy="692262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60" name="Rectangle: Rounded Corners 4">
              <a:extLst>
                <a:ext uri="{FF2B5EF4-FFF2-40B4-BE49-F238E27FC236}">
                  <a16:creationId xmlns:a16="http://schemas.microsoft.com/office/drawing/2014/main" id="{6AC878FA-CEDB-5BC1-BC90-DDF23C73C185}"/>
                </a:ext>
              </a:extLst>
            </p:cNvPr>
            <p:cNvSpPr txBox="1"/>
            <p:nvPr/>
          </p:nvSpPr>
          <p:spPr>
            <a:xfrm>
              <a:off x="20275" y="20275"/>
              <a:ext cx="1113218" cy="6517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lvl="0"/>
              <a:r>
                <a:rPr lang="en-SG" dirty="0"/>
                <a:t>Re-ranking (Tool)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SG" sz="1000" dirty="0"/>
                <a:t>Re-ranking retrieval (cross-encoder transformers) + tiered recency boost and return shorter top_n from combined lists</a:t>
              </a:r>
              <a:endParaRPr lang="en-SG" sz="1000" b="1" dirty="0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E6B1093C-B3B4-2D50-A11D-916E77F898B2}"/>
              </a:ext>
            </a:extLst>
          </p:cNvPr>
          <p:cNvGrpSpPr/>
          <p:nvPr/>
        </p:nvGrpSpPr>
        <p:grpSpPr>
          <a:xfrm>
            <a:off x="1862855" y="4609750"/>
            <a:ext cx="2953787" cy="590273"/>
            <a:chOff x="0" y="0"/>
            <a:chExt cx="1153770" cy="692262"/>
          </a:xfrm>
        </p:grpSpPr>
        <p:sp>
          <p:nvSpPr>
            <p:cNvPr id="68" name="Rectangle: Rounded Corners 67">
              <a:extLst>
                <a:ext uri="{FF2B5EF4-FFF2-40B4-BE49-F238E27FC236}">
                  <a16:creationId xmlns:a16="http://schemas.microsoft.com/office/drawing/2014/main" id="{7FCF1A8E-6119-5546-081F-DE3B97154948}"/>
                </a:ext>
              </a:extLst>
            </p:cNvPr>
            <p:cNvSpPr/>
            <p:nvPr/>
          </p:nvSpPr>
          <p:spPr>
            <a:xfrm>
              <a:off x="0" y="0"/>
              <a:ext cx="1153770" cy="692262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69" name="Rectangle: Rounded Corners 4">
              <a:extLst>
                <a:ext uri="{FF2B5EF4-FFF2-40B4-BE49-F238E27FC236}">
                  <a16:creationId xmlns:a16="http://schemas.microsoft.com/office/drawing/2014/main" id="{599EF950-3E98-6E1D-70DE-ED6DB07FD9F3}"/>
                </a:ext>
              </a:extLst>
            </p:cNvPr>
            <p:cNvSpPr txBox="1"/>
            <p:nvPr/>
          </p:nvSpPr>
          <p:spPr>
            <a:xfrm>
              <a:off x="20275" y="20276"/>
              <a:ext cx="1113218" cy="6517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lvl="0"/>
              <a:r>
                <a:rPr lang="en-SG" dirty="0"/>
                <a:t>Synthesis (AI)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SG" sz="1000" dirty="0"/>
                <a:t>Generate response</a:t>
              </a:r>
              <a:endParaRPr lang="en-SG" sz="1000" b="1" dirty="0"/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36F8DEBA-2ED9-93BA-6BB5-259334A56ED5}"/>
              </a:ext>
            </a:extLst>
          </p:cNvPr>
          <p:cNvGrpSpPr/>
          <p:nvPr/>
        </p:nvGrpSpPr>
        <p:grpSpPr>
          <a:xfrm>
            <a:off x="1862855" y="5298537"/>
            <a:ext cx="2939765" cy="666672"/>
            <a:chOff x="0" y="0"/>
            <a:chExt cx="1153770" cy="692262"/>
          </a:xfrm>
        </p:grpSpPr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BF6D5FC1-82E3-377B-7D88-100AF3CAF217}"/>
                </a:ext>
              </a:extLst>
            </p:cNvPr>
            <p:cNvSpPr/>
            <p:nvPr/>
          </p:nvSpPr>
          <p:spPr>
            <a:xfrm>
              <a:off x="0" y="0"/>
              <a:ext cx="1153770" cy="692262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72" name="Rectangle: Rounded Corners 4">
              <a:extLst>
                <a:ext uri="{FF2B5EF4-FFF2-40B4-BE49-F238E27FC236}">
                  <a16:creationId xmlns:a16="http://schemas.microsoft.com/office/drawing/2014/main" id="{7B7FA9F8-D9DA-C870-0240-BD3A294C3509}"/>
                </a:ext>
              </a:extLst>
            </p:cNvPr>
            <p:cNvSpPr txBox="1"/>
            <p:nvPr/>
          </p:nvSpPr>
          <p:spPr>
            <a:xfrm>
              <a:off x="20275" y="20276"/>
              <a:ext cx="1113218" cy="6517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lvl="0"/>
              <a:r>
                <a:rPr lang="en-SG" dirty="0"/>
                <a:t>Reflection (AI)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SG" sz="1000" dirty="0"/>
                <a:t>Assess evidence coverage, applicability, and confidence</a:t>
              </a:r>
              <a:endParaRPr lang="en-SG" sz="1000" b="1" dirty="0"/>
            </a:p>
          </p:txBody>
        </p:sp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597A62CD-FA85-7981-B4D7-E48AA5D0F00D}"/>
              </a:ext>
            </a:extLst>
          </p:cNvPr>
          <p:cNvSpPr txBox="1"/>
          <p:nvPr/>
        </p:nvSpPr>
        <p:spPr>
          <a:xfrm>
            <a:off x="731523" y="1896855"/>
            <a:ext cx="3281976" cy="5909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i="1" dirty="0"/>
              <a:t>Specialist AIs and Tools exposed as local MCP interface</a:t>
            </a:r>
          </a:p>
        </p:txBody>
      </p:sp>
      <p:grpSp>
        <p:nvGrpSpPr>
          <p:cNvPr id="81" name="Group 80">
            <a:extLst>
              <a:ext uri="{FF2B5EF4-FFF2-40B4-BE49-F238E27FC236}">
                <a16:creationId xmlns:a16="http://schemas.microsoft.com/office/drawing/2014/main" id="{A4575C4C-5CA1-8066-91FD-B0079618861F}"/>
              </a:ext>
            </a:extLst>
          </p:cNvPr>
          <p:cNvGrpSpPr/>
          <p:nvPr/>
        </p:nvGrpSpPr>
        <p:grpSpPr>
          <a:xfrm rot="5400000">
            <a:off x="6973126" y="4774560"/>
            <a:ext cx="1503211" cy="250602"/>
            <a:chOff x="9272692" y="1547728"/>
            <a:chExt cx="370682" cy="433628"/>
          </a:xfrm>
        </p:grpSpPr>
        <p:sp>
          <p:nvSpPr>
            <p:cNvPr id="82" name="Arrow: Right 81">
              <a:extLst>
                <a:ext uri="{FF2B5EF4-FFF2-40B4-BE49-F238E27FC236}">
                  <a16:creationId xmlns:a16="http://schemas.microsoft.com/office/drawing/2014/main" id="{7A11667C-3FE4-3D78-87FF-54E4E7B55A3F}"/>
                </a:ext>
              </a:extLst>
            </p:cNvPr>
            <p:cNvSpPr/>
            <p:nvPr/>
          </p:nvSpPr>
          <p:spPr>
            <a:xfrm>
              <a:off x="9272692" y="1547728"/>
              <a:ext cx="370682" cy="433628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83" name="Arrow: Right 4">
              <a:extLst>
                <a:ext uri="{FF2B5EF4-FFF2-40B4-BE49-F238E27FC236}">
                  <a16:creationId xmlns:a16="http://schemas.microsoft.com/office/drawing/2014/main" id="{F034C5D6-3F78-230F-BA5A-AEA0C58CE8EA}"/>
                </a:ext>
              </a:extLst>
            </p:cNvPr>
            <p:cNvSpPr txBox="1"/>
            <p:nvPr/>
          </p:nvSpPr>
          <p:spPr>
            <a:xfrm>
              <a:off x="9272692" y="1634454"/>
              <a:ext cx="259477" cy="26017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300" kern="1200" dirty="0"/>
            </a:p>
          </p:txBody>
        </p:sp>
      </p:grpSp>
      <p:sp>
        <p:nvSpPr>
          <p:cNvPr id="98" name="TextBox 97">
            <a:extLst>
              <a:ext uri="{FF2B5EF4-FFF2-40B4-BE49-F238E27FC236}">
                <a16:creationId xmlns:a16="http://schemas.microsoft.com/office/drawing/2014/main" id="{44905841-C993-BBDB-2ABA-C64BBEE20FA1}"/>
              </a:ext>
            </a:extLst>
          </p:cNvPr>
          <p:cNvSpPr txBox="1"/>
          <p:nvPr/>
        </p:nvSpPr>
        <p:spPr>
          <a:xfrm>
            <a:off x="8184261" y="3921920"/>
            <a:ext cx="1324065" cy="8186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400" b="1" i="1" dirty="0"/>
              <a:t>Success</a:t>
            </a:r>
          </a:p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i="1" dirty="0"/>
              <a:t>(includes response, confidence, clarifying comments)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17AE04E0-8D19-6F67-C11E-DDA02CD80D6B}"/>
              </a:ext>
            </a:extLst>
          </p:cNvPr>
          <p:cNvSpPr txBox="1"/>
          <p:nvPr/>
        </p:nvSpPr>
        <p:spPr>
          <a:xfrm>
            <a:off x="6770587" y="5121084"/>
            <a:ext cx="70718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400" b="1" i="1" dirty="0"/>
              <a:t>Query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EAAAFFAF-3500-458E-D607-C73D2AF5F9A9}"/>
              </a:ext>
            </a:extLst>
          </p:cNvPr>
          <p:cNvSpPr txBox="1"/>
          <p:nvPr/>
        </p:nvSpPr>
        <p:spPr>
          <a:xfrm>
            <a:off x="5227569" y="3801375"/>
            <a:ext cx="1657668" cy="19120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b="1" i="1" dirty="0"/>
              <a:t>Deterministic plan steps for state “execute_plan”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{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  “steps”: ["retrieve", "rerank", "synthesize”, “reflect”],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  “top_k”: …,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  “top_n”: …</a:t>
            </a:r>
          </a:p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i="1" dirty="0"/>
              <a:t>}</a:t>
            </a:r>
          </a:p>
        </p:txBody>
      </p: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08A540BE-6284-6664-D900-85D581AA754B}"/>
              </a:ext>
            </a:extLst>
          </p:cNvPr>
          <p:cNvGrpSpPr/>
          <p:nvPr/>
        </p:nvGrpSpPr>
        <p:grpSpPr>
          <a:xfrm>
            <a:off x="5573690" y="2777843"/>
            <a:ext cx="878101" cy="236637"/>
            <a:chOff x="9272692" y="1547728"/>
            <a:chExt cx="370682" cy="433628"/>
          </a:xfrm>
        </p:grpSpPr>
        <p:sp>
          <p:nvSpPr>
            <p:cNvPr id="109" name="Arrow: Right 108">
              <a:extLst>
                <a:ext uri="{FF2B5EF4-FFF2-40B4-BE49-F238E27FC236}">
                  <a16:creationId xmlns:a16="http://schemas.microsoft.com/office/drawing/2014/main" id="{2CF36FEA-C4CA-2DB1-EE4F-DFD542921FA2}"/>
                </a:ext>
              </a:extLst>
            </p:cNvPr>
            <p:cNvSpPr/>
            <p:nvPr/>
          </p:nvSpPr>
          <p:spPr>
            <a:xfrm>
              <a:off x="9272692" y="1547728"/>
              <a:ext cx="370682" cy="433628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110" name="Arrow: Right 4">
              <a:extLst>
                <a:ext uri="{FF2B5EF4-FFF2-40B4-BE49-F238E27FC236}">
                  <a16:creationId xmlns:a16="http://schemas.microsoft.com/office/drawing/2014/main" id="{355301E8-F8CB-A5D1-19D7-363C06B05761}"/>
                </a:ext>
              </a:extLst>
            </p:cNvPr>
            <p:cNvSpPr txBox="1"/>
            <p:nvPr/>
          </p:nvSpPr>
          <p:spPr>
            <a:xfrm>
              <a:off x="9272692" y="1634454"/>
              <a:ext cx="259477" cy="26017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300" kern="1200" dirty="0"/>
            </a:p>
          </p:txBody>
        </p: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2237068E-0D26-3E25-D238-49D21F341594}"/>
              </a:ext>
            </a:extLst>
          </p:cNvPr>
          <p:cNvSpPr txBox="1"/>
          <p:nvPr/>
        </p:nvSpPr>
        <p:spPr>
          <a:xfrm>
            <a:off x="5270497" y="3048478"/>
            <a:ext cx="1632221" cy="7017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b="1" i="1" dirty="0"/>
              <a:t>Manager States</a:t>
            </a:r>
            <a:br>
              <a:rPr lang="en-SG" sz="1100" b="1" i="1" dirty="0"/>
            </a:br>
            <a:r>
              <a:rPr lang="en-SG" sz="1100" i="1" dirty="0"/>
              <a:t>{  “states”: [“execute_plan”, “success", “fail"] }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6E5852F-E5F5-8C72-F6BB-F938271F884B}"/>
              </a:ext>
            </a:extLst>
          </p:cNvPr>
          <p:cNvSpPr txBox="1"/>
          <p:nvPr/>
        </p:nvSpPr>
        <p:spPr>
          <a:xfrm>
            <a:off x="1451579" y="1469398"/>
            <a:ext cx="43298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RAG &amp; Agentic AI Orchestration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1BA866B9-7866-1796-4614-E8591FD25DA7}"/>
              </a:ext>
            </a:extLst>
          </p:cNvPr>
          <p:cNvSpPr txBox="1"/>
          <p:nvPr/>
        </p:nvSpPr>
        <p:spPr>
          <a:xfrm>
            <a:off x="9270" y="2841988"/>
            <a:ext cx="1688459" cy="29107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b="1" i="1" dirty="0"/>
              <a:t>Example Reflection options</a:t>
            </a:r>
          </a:p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i="1" dirty="0"/>
              <a:t>Possible reasons = [ “low_coverage”,”ok”]</a:t>
            </a:r>
          </a:p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i="1" dirty="0"/>
              <a:t># LLM as judge for to determine reason and confidence</a:t>
            </a:r>
          </a:p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SG" sz="1100" i="1" dirty="0"/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b="1" i="1" dirty="0"/>
              <a:t>Example Reflection output</a:t>
            </a:r>
            <a:endParaRPr lang="en-SG" sz="1100" i="1" dirty="0"/>
          </a:p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i="1" dirty="0"/>
              <a:t>{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  “reason”: “low_coverage”,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  “confidence”: 0.2,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  “reflection_comments”: …</a:t>
            </a:r>
          </a:p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i="1" dirty="0"/>
              <a:t>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E5BA77-46D6-8308-7A92-40C0B7EB590B}"/>
              </a:ext>
            </a:extLst>
          </p:cNvPr>
          <p:cNvSpPr txBox="1"/>
          <p:nvPr/>
        </p:nvSpPr>
        <p:spPr>
          <a:xfrm>
            <a:off x="4329588" y="1952624"/>
            <a:ext cx="2267031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b="1" i="1" dirty="0"/>
              <a:t>Input / Output Guardrails</a:t>
            </a:r>
            <a:br>
              <a:rPr lang="en-SG" sz="1100" i="1" dirty="0"/>
            </a:br>
            <a:r>
              <a:rPr lang="en-SG" sz="1100" i="1" dirty="0"/>
              <a:t>(Specialists, Manager)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23462E0-5DCD-B12D-DE47-C3B057C2B698}"/>
              </a:ext>
            </a:extLst>
          </p:cNvPr>
          <p:cNvSpPr txBox="1"/>
          <p:nvPr/>
        </p:nvSpPr>
        <p:spPr>
          <a:xfrm>
            <a:off x="8191657" y="4854426"/>
            <a:ext cx="1571807" cy="802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400" b="1" i="1" dirty="0"/>
              <a:t>or Fail (defensive)</a:t>
            </a:r>
            <a:br>
              <a:rPr lang="en-SG" sz="1400" i="1" dirty="0"/>
            </a:br>
            <a:r>
              <a:rPr lang="en-SG" sz="1100" i="1" dirty="0"/>
              <a:t>(incoherent_query, guardrail_block,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unknown_state …)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53E9D57-4CA5-68CE-DD14-9D6B6283ACF9}"/>
              </a:ext>
            </a:extLst>
          </p:cNvPr>
          <p:cNvGrpSpPr/>
          <p:nvPr/>
        </p:nvGrpSpPr>
        <p:grpSpPr>
          <a:xfrm rot="16200000">
            <a:off x="6697464" y="4763981"/>
            <a:ext cx="1503211" cy="250602"/>
            <a:chOff x="9272692" y="1547728"/>
            <a:chExt cx="370682" cy="433628"/>
          </a:xfrm>
        </p:grpSpPr>
        <p:sp>
          <p:nvSpPr>
            <p:cNvPr id="20" name="Arrow: Right 19">
              <a:extLst>
                <a:ext uri="{FF2B5EF4-FFF2-40B4-BE49-F238E27FC236}">
                  <a16:creationId xmlns:a16="http://schemas.microsoft.com/office/drawing/2014/main" id="{7E4533F2-DB46-C289-F345-6B5D40E73EEE}"/>
                </a:ext>
              </a:extLst>
            </p:cNvPr>
            <p:cNvSpPr/>
            <p:nvPr/>
          </p:nvSpPr>
          <p:spPr>
            <a:xfrm>
              <a:off x="9272692" y="1547728"/>
              <a:ext cx="370682" cy="433628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24" name="Arrow: Right 4">
              <a:extLst>
                <a:ext uri="{FF2B5EF4-FFF2-40B4-BE49-F238E27FC236}">
                  <a16:creationId xmlns:a16="http://schemas.microsoft.com/office/drawing/2014/main" id="{2CA80236-F093-7F12-AE10-1184EDB059A5}"/>
                </a:ext>
              </a:extLst>
            </p:cNvPr>
            <p:cNvSpPr txBox="1"/>
            <p:nvPr/>
          </p:nvSpPr>
          <p:spPr>
            <a:xfrm>
              <a:off x="9272692" y="1634454"/>
              <a:ext cx="259477" cy="26017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300" kern="1200" dirty="0"/>
            </a:p>
          </p:txBody>
        </p:sp>
      </p:grpSp>
      <p:sp>
        <p:nvSpPr>
          <p:cNvPr id="25" name="Flowchart: Connector 24">
            <a:extLst>
              <a:ext uri="{FF2B5EF4-FFF2-40B4-BE49-F238E27FC236}">
                <a16:creationId xmlns:a16="http://schemas.microsoft.com/office/drawing/2014/main" id="{5323C58B-1605-649D-5677-C6ED87FDC8C1}"/>
              </a:ext>
            </a:extLst>
          </p:cNvPr>
          <p:cNvSpPr/>
          <p:nvPr/>
        </p:nvSpPr>
        <p:spPr>
          <a:xfrm>
            <a:off x="6944597" y="5407316"/>
            <a:ext cx="341581" cy="233572"/>
          </a:xfrm>
          <a:prstGeom prst="flowChartConnector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12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6" name="Flowchart: Connector 25">
            <a:extLst>
              <a:ext uri="{FF2B5EF4-FFF2-40B4-BE49-F238E27FC236}">
                <a16:creationId xmlns:a16="http://schemas.microsoft.com/office/drawing/2014/main" id="{7F48CA32-E56A-D01A-5C9C-BC013D7E177A}"/>
              </a:ext>
            </a:extLst>
          </p:cNvPr>
          <p:cNvSpPr/>
          <p:nvPr/>
        </p:nvSpPr>
        <p:spPr>
          <a:xfrm>
            <a:off x="8732392" y="2283425"/>
            <a:ext cx="341581" cy="233572"/>
          </a:xfrm>
          <a:prstGeom prst="flowChartConnector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12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8" name="Flowchart: Connector 27">
            <a:extLst>
              <a:ext uri="{FF2B5EF4-FFF2-40B4-BE49-F238E27FC236}">
                <a16:creationId xmlns:a16="http://schemas.microsoft.com/office/drawing/2014/main" id="{665216FE-39CF-1A56-70BD-1C961579F31B}"/>
              </a:ext>
            </a:extLst>
          </p:cNvPr>
          <p:cNvSpPr/>
          <p:nvPr/>
        </p:nvSpPr>
        <p:spPr>
          <a:xfrm>
            <a:off x="6517180" y="2677353"/>
            <a:ext cx="341581" cy="233572"/>
          </a:xfrm>
          <a:prstGeom prst="flowChartConnector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12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30" name="Flowchart: Connector 29">
            <a:extLst>
              <a:ext uri="{FF2B5EF4-FFF2-40B4-BE49-F238E27FC236}">
                <a16:creationId xmlns:a16="http://schemas.microsoft.com/office/drawing/2014/main" id="{A677A806-DFA6-24FA-4CA9-27CD0E893455}"/>
              </a:ext>
            </a:extLst>
          </p:cNvPr>
          <p:cNvSpPr/>
          <p:nvPr/>
        </p:nvSpPr>
        <p:spPr>
          <a:xfrm>
            <a:off x="7887193" y="4053720"/>
            <a:ext cx="341581" cy="233572"/>
          </a:xfrm>
          <a:prstGeom prst="flowChartConnector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1200" dirty="0">
                <a:solidFill>
                  <a:schemeClr val="tx1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5428889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CA510-FE56-1FCC-3426-F549BE948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76918-BDA9-9384-774A-97EF8C3A5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System Architecture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25B7D740-0C6B-7A4E-6947-D4082878E098}"/>
              </a:ext>
            </a:extLst>
          </p:cNvPr>
          <p:cNvSpPr txBox="1"/>
          <p:nvPr/>
        </p:nvSpPr>
        <p:spPr>
          <a:xfrm>
            <a:off x="1451579" y="1469398"/>
            <a:ext cx="84639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Hybrid Retrieval: Semantic Understanding + Keyword Grounding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1461253-D18C-ABFA-A0DB-41FCDA60BACA}"/>
              </a:ext>
            </a:extLst>
          </p:cNvPr>
          <p:cNvSpPr txBox="1"/>
          <p:nvPr/>
        </p:nvSpPr>
        <p:spPr>
          <a:xfrm>
            <a:off x="228600" y="1904867"/>
            <a:ext cx="3676650" cy="360098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SG" sz="1200" b="1" dirty="0"/>
              <a:t>Dense semantic embedding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SG" sz="1200" b="1" dirty="0"/>
              <a:t>Purpose:</a:t>
            </a:r>
            <a:r>
              <a:rPr lang="en-SG" sz="1200" dirty="0"/>
              <a:t> Natural language understanding for encoding and retrieval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SG" sz="12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SG" sz="1200" b="1" dirty="0"/>
              <a:t>Model choice:</a:t>
            </a:r>
            <a:r>
              <a:rPr lang="en-SG" sz="1200" dirty="0"/>
              <a:t> </a:t>
            </a:r>
            <a:r>
              <a:rPr lang="en-SG" sz="1200" i="1" dirty="0"/>
              <a:t>SentenceTransformer </a:t>
            </a:r>
            <a:r>
              <a:rPr lang="en-SG" sz="1200" dirty="0"/>
              <a:t>python library</a:t>
            </a:r>
            <a:endParaRPr lang="en-SG" sz="1200" i="1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SG" sz="12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SG" sz="1200" b="1" dirty="0"/>
              <a:t>How: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SG" sz="1200" b="1" dirty="0"/>
              <a:t>Offline encoding:</a:t>
            </a:r>
            <a:r>
              <a:rPr lang="en-SG" sz="1200" dirty="0"/>
              <a:t> dense vector embedding into Vector DB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SG" sz="1200" b="1" dirty="0"/>
              <a:t>Online</a:t>
            </a:r>
            <a:r>
              <a:rPr lang="en-SG" sz="1200" dirty="0"/>
              <a:t> </a:t>
            </a:r>
            <a:r>
              <a:rPr lang="en-SG" sz="1200" b="1" dirty="0"/>
              <a:t>retrieval: </a:t>
            </a:r>
            <a:r>
              <a:rPr lang="en-SG" sz="1200" dirty="0"/>
              <a:t>relevant document chunks based on similarity with one-shot query (cosine similarity: dense dot-product on normalized vectors; directional interpretation)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en-SG" sz="1200" dirty="0"/>
          </a:p>
          <a:p>
            <a:pPr lvl="1"/>
            <a:endParaRPr lang="en-SG" sz="1200" dirty="0"/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en-SG" sz="1200" dirty="0"/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en-SG" sz="1200" dirty="0"/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en-SG" sz="12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51840A5-A14E-0B5B-F216-9E182E2BDD60}"/>
              </a:ext>
            </a:extLst>
          </p:cNvPr>
          <p:cNvSpPr txBox="1"/>
          <p:nvPr/>
        </p:nvSpPr>
        <p:spPr>
          <a:xfrm>
            <a:off x="3905250" y="1904867"/>
            <a:ext cx="5435848" cy="360098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SG" sz="1200" b="1" dirty="0"/>
              <a:t>Sparse lexical retrieval (BM25-style; Not True BM25)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SG" sz="1200" b="1" dirty="0"/>
              <a:t>Purpose: </a:t>
            </a:r>
            <a:r>
              <a:rPr lang="en-SG" sz="1200" dirty="0"/>
              <a:t>Keyword grounding in encoding and retrieval</a:t>
            </a:r>
          </a:p>
          <a:p>
            <a:endParaRPr lang="en-SG" sz="12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SG" sz="1200" b="1" dirty="0"/>
              <a:t>Key design choice and why: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SG" sz="1200" b="1" dirty="0"/>
              <a:t>Offline document encoding (why BM25-style):  </a:t>
            </a:r>
            <a:r>
              <a:rPr lang="en-SG" sz="1200" dirty="0"/>
              <a:t>Addresses repeated terms (TF saturation) and uneven chunk sizes (document length normalization)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SG" sz="1200" b="1" dirty="0"/>
              <a:t>Online query encoding (TF-IDF):  </a:t>
            </a:r>
            <a:r>
              <a:rPr lang="en-SG" sz="1200" dirty="0"/>
              <a:t>Preserve intent signals from query (no extra weights unlike document encoding)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SG" sz="1200" b="1" dirty="0"/>
              <a:t>Online retrieval: </a:t>
            </a:r>
            <a:r>
              <a:rPr lang="en-SG" sz="1200" dirty="0"/>
              <a:t>relevant document chunks based on similarity with one-shot query (sparse dot-product; vectors not normalized; weighted-overlap magnitude interpretation)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SG" sz="1200" b="1" dirty="0"/>
              <a:t>Why not True BM25: </a:t>
            </a:r>
            <a:r>
              <a:rPr lang="en-SG" sz="1200" dirty="0"/>
              <a:t>In textbook BM25, document and query weights are computed for full score refresh at query time. In this implementation, we pre-compute document weights and load into vector DB to approximate BM25-style for a practical implementation.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en-SG" sz="12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SG" sz="1200" dirty="0"/>
              <a:t>Refer </a:t>
            </a:r>
            <a:r>
              <a:rPr lang="en-SG" sz="1200" i="1" dirty="0">
                <a:solidFill>
                  <a:srgbClr val="0070C0"/>
                </a:solidFill>
              </a:rPr>
              <a:t>docs/vector_db/math.md</a:t>
            </a:r>
            <a:r>
              <a:rPr lang="en-SG" sz="1200" i="1" dirty="0"/>
              <a:t> </a:t>
            </a:r>
            <a:r>
              <a:rPr lang="en-SG" sz="1200" dirty="0"/>
              <a:t>for key formulas and details</a:t>
            </a:r>
          </a:p>
          <a:p>
            <a:r>
              <a:rPr lang="en-SG" sz="1200" i="1" dirty="0">
                <a:hlinkClick r:id="rId3"/>
              </a:rPr>
              <a:t>Reference:  What is BM25 (Best Matching 25) Algorithm – GeeksforGeeks</a:t>
            </a:r>
            <a:endParaRPr lang="en-SG" sz="1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7C61AE-A819-EBAD-8964-3217C70AD38C}"/>
              </a:ext>
            </a:extLst>
          </p:cNvPr>
          <p:cNvSpPr txBox="1"/>
          <p:nvPr/>
        </p:nvSpPr>
        <p:spPr>
          <a:xfrm>
            <a:off x="9341098" y="1904867"/>
            <a:ext cx="2622301" cy="360098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SG" sz="1200" b="1" dirty="0"/>
              <a:t>RAG Scoring Algorithm (downstream)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SG" sz="1200" dirty="0"/>
              <a:t>Further downstream scoring using the 2 components (dense + sparse) is further described in separate slide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SG" sz="1200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SG" sz="1200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SG" sz="1200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SG" sz="1200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SG" sz="1200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SG" sz="1200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SG" sz="1200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SG" sz="1200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SG" sz="1200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SG" sz="1200" dirty="0"/>
          </a:p>
          <a:p>
            <a:endParaRPr lang="en-SG" sz="1200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SG" sz="1200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SG" sz="1200" dirty="0"/>
          </a:p>
        </p:txBody>
      </p:sp>
    </p:spTree>
    <p:extLst>
      <p:ext uri="{BB962C8B-B14F-4D97-AF65-F5344CB8AC3E}">
        <p14:creationId xmlns:p14="http://schemas.microsoft.com/office/powerpoint/2010/main" val="6749194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1C759E-F857-2A8A-F8A4-B3A7D0134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26FE4-12B7-A0B5-AE37-7D8218153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System Architecture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97A5608C-5B79-B70F-37AB-29B3CC0326E5}"/>
              </a:ext>
            </a:extLst>
          </p:cNvPr>
          <p:cNvSpPr txBox="1"/>
          <p:nvPr/>
        </p:nvSpPr>
        <p:spPr>
          <a:xfrm>
            <a:off x="1451579" y="1469398"/>
            <a:ext cx="43298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RAG Scoring Algorithm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BB07CA1-E503-3353-826C-7F79398D9DC9}"/>
              </a:ext>
            </a:extLst>
          </p:cNvPr>
          <p:cNvSpPr txBox="1"/>
          <p:nvPr/>
        </p:nvSpPr>
        <p:spPr>
          <a:xfrm>
            <a:off x="150581" y="1841889"/>
            <a:ext cx="3503553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600" b="1" dirty="0"/>
              <a:t>Retrieval from separate ranked list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SG" sz="1600" dirty="0"/>
              <a:t>Keep </a:t>
            </a:r>
            <a:r>
              <a:rPr lang="en-SG" sz="1600" i="1" dirty="0"/>
              <a:t>top_k</a:t>
            </a:r>
            <a:r>
              <a:rPr lang="en-SG" sz="1600" dirty="0"/>
              <a:t> from each ranked list </a:t>
            </a:r>
            <a:r>
              <a:rPr lang="en-SG" sz="1600" i="1" dirty="0"/>
              <a:t>(Total = 2*top_k)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SG" sz="1600" dirty="0"/>
              <a:t>Dense search (semantic)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SG" sz="1600" dirty="0"/>
              <a:t>Sparse search (BM25-style, lexical)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90EC47-D8AD-718E-CA31-BB2581371739}"/>
              </a:ext>
            </a:extLst>
          </p:cNvPr>
          <p:cNvSpPr txBox="1"/>
          <p:nvPr/>
        </p:nvSpPr>
        <p:spPr>
          <a:xfrm>
            <a:off x="7896224" y="1853754"/>
            <a:ext cx="4058601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600" b="1" dirty="0"/>
              <a:t>Re-ranking after merged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SG" sz="1600" dirty="0"/>
              <a:t>Re-rank merged list with cross-encoder transformer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SG" sz="1600" dirty="0"/>
              <a:t>Normalize score</a:t>
            </a:r>
            <a:endParaRPr lang="en-SG" sz="1600" i="1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SG" sz="1600" dirty="0"/>
              <a:t>Tiered recency boost (multiplicative), consistent on normalized score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SG" sz="1600" dirty="0"/>
              <a:t>Keep </a:t>
            </a:r>
            <a:r>
              <a:rPr lang="en-SG" sz="1600" i="1" dirty="0"/>
              <a:t>rerank_candidate_limit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C7DB90E-7027-E0DE-996E-AE611B00081B}"/>
              </a:ext>
            </a:extLst>
          </p:cNvPr>
          <p:cNvSpPr txBox="1"/>
          <p:nvPr/>
        </p:nvSpPr>
        <p:spPr>
          <a:xfrm>
            <a:off x="3616518" y="3626338"/>
            <a:ext cx="3832032" cy="7694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SG" sz="1100" b="1" i="1" dirty="0"/>
              <a:t>Key Formulas:</a:t>
            </a:r>
            <a:endParaRPr lang="en-SG" sz="1100" i="1" dirty="0"/>
          </a:p>
          <a:p>
            <a:r>
              <a:rPr lang="en-SG" sz="1100" i="1" dirty="0"/>
              <a:t>score_rrf = sum(1 / (k + rank))</a:t>
            </a:r>
          </a:p>
          <a:p>
            <a:endParaRPr lang="en-SG" sz="1100" i="1" dirty="0"/>
          </a:p>
          <a:p>
            <a:r>
              <a:rPr lang="en-SG" sz="1100" i="1" dirty="0"/>
              <a:t>score_rrf = score_rrf * (1 + retrieve_recency_boost * </a:t>
            </a:r>
            <a:r>
              <a:rPr lang="en-SG" sz="1100" b="1" i="1" dirty="0">
                <a:solidFill>
                  <a:srgbClr val="0070C0"/>
                </a:solidFill>
              </a:rPr>
              <a:t>boost_tier</a:t>
            </a:r>
            <a:r>
              <a:rPr lang="en-SG" sz="1100" i="1" dirty="0"/>
              <a:t>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6185B77-498E-A08D-71E4-B988F1BEEA43}"/>
              </a:ext>
            </a:extLst>
          </p:cNvPr>
          <p:cNvSpPr txBox="1"/>
          <p:nvPr/>
        </p:nvSpPr>
        <p:spPr>
          <a:xfrm>
            <a:off x="7766326" y="3615638"/>
            <a:ext cx="4311373" cy="127727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SG" sz="1100" b="1" i="1" dirty="0"/>
              <a:t>Key Formulas:</a:t>
            </a:r>
            <a:endParaRPr lang="en-SG" sz="1100" i="1" dirty="0"/>
          </a:p>
          <a:p>
            <a:r>
              <a:rPr lang="en-SG" sz="1100" i="1" dirty="0"/>
              <a:t>score_ce = cross_encoder.predict(query, hit.text)</a:t>
            </a:r>
          </a:p>
          <a:p>
            <a:endParaRPr lang="en-SG" sz="1100" i="1" dirty="0"/>
          </a:p>
          <a:p>
            <a:r>
              <a:rPr lang="en-SG" sz="1100" i="1" dirty="0"/>
              <a:t>score_norm = (score_ce - min) / (max - min)</a:t>
            </a:r>
          </a:p>
          <a:p>
            <a:endParaRPr lang="en-SG" sz="1100" i="1" dirty="0"/>
          </a:p>
          <a:p>
            <a:r>
              <a:rPr lang="en-SG" sz="1100" i="1" dirty="0"/>
              <a:t>score_final = score_norm * (1 + rerank_recency_boost * </a:t>
            </a:r>
            <a:r>
              <a:rPr lang="en-SG" sz="1100" b="1" i="1" dirty="0">
                <a:solidFill>
                  <a:srgbClr val="0070C0"/>
                </a:solidFill>
              </a:rPr>
              <a:t>boost_tier</a:t>
            </a:r>
            <a:r>
              <a:rPr lang="en-SG" sz="1100" i="1" dirty="0"/>
              <a:t>)     (if hit is in recent window)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F0FCB23-BA9B-E25C-CB7D-724B342406BA}"/>
              </a:ext>
            </a:extLst>
          </p:cNvPr>
          <p:cNvSpPr txBox="1"/>
          <p:nvPr/>
        </p:nvSpPr>
        <p:spPr>
          <a:xfrm>
            <a:off x="3616516" y="4395779"/>
            <a:ext cx="3852703" cy="127727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SG" sz="1400" b="1" i="1" dirty="0"/>
              <a:t>Illustrative Example – RRF (w recency boost) </a:t>
            </a:r>
          </a:p>
          <a:p>
            <a:r>
              <a:rPr lang="en-SG" sz="1050" i="1" dirty="0"/>
              <a:t>Dense rank = 3 → 1/(60+3) = 0.0159</a:t>
            </a:r>
          </a:p>
          <a:p>
            <a:r>
              <a:rPr lang="en-SG" sz="1050" i="1" dirty="0"/>
              <a:t>Sparse rank = 9 → 1/(60+9) = 0.0145</a:t>
            </a:r>
          </a:p>
          <a:p>
            <a:r>
              <a:rPr lang="en-SG" sz="1050" i="1" dirty="0"/>
              <a:t>Merged RRF score = 0.0159 + 0.0145 = 0.0304</a:t>
            </a:r>
          </a:p>
          <a:p>
            <a:endParaRPr lang="en-SG" sz="1050" i="1" dirty="0"/>
          </a:p>
          <a:p>
            <a:r>
              <a:rPr lang="en-SG" sz="1050" i="1" dirty="0"/>
              <a:t>If FY2025 with boost_tier=1.0 and retrieve_recency_boost=0.80: </a:t>
            </a:r>
          </a:p>
          <a:p>
            <a:r>
              <a:rPr lang="en-SG" sz="1050" b="1" i="1" dirty="0"/>
              <a:t>score_rrf = 0.0304 * (1 + 0.80) = 0.0547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0F3FFC3-0E20-CFEA-D386-7DDED5FA112D}"/>
              </a:ext>
            </a:extLst>
          </p:cNvPr>
          <p:cNvSpPr txBox="1"/>
          <p:nvPr/>
        </p:nvSpPr>
        <p:spPr>
          <a:xfrm>
            <a:off x="7766326" y="4892911"/>
            <a:ext cx="4311373" cy="111569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SG" sz="1400" b="1" i="1" dirty="0"/>
              <a:t>Illustrative Example – Re-ranking (w recency boost)</a:t>
            </a:r>
          </a:p>
          <a:p>
            <a:r>
              <a:rPr lang="en-SG" sz="1050" i="1" dirty="0"/>
              <a:t>Raw cross-encoder scores for a query: min= -2.0, max= 3.0</a:t>
            </a:r>
          </a:p>
          <a:p>
            <a:r>
              <a:rPr lang="en-SG" sz="1050" i="1" dirty="0"/>
              <a:t>A hit with score=1.0 → score_norm = (1 - (-2)) / (3 - (-2)) = 0.6</a:t>
            </a:r>
          </a:p>
          <a:p>
            <a:endParaRPr lang="en-SG" sz="1050" i="1" dirty="0"/>
          </a:p>
          <a:p>
            <a:r>
              <a:rPr lang="en-SG" sz="1050" i="1" dirty="0"/>
              <a:t>If FY2025 and boost_tier=1.0 with boost=0.80: </a:t>
            </a:r>
          </a:p>
          <a:p>
            <a:r>
              <a:rPr lang="en-SG" sz="1050" b="1" i="1" dirty="0"/>
              <a:t>score_final = 0.6 * (1 + 0.80) = 1.08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A528881-0ADD-DDB8-B326-DAA96FFFC21D}"/>
              </a:ext>
            </a:extLst>
          </p:cNvPr>
          <p:cNvSpPr txBox="1"/>
          <p:nvPr/>
        </p:nvSpPr>
        <p:spPr>
          <a:xfrm>
            <a:off x="3792815" y="1853754"/>
            <a:ext cx="33909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600" b="1" dirty="0"/>
              <a:t>Retrieval-merge with Reciprocal Rank Fusion (RRF)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SG" sz="1600" dirty="0"/>
              <a:t>Apply RRF to merge the lists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SG" sz="1600" dirty="0"/>
              <a:t>Tiered recency boost (multiplicative), consistent on RRF scores (bounded rank-based)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SG" sz="1600" dirty="0"/>
              <a:t>Keep </a:t>
            </a:r>
            <a:r>
              <a:rPr lang="en-SG" sz="1600" i="1" dirty="0"/>
              <a:t>top_n</a:t>
            </a:r>
            <a:endParaRPr lang="en-SG" sz="16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EB3541F-6034-A520-50F6-27798B5FCEDE}"/>
              </a:ext>
            </a:extLst>
          </p:cNvPr>
          <p:cNvSpPr txBox="1"/>
          <p:nvPr/>
        </p:nvSpPr>
        <p:spPr>
          <a:xfrm>
            <a:off x="284668" y="4259028"/>
            <a:ext cx="2975912" cy="16542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SG" sz="1400" b="1" i="1" dirty="0"/>
              <a:t>Illustrative Example - </a:t>
            </a:r>
            <a:r>
              <a:rPr lang="en-SG" sz="1400" b="1" i="1" dirty="0">
                <a:solidFill>
                  <a:srgbClr val="0070C0"/>
                </a:solidFill>
              </a:rPr>
              <a:t>Boost Tier</a:t>
            </a:r>
          </a:p>
          <a:p>
            <a:endParaRPr lang="en-SG" sz="1400" i="1" dirty="0"/>
          </a:p>
          <a:p>
            <a:r>
              <a:rPr lang="en-SG" sz="1050" b="1" i="1" dirty="0"/>
              <a:t>Example (window = 5, base boost = 0.80, latest FY = 2025, delta = latest FY – doc FY):</a:t>
            </a:r>
          </a:p>
          <a:p>
            <a:r>
              <a:rPr lang="en-SG" sz="1050" i="1" dirty="0"/>
              <a:t>FY2025: delta=0 → tier=1.0 → boost=0.80</a:t>
            </a:r>
          </a:p>
          <a:p>
            <a:r>
              <a:rPr lang="en-SG" sz="1050" i="1" dirty="0"/>
              <a:t>FY2024: delta=1 → tier=0.8 → boost=0.64</a:t>
            </a:r>
          </a:p>
          <a:p>
            <a:r>
              <a:rPr lang="en-SG" sz="1050" i="1" dirty="0"/>
              <a:t>FY2023: delta=2 → tier=0.6 → boost=0.48</a:t>
            </a:r>
          </a:p>
          <a:p>
            <a:r>
              <a:rPr lang="en-SG" sz="1050" i="1" dirty="0"/>
              <a:t>FY2022: delta=3 → tier=0.4 → boost=0.32</a:t>
            </a:r>
          </a:p>
          <a:p>
            <a:r>
              <a:rPr lang="en-SG" sz="1050" i="1" dirty="0"/>
              <a:t>FY2021: delta=4 → tier=0.2 → boost=0.16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88449DB-549E-6DA7-B91F-FB70F39842F5}"/>
              </a:ext>
            </a:extLst>
          </p:cNvPr>
          <p:cNvSpPr txBox="1"/>
          <p:nvPr/>
        </p:nvSpPr>
        <p:spPr>
          <a:xfrm>
            <a:off x="284668" y="3641969"/>
            <a:ext cx="2975913" cy="60016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SG" sz="1100" b="1" i="1" dirty="0"/>
              <a:t>Key Formulas:</a:t>
            </a:r>
            <a:endParaRPr lang="en-SG" sz="1100" i="1" dirty="0"/>
          </a:p>
          <a:p>
            <a:r>
              <a:rPr lang="en-SG" sz="1100" b="1" i="1" dirty="0">
                <a:solidFill>
                  <a:srgbClr val="0070C0"/>
                </a:solidFill>
              </a:rPr>
              <a:t>boost_tier </a:t>
            </a:r>
            <a:r>
              <a:rPr lang="en-SG" sz="1100" i="1" dirty="0"/>
              <a:t>= (window - (latest_year – doc_fy)) / window</a:t>
            </a:r>
          </a:p>
        </p:txBody>
      </p:sp>
    </p:spTree>
    <p:extLst>
      <p:ext uri="{BB962C8B-B14F-4D97-AF65-F5344CB8AC3E}">
        <p14:creationId xmlns:p14="http://schemas.microsoft.com/office/powerpoint/2010/main" val="8661333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2251</TotalTime>
  <Words>1260</Words>
  <Application>Microsoft Office PowerPoint</Application>
  <PresentationFormat>Widescreen</PresentationFormat>
  <Paragraphs>174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Arial</vt:lpstr>
      <vt:lpstr>Gill Sans MT</vt:lpstr>
      <vt:lpstr>Wingdings</vt:lpstr>
      <vt:lpstr>Gallery</vt:lpstr>
      <vt:lpstr>System Architecture</vt:lpstr>
      <vt:lpstr>System Architecture</vt:lpstr>
      <vt:lpstr>System Architecture</vt:lpstr>
      <vt:lpstr>System Architecture</vt:lpstr>
      <vt:lpstr>System Architecture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Tan, Humphrey Wei Han</dc:creator>
  <cp:lastModifiedBy>Tan, Humphrey Wei Han</cp:lastModifiedBy>
  <cp:revision>630</cp:revision>
  <dcterms:created xsi:type="dcterms:W3CDTF">2026-01-26T05:50:14Z</dcterms:created>
  <dcterms:modified xsi:type="dcterms:W3CDTF">2026-02-10T08:08:16Z</dcterms:modified>
</cp:coreProperties>
</file>