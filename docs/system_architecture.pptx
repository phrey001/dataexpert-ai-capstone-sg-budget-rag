
<file path=[Content_Types].xml><?xml version="1.0" encoding="utf-8"?>
<Types xmlns="http://schemas.openxmlformats.org/package/2006/content-types">
  <Default Extension="jpeg" ContentType="image/jpeg"/>
  <Default Extension="jpg" ContentType="image/jpeg"/>
  <Default Extension="rels" ContentType="application/vnd.openxmlformats-package.relationships+xml"/>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notesMasters/notesMaster1.xml" ContentType="application/vnd.openxmlformats-officedocument.presentationml.notes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theme/theme2.xml" ContentType="application/vnd.openxmlformats-officedocument.theme+xml"/>
  <Override PartName="/ppt/notesSlides/notesSlide1.xml" ContentType="application/vnd.openxmlformats-officedocument.presentationml.notesSlide+xml"/>
  <Override PartName="/ppt/notesSlides/notesSlide2.xml" ContentType="application/vnd.openxmlformats-officedocument.presentationml.notesSlide+xml"/>
  <Override PartName="/ppt/diagrams/data1.xml" ContentType="application/vnd.openxmlformats-officedocument.drawingml.diagramData+xml"/>
  <Override PartName="/ppt/diagrams/layout1.xml" ContentType="application/vnd.openxmlformats-officedocument.drawingml.diagramLayout+xml"/>
  <Override PartName="/ppt/diagrams/quickStyle1.xml" ContentType="application/vnd.openxmlformats-officedocument.drawingml.diagramStyle+xml"/>
  <Override PartName="/ppt/diagrams/colors1.xml" ContentType="application/vnd.openxmlformats-officedocument.drawingml.diagramColors+xml"/>
  <Override PartName="/ppt/diagrams/drawing1.xml" ContentType="application/vnd.ms-office.drawingml.diagramDrawing+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Relationship Id="rId3" Type="http://schemas.openxmlformats.org/package/2006/relationships/metadata/core-properties" Target="docProps/core.xml"/><Relationship Id="rId2" Type="http://schemas.openxmlformats.org/package/2006/relationships/metadata/thumbnail" Target="docProps/thumbnail.jpeg"/><Relationship Id="rId1" Type="http://schemas.openxmlformats.org/officeDocument/2006/relationships/officeDocument" Target="ppt/presentation.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p:sldMasterIdLst>
    <p:sldMasterId id="2147483660" r:id="rId1"/>
  </p:sldMasterIdLst>
  <p:notesMasterIdLst>
    <p:notesMasterId r:id="rId7"/>
  </p:notesMasterIdLst>
  <p:sldIdLst>
    <p:sldId id="260" r:id="rId2"/>
    <p:sldId id="258" r:id="rId3"/>
    <p:sldId id="259" r:id="rId4"/>
    <p:sldId id="262" r:id="rId5"/>
    <p:sldId id="261" r:id="rId6"/>
  </p:sldIdLst>
  <p:sldSz cx="12192000" cy="6858000"/>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extLst>
    <p:ext uri="{521415D9-36F7-43E2-AB2F-B90AF26B5E84}">
      <p14:sectionLst xmlns:p14="http://schemas.microsoft.com/office/powerpoint/2010/main">
        <p14:section name="Default Section" id="{FC54DA0C-8B6E-4887-85F2-7BA7E28D98A6}">
          <p14:sldIdLst>
            <p14:sldId id="260"/>
            <p14:sldId id="258"/>
            <p14:sldId id="259"/>
          </p14:sldIdLst>
        </p14:section>
        <p14:section name="Key Algorithm" id="{FC6F502C-BCB0-4E8E-B6F1-A2E6C8A60000}">
          <p14:sldIdLst>
            <p14:sldId id="262"/>
            <p14:sldId id="261"/>
          </p14:sldIdLst>
        </p14:section>
      </p14:sectionLst>
    </p:ex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showPr showNarration="1">
    <p:present/>
    <p:sldAll/>
    <p:penClr>
      <a:prstClr val="red"/>
    </p:penClr>
    <p:extLst>
      <p:ext uri="{EC167BDD-8182-4AB7-AECC-EB403E3ABB37}">
        <p14:laserClr xmlns:p14="http://schemas.microsoft.com/office/powerpoint/2010/main">
          <a:srgbClr val="FF0000"/>
        </p14:laserClr>
      </p:ext>
      <p:ext uri="{2FDB2607-1784-4EEB-B798-7EB5836EED8A}">
        <p14:showMediaCtrls xmlns:p14="http://schemas.microsoft.com/office/powerpoint/2010/main" val="1"/>
      </p:ext>
    </p:extLst>
  </p:showPr>
  <p:extLst>
    <p:ext uri="{E76CE94A-603C-4142-B9EB-6D1370010A27}">
      <p14:discardImageEditData xmlns:p14="http://schemas.microsoft.com/office/powerpoint/2010/main" val="0"/>
    </p:ext>
    <p:ext uri="{D31A062A-798A-4329-ABDD-BBA856620510}">
      <p14:defaultImageDpi xmlns:p14="http://schemas.microsoft.com/office/powerpoint/2010/main" val="32767"/>
    </p:ext>
    <p:ext uri="{FD5EFAAD-0ECE-453E-9831-46B23BE46B34}">
      <p15:chartTrackingRefBased xmlns:p15="http://schemas.microsoft.com/office/powerpoint/2012/main" val="1"/>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p:restoredLeft sz="14992" autoAdjust="0"/>
    <p:restoredTop sz="94431" autoAdjust="0"/>
  </p:normalViewPr>
  <p:slideViewPr>
    <p:cSldViewPr snapToGrid="0">
      <p:cViewPr>
        <p:scale>
          <a:sx n="125" d="100"/>
          <a:sy n="125" d="100"/>
        </p:scale>
        <p:origin x="90" y="-84"/>
      </p:cViewPr>
      <p:guideLst/>
    </p:cSldViewPr>
  </p:slideViewPr>
  <p:notesTextViewPr>
    <p:cViewPr>
      <p:scale>
        <a:sx n="1" d="1"/>
        <a:sy n="1" d="1"/>
      </p:scale>
      <p:origin x="0" y="0"/>
    </p:cViewPr>
  </p:notesTextViewPr>
  <p:sorterViewPr>
    <p:cViewPr>
      <p:scale>
        <a:sx n="100" d="100"/>
        <a:sy n="100" d="100"/>
      </p:scale>
      <p:origin x="0" y="0"/>
    </p:cViewPr>
  </p:sorterViewPr>
  <p:gridSpacing cx="72008" cy="72008"/>
</p:viewPr>
</file>

<file path=ppt/_rels/presentation.xml.rels><?xml version="1.0" encoding="UTF-8" standalone="yes"?>
<Relationships xmlns="http://schemas.openxmlformats.org/package/2006/relationships"><Relationship Id="rId8" Type="http://schemas.openxmlformats.org/officeDocument/2006/relationships/presProps" Target="presProps.xml"/><Relationship Id="rId3" Type="http://schemas.openxmlformats.org/officeDocument/2006/relationships/slide" Target="slides/slide2.xml"/><Relationship Id="rId7" Type="http://schemas.openxmlformats.org/officeDocument/2006/relationships/notesMaster" Target="notesMasters/notesMaster1.xml"/><Relationship Id="rId2" Type="http://schemas.openxmlformats.org/officeDocument/2006/relationships/slide" Target="slides/slide1.xml"/><Relationship Id="rId1" Type="http://schemas.openxmlformats.org/officeDocument/2006/relationships/slideMaster" Target="slideMasters/slideMaster1.xml"/><Relationship Id="rId6" Type="http://schemas.openxmlformats.org/officeDocument/2006/relationships/slide" Target="slides/slide5.xml"/><Relationship Id="rId11" Type="http://schemas.openxmlformats.org/officeDocument/2006/relationships/tableStyles" Target="tableStyles.xml"/><Relationship Id="rId5" Type="http://schemas.openxmlformats.org/officeDocument/2006/relationships/slide" Target="slides/slide4.xml"/><Relationship Id="rId10" Type="http://schemas.openxmlformats.org/officeDocument/2006/relationships/theme" Target="theme/theme1.xml"/><Relationship Id="rId4" Type="http://schemas.openxmlformats.org/officeDocument/2006/relationships/slide" Target="slides/slide3.xml"/><Relationship Id="rId9" Type="http://schemas.openxmlformats.org/officeDocument/2006/relationships/viewProps" Target="viewProps.xml"/></Relationships>
</file>

<file path=ppt/diagrams/colors1.xml><?xml version="1.0" encoding="utf-8"?>
<dgm:colorsDef xmlns:dgm="http://schemas.openxmlformats.org/drawingml/2006/diagram" xmlns:a="http://schemas.openxmlformats.org/drawingml/2006/main" uniqueId="urn:microsoft.com/office/officeart/2005/8/colors/accent1_2">
  <dgm:title val=""/>
  <dgm:desc val=""/>
  <dgm:catLst>
    <dgm:cat type="accent1" pri="11200"/>
  </dgm:catLst>
  <dgm:styleLbl name="node0">
    <dgm:fillClrLst meth="repeat">
      <a:schemeClr val="accent1"/>
    </dgm:fillClrLst>
    <dgm:linClrLst meth="repeat">
      <a:schemeClr val="lt1"/>
    </dgm:linClrLst>
    <dgm:effectClrLst/>
    <dgm:txLinClrLst/>
    <dgm:txFillClrLst/>
    <dgm:txEffectClrLst/>
  </dgm:styleLbl>
  <dgm:styleLbl name="alignNode1">
    <dgm:fillClrLst meth="repeat">
      <a:schemeClr val="accent1"/>
    </dgm:fillClrLst>
    <dgm:linClrLst meth="repeat">
      <a:schemeClr val="accent1"/>
    </dgm:linClrLst>
    <dgm:effectClrLst/>
    <dgm:txLinClrLst/>
    <dgm:txFillClrLst/>
    <dgm:txEffectClrLst/>
  </dgm:styleLbl>
  <dgm:styleLbl name="node1">
    <dgm:fillClrLst meth="repeat">
      <a:schemeClr val="accent1"/>
    </dgm:fillClrLst>
    <dgm:linClrLst meth="repeat">
      <a:schemeClr val="lt1"/>
    </dgm:linClrLst>
    <dgm:effectClrLst/>
    <dgm:txLinClrLst/>
    <dgm:txFillClrLst/>
    <dgm:txEffectClrLst/>
  </dgm:styleLbl>
  <dgm:styleLbl name="lnNode1">
    <dgm:fillClrLst meth="repeat">
      <a:schemeClr val="accent1"/>
    </dgm:fillClrLst>
    <dgm:linClrLst meth="repeat">
      <a:schemeClr val="lt1"/>
    </dgm:linClrLst>
    <dgm:effectClrLst/>
    <dgm:txLinClrLst/>
    <dgm:txFillClrLst/>
    <dgm:txEffectClrLst/>
  </dgm:styleLbl>
  <dgm:styleLbl name="vennNode1">
    <dgm:fillClrLst meth="repeat">
      <a:schemeClr val="accent1">
        <a:alpha val="50000"/>
      </a:schemeClr>
    </dgm:fillClrLst>
    <dgm:linClrLst meth="repeat">
      <a:schemeClr val="lt1"/>
    </dgm:linClrLst>
    <dgm:effectClrLst/>
    <dgm:txLinClrLst/>
    <dgm:txFillClrLst/>
    <dgm:txEffectClrLst/>
  </dgm:styleLbl>
  <dgm:styleLbl name="node2">
    <dgm:fillClrLst meth="repeat">
      <a:schemeClr val="accent1"/>
    </dgm:fillClrLst>
    <dgm:linClrLst meth="repeat">
      <a:schemeClr val="lt1"/>
    </dgm:linClrLst>
    <dgm:effectClrLst/>
    <dgm:txLinClrLst/>
    <dgm:txFillClrLst/>
    <dgm:txEffectClrLst/>
  </dgm:styleLbl>
  <dgm:styleLbl name="node3">
    <dgm:fillClrLst meth="repeat">
      <a:schemeClr val="accent1"/>
    </dgm:fillClrLst>
    <dgm:linClrLst meth="repeat">
      <a:schemeClr val="lt1"/>
    </dgm:linClrLst>
    <dgm:effectClrLst/>
    <dgm:txLinClrLst/>
    <dgm:txFillClrLst/>
    <dgm:txEffectClrLst/>
  </dgm:styleLbl>
  <dgm:styleLbl name="node4">
    <dgm:fillClrLst meth="repeat">
      <a:schemeClr val="accent1"/>
    </dgm:fillClrLst>
    <dgm:linClrLst meth="repeat">
      <a:schemeClr val="lt1"/>
    </dgm:linClrLst>
    <dgm:effectClrLst/>
    <dgm:txLinClrLst/>
    <dgm:txFillClrLst/>
    <dgm:txEffectClrLst/>
  </dgm:styleLbl>
  <dgm:styleLbl name="fgImgPlace1">
    <dgm:fillClrLst meth="repeat">
      <a:schemeClr val="accent1">
        <a:tint val="50000"/>
      </a:schemeClr>
    </dgm:fillClrLst>
    <dgm:linClrLst meth="repeat">
      <a:schemeClr val="lt1"/>
    </dgm:linClrLst>
    <dgm:effectClrLst/>
    <dgm:txLinClrLst/>
    <dgm:txFillClrLst meth="repeat">
      <a:schemeClr val="lt1"/>
    </dgm:txFillClrLst>
    <dgm:txEffectClrLst/>
  </dgm:styleLbl>
  <dgm:styleLbl name="alignImgPlace1">
    <dgm:fillClrLst meth="repeat">
      <a:schemeClr val="accent1">
        <a:tint val="50000"/>
      </a:schemeClr>
    </dgm:fillClrLst>
    <dgm:linClrLst meth="repeat">
      <a:schemeClr val="lt1"/>
    </dgm:linClrLst>
    <dgm:effectClrLst/>
    <dgm:txLinClrLst/>
    <dgm:txFillClrLst meth="repeat">
      <a:schemeClr val="lt1"/>
    </dgm:txFillClrLst>
    <dgm:txEffectClrLst/>
  </dgm:styleLbl>
  <dgm:styleLbl name="bgImgPlace1">
    <dgm:fillClrLst meth="repeat">
      <a:schemeClr val="accent1">
        <a:tint val="5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1">
        <a:tint val="60000"/>
      </a:schemeClr>
    </dgm:fillClrLst>
    <dgm:linClrLst meth="repeat">
      <a:schemeClr val="accent1">
        <a:tint val="60000"/>
      </a:schemeClr>
    </dgm:linClrLst>
    <dgm:effectClrLst/>
    <dgm:txLinClrLst/>
    <dgm:txFillClrLst/>
    <dgm:txEffectClrLst/>
  </dgm:styleLbl>
  <dgm:styleLbl name="fgSibTrans2D1">
    <dgm:fillClrLst meth="repeat">
      <a:schemeClr val="accent1">
        <a:tint val="60000"/>
      </a:schemeClr>
    </dgm:fillClrLst>
    <dgm:linClrLst meth="repeat">
      <a:schemeClr val="accent1">
        <a:tint val="60000"/>
      </a:schemeClr>
    </dgm:linClrLst>
    <dgm:effectClrLst/>
    <dgm:txLinClrLst/>
    <dgm:txFillClrLst/>
    <dgm:txEffectClrLst/>
  </dgm:styleLbl>
  <dgm:styleLbl name="bgSibTrans2D1">
    <dgm:fillClrLst meth="repeat">
      <a:schemeClr val="accent1">
        <a:tint val="60000"/>
      </a:schemeClr>
    </dgm:fillClrLst>
    <dgm:linClrLst meth="repeat">
      <a:schemeClr val="accent1">
        <a:tint val="60000"/>
      </a:schemeClr>
    </dgm:linClrLst>
    <dgm:effectClrLst/>
    <dgm:txLinClrLst/>
    <dgm:txFillClrLst/>
    <dgm:txEffectClrLst/>
  </dgm:styleLbl>
  <dgm:styleLbl name="sibTrans1D1">
    <dgm:fillClrLst meth="repeat">
      <a:schemeClr val="accent1"/>
    </dgm:fillClrLst>
    <dgm:linClrLst meth="repeat">
      <a:schemeClr val="accent1"/>
    </dgm:linClrLst>
    <dgm:effectClrLst/>
    <dgm:txLinClrLst/>
    <dgm:txFillClrLst meth="repeat">
      <a:schemeClr val="tx1"/>
    </dgm:txFillClrLst>
    <dgm:txEffectClrLst/>
  </dgm:styleLbl>
  <dgm:styleLbl name="callout">
    <dgm:fillClrLst meth="repeat">
      <a:schemeClr val="accent1"/>
    </dgm:fillClrLst>
    <dgm:linClrLst meth="repeat">
      <a:schemeClr val="accent1">
        <a:tint val="50000"/>
      </a:schemeClr>
    </dgm:linClrLst>
    <dgm:effectClrLst/>
    <dgm:txLinClrLst/>
    <dgm:txFillClrLst meth="repeat">
      <a:schemeClr val="tx1"/>
    </dgm:txFillClrLst>
    <dgm:txEffectClrLst/>
  </dgm:styleLbl>
  <dgm:styleLbl name="asst0">
    <dgm:fillClrLst meth="repeat">
      <a:schemeClr val="accent1"/>
    </dgm:fillClrLst>
    <dgm:linClrLst meth="repeat">
      <a:schemeClr val="lt1"/>
    </dgm:linClrLst>
    <dgm:effectClrLst/>
    <dgm:txLinClrLst/>
    <dgm:txFillClrLst/>
    <dgm:txEffectClrLst/>
  </dgm:styleLbl>
  <dgm:styleLbl name="asst1">
    <dgm:fillClrLst meth="repeat">
      <a:schemeClr val="accent1"/>
    </dgm:fillClrLst>
    <dgm:linClrLst meth="repeat">
      <a:schemeClr val="lt1"/>
    </dgm:linClrLst>
    <dgm:effectClrLst/>
    <dgm:txLinClrLst/>
    <dgm:txFillClrLst/>
    <dgm:txEffectClrLst/>
  </dgm:styleLbl>
  <dgm:styleLbl name="asst2">
    <dgm:fillClrLst meth="repeat">
      <a:schemeClr val="accent1"/>
    </dgm:fillClrLst>
    <dgm:linClrLst meth="repeat">
      <a:schemeClr val="lt1"/>
    </dgm:linClrLst>
    <dgm:effectClrLst/>
    <dgm:txLinClrLst/>
    <dgm:txFillClrLst/>
    <dgm:txEffectClrLst/>
  </dgm:styleLbl>
  <dgm:styleLbl name="asst3">
    <dgm:fillClrLst meth="repeat">
      <a:schemeClr val="accent1"/>
    </dgm:fillClrLst>
    <dgm:linClrLst meth="repeat">
      <a:schemeClr val="lt1"/>
    </dgm:linClrLst>
    <dgm:effectClrLst/>
    <dgm:txLinClrLst/>
    <dgm:txFillClrLst/>
    <dgm:txEffectClrLst/>
  </dgm:styleLbl>
  <dgm:styleLbl name="asst4">
    <dgm:fillClrLst meth="repeat">
      <a:schemeClr val="accent1"/>
    </dgm:fillClrLst>
    <dgm:linClrLst meth="repeat">
      <a:schemeClr val="lt1"/>
    </dgm:linClrLst>
    <dgm:effectClrLst/>
    <dgm:txLinClrLst/>
    <dgm:txFillClrLst/>
    <dgm:txEffectClrLst/>
  </dgm:styleLbl>
  <dgm:styleLbl name="parChTrans2D1">
    <dgm:fillClrLst meth="repeat">
      <a:schemeClr val="accent1">
        <a:tint val="60000"/>
      </a:schemeClr>
    </dgm:fillClrLst>
    <dgm:linClrLst meth="repeat">
      <a:schemeClr val="accent1">
        <a:tint val="60000"/>
      </a:schemeClr>
    </dgm:linClrLst>
    <dgm:effectClrLst/>
    <dgm:txLinClrLst/>
    <dgm:txFillClrLst meth="repeat">
      <a:schemeClr val="lt1"/>
    </dgm:txFillClrLst>
    <dgm:txEffectClrLst/>
  </dgm:styleLbl>
  <dgm:styleLbl name="parChTrans2D2">
    <dgm:fillClrLst meth="repeat">
      <a:schemeClr val="accent1"/>
    </dgm:fillClrLst>
    <dgm:linClrLst meth="repeat">
      <a:schemeClr val="accent1"/>
    </dgm:linClrLst>
    <dgm:effectClrLst/>
    <dgm:txLinClrLst/>
    <dgm:txFillClrLst meth="repeat">
      <a:schemeClr val="lt1"/>
    </dgm:txFillClrLst>
    <dgm:txEffectClrLst/>
  </dgm:styleLbl>
  <dgm:styleLbl name="parChTrans2D3">
    <dgm:fillClrLst meth="repeat">
      <a:schemeClr val="accent1"/>
    </dgm:fillClrLst>
    <dgm:linClrLst meth="repeat">
      <a:schemeClr val="accent1"/>
    </dgm:linClrLst>
    <dgm:effectClrLst/>
    <dgm:txLinClrLst/>
    <dgm:txFillClrLst meth="repeat">
      <a:schemeClr val="lt1"/>
    </dgm:txFillClrLst>
    <dgm:txEffectClrLst/>
  </dgm:styleLbl>
  <dgm:styleLbl name="parChTrans2D4">
    <dgm:fillClrLst meth="repeat">
      <a:schemeClr val="accent1"/>
    </dgm:fillClrLst>
    <dgm:linClrLst meth="repeat">
      <a:schemeClr val="accent1"/>
    </dgm:linClrLst>
    <dgm:effectClrLst/>
    <dgm:txLinClrLst/>
    <dgm:txFillClrLst meth="repeat">
      <a:schemeClr val="lt1"/>
    </dgm:txFillClrLst>
    <dgm:txEffectClrLst/>
  </dgm:styleLbl>
  <dgm:styleLbl name="parChTrans1D1">
    <dgm:fillClrLst meth="repeat">
      <a:schemeClr val="accent1"/>
    </dgm:fillClrLst>
    <dgm:linClrLst meth="repeat">
      <a:schemeClr val="accent1">
        <a:shade val="60000"/>
      </a:schemeClr>
    </dgm:linClrLst>
    <dgm:effectClrLst/>
    <dgm:txLinClrLst/>
    <dgm:txFillClrLst meth="repeat">
      <a:schemeClr val="tx1"/>
    </dgm:txFillClrLst>
    <dgm:txEffectClrLst/>
  </dgm:styleLbl>
  <dgm:styleLbl name="parChTrans1D2">
    <dgm:fillClrLst meth="repeat">
      <a:schemeClr val="accent1"/>
    </dgm:fillClrLst>
    <dgm:linClrLst meth="repeat">
      <a:schemeClr val="accent1">
        <a:shade val="60000"/>
      </a:schemeClr>
    </dgm:linClrLst>
    <dgm:effectClrLst/>
    <dgm:txLinClrLst/>
    <dgm:txFillClrLst meth="repeat">
      <a:schemeClr val="tx1"/>
    </dgm:txFillClrLst>
    <dgm:txEffectClrLst/>
  </dgm:styleLbl>
  <dgm:styleLbl name="parChTrans1D3">
    <dgm:fillClrLst meth="repeat">
      <a:schemeClr val="accent1"/>
    </dgm:fillClrLst>
    <dgm:linClrLst meth="repeat">
      <a:schemeClr val="accent1">
        <a:shade val="80000"/>
      </a:schemeClr>
    </dgm:linClrLst>
    <dgm:effectClrLst/>
    <dgm:txLinClrLst/>
    <dgm:txFillClrLst meth="repeat">
      <a:schemeClr val="tx1"/>
    </dgm:txFillClrLst>
    <dgm:txEffectClrLst/>
  </dgm:styleLbl>
  <dgm:styleLbl name="parChTrans1D4">
    <dgm:fillClrLst meth="repeat">
      <a:schemeClr val="accent1"/>
    </dgm:fillClrLst>
    <dgm:linClrLst meth="repeat">
      <a:schemeClr val="accent1">
        <a:shade val="80000"/>
      </a:schemeClr>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1"/>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solidFgAcc1">
    <dgm:fillClrLst meth="repeat">
      <a:schemeClr val="lt1"/>
    </dgm:fillClrLst>
    <dgm:linClrLst meth="repeat">
      <a:schemeClr val="accent1"/>
    </dgm:linClrLst>
    <dgm:effectClrLst/>
    <dgm:txLinClrLst/>
    <dgm:txFillClrLst meth="repeat">
      <a:schemeClr val="dk1"/>
    </dgm:txFillClrLst>
    <dgm:txEffectClrLst/>
  </dgm:styleLbl>
  <dgm:styleLbl name="solidAlignAcc1">
    <dgm:fillClrLst meth="repeat">
      <a:schemeClr val="lt1"/>
    </dgm:fillClrLst>
    <dgm:linClrLst meth="repeat">
      <a:schemeClr val="accent1"/>
    </dgm:linClrLst>
    <dgm:effectClrLst/>
    <dgm:txLinClrLst/>
    <dgm:txFillClrLst meth="repeat">
      <a:schemeClr val="dk1"/>
    </dgm:txFillClrLst>
    <dgm:txEffectClrLst/>
  </dgm:styleLbl>
  <dgm:styleLbl name="solidBgAcc1">
    <dgm:fillClrLst meth="repeat">
      <a:schemeClr val="lt1"/>
    </dgm:fillClrLst>
    <dgm:linClrLst meth="repeat">
      <a:schemeClr val="accent1"/>
    </dgm:linClrLst>
    <dgm:effectClrLst/>
    <dgm:txLinClrLst/>
    <dgm:txFillClrLst meth="repeat">
      <a:schemeClr val="dk1"/>
    </dgm:txFillClrLst>
    <dgm:txEffectClrLst/>
  </dgm:styleLbl>
  <dgm:styleLbl name="fgAccFollowNode1">
    <dgm:fillClrLst meth="repeat">
      <a:schemeClr val="accent1">
        <a:alpha val="90000"/>
        <a:tint val="40000"/>
      </a:schemeClr>
    </dgm:fillClrLst>
    <dgm:linClrLst meth="repeat">
      <a:schemeClr val="accent1">
        <a:alpha val="90000"/>
        <a:tint val="40000"/>
      </a:schemeClr>
    </dgm:linClrLst>
    <dgm:effectClrLst/>
    <dgm:txLinClrLst/>
    <dgm:txFillClrLst meth="repeat">
      <a:schemeClr val="dk1"/>
    </dgm:txFillClrLst>
    <dgm:txEffectClrLst/>
  </dgm:styleLbl>
  <dgm:styleLbl name="alignAccFollowNode1">
    <dgm:fillClrLst meth="repeat">
      <a:schemeClr val="accent1">
        <a:alpha val="90000"/>
        <a:tint val="40000"/>
      </a:schemeClr>
    </dgm:fillClrLst>
    <dgm:linClrLst meth="repeat">
      <a:schemeClr val="accent1">
        <a:alpha val="90000"/>
        <a:tint val="40000"/>
      </a:schemeClr>
    </dgm:linClrLst>
    <dgm:effectClrLst/>
    <dgm:txLinClrLst/>
    <dgm:txFillClrLst meth="repeat">
      <a:schemeClr val="dk1"/>
    </dgm:txFillClrLst>
    <dgm:txEffectClrLst/>
  </dgm:styleLbl>
  <dgm:styleLbl name="bgAccFollowNode1">
    <dgm:fillClrLst meth="repeat">
      <a:schemeClr val="accent1">
        <a:alpha val="90000"/>
        <a:tint val="40000"/>
      </a:schemeClr>
    </dgm:fillClrLst>
    <dgm:linClrLst meth="repeat">
      <a:schemeClr val="accent1">
        <a:alpha val="90000"/>
        <a:tint val="40000"/>
      </a:schemeClr>
    </dgm:linClrLst>
    <dgm:effectClrLst/>
    <dgm:txLinClrLst/>
    <dgm:txFillClrLst meth="repeat">
      <a:schemeClr val="dk1"/>
    </dgm:txFillClrLst>
    <dgm:txEffectClrLst/>
  </dgm:styleLbl>
  <dgm:styleLbl name="fgAcc0">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fgAcc2">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fgAcc3">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fgAcc4">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bgShp">
    <dgm:fillClrLst meth="repeat">
      <a:schemeClr val="accent1">
        <a:tint val="40000"/>
      </a:schemeClr>
    </dgm:fillClrLst>
    <dgm:linClrLst meth="repeat">
      <a:schemeClr val="accent1"/>
    </dgm:linClrLst>
    <dgm:effectClrLst/>
    <dgm:txLinClrLst/>
    <dgm:txFillClrLst meth="repeat">
      <a:schemeClr val="dk1"/>
    </dgm:txFillClrLst>
    <dgm:txEffectClrLst/>
  </dgm:styleLbl>
  <dgm:styleLbl name="dkBgShp">
    <dgm:fillClrLst meth="repeat">
      <a:schemeClr val="accent1">
        <a:shade val="80000"/>
      </a:schemeClr>
    </dgm:fillClrLst>
    <dgm:linClrLst meth="repeat">
      <a:schemeClr val="accent1"/>
    </dgm:linClrLst>
    <dgm:effectClrLst/>
    <dgm:txLinClrLst/>
    <dgm:txFillClrLst meth="repeat">
      <a:schemeClr val="lt1"/>
    </dgm:txFillClrLst>
    <dgm:txEffectClrLst/>
  </dgm:styleLbl>
  <dgm:styleLbl name="trBgShp">
    <dgm:fillClrLst meth="repeat">
      <a:schemeClr val="accent1">
        <a:tint val="50000"/>
        <a:alpha val="40000"/>
      </a:schemeClr>
    </dgm:fillClrLst>
    <dgm:linClrLst meth="repeat">
      <a:schemeClr val="accent1"/>
    </dgm:linClrLst>
    <dgm:effectClrLst/>
    <dgm:txLinClrLst/>
    <dgm:txFillClrLst meth="repeat">
      <a:schemeClr val="lt1"/>
    </dgm:txFillClrLst>
    <dgm:txEffectClrLst/>
  </dgm:styleLbl>
  <dgm:styleLbl name="fgShp">
    <dgm:fillClrLst meth="repeat">
      <a:schemeClr val="accent1">
        <a:tint val="6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data1.xml><?xml version="1.0" encoding="utf-8"?>
<dgm:dataModel xmlns:dgm="http://schemas.openxmlformats.org/drawingml/2006/diagram" xmlns:a="http://schemas.openxmlformats.org/drawingml/2006/main">
  <dgm:ptLst>
    <dgm:pt modelId="{33C774CC-5ABC-4DBC-AA95-95A8E9530D0F}" type="doc">
      <dgm:prSet loTypeId="urn:microsoft.com/office/officeart/2005/8/layout/process1" loCatId="process" qsTypeId="urn:microsoft.com/office/officeart/2005/8/quickstyle/simple1" qsCatId="simple" csTypeId="urn:microsoft.com/office/officeart/2005/8/colors/accent1_2" csCatId="accent1" phldr="1"/>
      <dgm:spPr/>
      <dgm:t>
        <a:bodyPr/>
        <a:lstStyle/>
        <a:p>
          <a:endParaRPr lang="en-SG"/>
        </a:p>
      </dgm:t>
    </dgm:pt>
    <dgm:pt modelId="{6F5E7D44-1557-4D24-B418-71C970AD6BEF}">
      <dgm:prSet custT="1"/>
      <dgm:spPr/>
      <dgm:t>
        <a:bodyPr/>
        <a:lstStyle/>
        <a:p>
          <a:r>
            <a:rPr lang="en-SG" sz="1600" dirty="0"/>
            <a:t>Data Sources (Unstructured — Singapore Budgets)</a:t>
          </a:r>
        </a:p>
      </dgm:t>
    </dgm:pt>
    <dgm:pt modelId="{650FB0FD-2931-4FC3-85ED-4A827A98927E}" type="parTrans" cxnId="{F2982640-DDF6-43CD-A2E2-A039D5D679A3}">
      <dgm:prSet/>
      <dgm:spPr/>
      <dgm:t>
        <a:bodyPr/>
        <a:lstStyle/>
        <a:p>
          <a:endParaRPr lang="en-SG"/>
        </a:p>
      </dgm:t>
    </dgm:pt>
    <dgm:pt modelId="{E0E4E17F-FE6C-4091-ACB5-7F2D6C4BE1D7}" type="sibTrans" cxnId="{F2982640-DDF6-43CD-A2E2-A039D5D679A3}">
      <dgm:prSet/>
      <dgm:spPr/>
      <dgm:t>
        <a:bodyPr/>
        <a:lstStyle/>
        <a:p>
          <a:endParaRPr lang="en-SG" dirty="0"/>
        </a:p>
      </dgm:t>
    </dgm:pt>
    <dgm:pt modelId="{079FAE3C-BF08-425F-BECA-798B744C0D11}">
      <dgm:prSet custT="1"/>
      <dgm:spPr/>
      <dgm:t>
        <a:bodyPr/>
        <a:lstStyle/>
        <a:p>
          <a:r>
            <a:rPr lang="en-SG" sz="1600" dirty="0"/>
            <a:t>Ingestion &amp; Preprocessing</a:t>
          </a:r>
        </a:p>
      </dgm:t>
    </dgm:pt>
    <dgm:pt modelId="{A29D9133-0987-4FED-9312-D210C92FC2FD}" type="parTrans" cxnId="{B42B22D3-A5F4-462F-8295-0AFA45E9B3DF}">
      <dgm:prSet/>
      <dgm:spPr/>
      <dgm:t>
        <a:bodyPr/>
        <a:lstStyle/>
        <a:p>
          <a:endParaRPr lang="en-SG"/>
        </a:p>
      </dgm:t>
    </dgm:pt>
    <dgm:pt modelId="{4E8D1881-922E-437F-B010-AA1E6A222DFE}" type="sibTrans" cxnId="{B42B22D3-A5F4-462F-8295-0AFA45E9B3DF}">
      <dgm:prSet/>
      <dgm:spPr/>
      <dgm:t>
        <a:bodyPr/>
        <a:lstStyle/>
        <a:p>
          <a:endParaRPr lang="en-SG" dirty="0"/>
        </a:p>
      </dgm:t>
    </dgm:pt>
    <dgm:pt modelId="{27C25BF8-704C-4EDD-AD83-35C8EFC3F1E2}">
      <dgm:prSet custT="1"/>
      <dgm:spPr/>
      <dgm:t>
        <a:bodyPr/>
        <a:lstStyle/>
        <a:p>
          <a:pPr>
            <a:buNone/>
          </a:pPr>
          <a:r>
            <a:rPr lang="en-SG" sz="1600" dirty="0"/>
            <a:t>Knowledge Stores</a:t>
          </a:r>
        </a:p>
      </dgm:t>
    </dgm:pt>
    <dgm:pt modelId="{B1030CD2-66E4-4418-B5D8-421063A87A63}" type="parTrans" cxnId="{B6895D99-57E2-4E90-96D1-6D8068EF1F00}">
      <dgm:prSet/>
      <dgm:spPr/>
      <dgm:t>
        <a:bodyPr/>
        <a:lstStyle/>
        <a:p>
          <a:endParaRPr lang="en-SG"/>
        </a:p>
      </dgm:t>
    </dgm:pt>
    <dgm:pt modelId="{24A5978D-6909-40FE-907E-7396AD1AE1D2}" type="sibTrans" cxnId="{B6895D99-57E2-4E90-96D1-6D8068EF1F00}">
      <dgm:prSet/>
      <dgm:spPr/>
      <dgm:t>
        <a:bodyPr/>
        <a:lstStyle/>
        <a:p>
          <a:endParaRPr lang="en-SG" dirty="0"/>
        </a:p>
      </dgm:t>
    </dgm:pt>
    <dgm:pt modelId="{8D939E49-1DCF-4EA5-8FAD-4C10D1706BBA}">
      <dgm:prSet custT="1"/>
      <dgm:spPr/>
      <dgm:t>
        <a:bodyPr/>
        <a:lstStyle/>
        <a:p>
          <a:pPr>
            <a:buNone/>
          </a:pPr>
          <a:r>
            <a:rPr lang="en-SG" sz="1600" dirty="0"/>
            <a:t>RAG &amp; Agentic AI Orchestration</a:t>
          </a:r>
        </a:p>
      </dgm:t>
    </dgm:pt>
    <dgm:pt modelId="{FBE8369D-0324-41FE-B007-2B20E3C80C06}" type="parTrans" cxnId="{BF37E6A6-BF8A-4A85-8947-CA083D59FDA9}">
      <dgm:prSet/>
      <dgm:spPr/>
      <dgm:t>
        <a:bodyPr/>
        <a:lstStyle/>
        <a:p>
          <a:endParaRPr lang="en-SG"/>
        </a:p>
      </dgm:t>
    </dgm:pt>
    <dgm:pt modelId="{8B4A4F78-DE25-471A-8C80-F5931F735A9D}" type="sibTrans" cxnId="{BF37E6A6-BF8A-4A85-8947-CA083D59FDA9}">
      <dgm:prSet/>
      <dgm:spPr/>
      <dgm:t>
        <a:bodyPr/>
        <a:lstStyle/>
        <a:p>
          <a:endParaRPr lang="en-SG" dirty="0"/>
        </a:p>
      </dgm:t>
    </dgm:pt>
    <dgm:pt modelId="{CA85AEC3-64F6-4ABB-BAE0-5B3CFE072DA2}">
      <dgm:prSet custT="1"/>
      <dgm:spPr/>
      <dgm:t>
        <a:bodyPr/>
        <a:lstStyle/>
        <a:p>
          <a:r>
            <a:rPr lang="en-SG" sz="1600" dirty="0"/>
            <a:t>Response</a:t>
          </a:r>
        </a:p>
      </dgm:t>
    </dgm:pt>
    <dgm:pt modelId="{901EECF6-A23F-41F9-B435-5CAF35502B6B}" type="parTrans" cxnId="{762BCF7E-9BA8-4864-997A-B572791B4B73}">
      <dgm:prSet/>
      <dgm:spPr/>
      <dgm:t>
        <a:bodyPr/>
        <a:lstStyle/>
        <a:p>
          <a:endParaRPr lang="en-SG"/>
        </a:p>
      </dgm:t>
    </dgm:pt>
    <dgm:pt modelId="{0DBFFCDE-B8FF-4550-A083-C0374CF8F108}" type="sibTrans" cxnId="{762BCF7E-9BA8-4864-997A-B572791B4B73}">
      <dgm:prSet/>
      <dgm:spPr/>
      <dgm:t>
        <a:bodyPr/>
        <a:lstStyle/>
        <a:p>
          <a:endParaRPr lang="en-SG"/>
        </a:p>
      </dgm:t>
    </dgm:pt>
    <dgm:pt modelId="{FC0F9AFE-2DC1-4CC8-B649-12982D951021}">
      <dgm:prSet custT="1"/>
      <dgm:spPr/>
      <dgm:t>
        <a:bodyPr/>
        <a:lstStyle/>
        <a:p>
          <a:pPr>
            <a:buFont typeface="Arial" panose="020B0604020202020204" pitchFamily="34" charset="0"/>
            <a:buChar char="•"/>
          </a:pPr>
          <a:r>
            <a:rPr lang="en-SG" sz="1200" dirty="0"/>
            <a:t>Vector DB</a:t>
          </a:r>
        </a:p>
      </dgm:t>
    </dgm:pt>
    <dgm:pt modelId="{2FAC6633-295A-4515-96D7-FE1B808C1B63}" type="parTrans" cxnId="{B41D552A-A7CD-48A2-B689-A82BDFD5B0FF}">
      <dgm:prSet/>
      <dgm:spPr/>
      <dgm:t>
        <a:bodyPr/>
        <a:lstStyle/>
        <a:p>
          <a:endParaRPr lang="en-SG"/>
        </a:p>
      </dgm:t>
    </dgm:pt>
    <dgm:pt modelId="{9EDD29D1-B9DF-44B0-8902-9E49AD4AC93B}" type="sibTrans" cxnId="{B41D552A-A7CD-48A2-B689-A82BDFD5B0FF}">
      <dgm:prSet/>
      <dgm:spPr/>
      <dgm:t>
        <a:bodyPr/>
        <a:lstStyle/>
        <a:p>
          <a:endParaRPr lang="en-SG"/>
        </a:p>
      </dgm:t>
    </dgm:pt>
    <dgm:pt modelId="{160C48D4-816C-4610-8145-C4A8BA1165ED}">
      <dgm:prSet custT="1"/>
      <dgm:spPr/>
      <dgm:t>
        <a:bodyPr/>
        <a:lstStyle/>
        <a:p>
          <a:r>
            <a:rPr lang="en-SG" sz="1200" dirty="0"/>
            <a:t>Tag sources by Financial Year,  Type (Budget Statement / Round-Up Speech)</a:t>
          </a:r>
        </a:p>
      </dgm:t>
    </dgm:pt>
    <dgm:pt modelId="{A0A0FE57-917B-4AE5-9575-E039280D23BF}" type="parTrans" cxnId="{4FF1C943-C55F-43F4-9D3F-1F39432EC1EC}">
      <dgm:prSet/>
      <dgm:spPr/>
      <dgm:t>
        <a:bodyPr/>
        <a:lstStyle/>
        <a:p>
          <a:endParaRPr lang="en-SG"/>
        </a:p>
      </dgm:t>
    </dgm:pt>
    <dgm:pt modelId="{B6513777-C514-4AF8-B67C-3023EB0A6C28}" type="sibTrans" cxnId="{4FF1C943-C55F-43F4-9D3F-1F39432EC1EC}">
      <dgm:prSet/>
      <dgm:spPr/>
      <dgm:t>
        <a:bodyPr/>
        <a:lstStyle/>
        <a:p>
          <a:endParaRPr lang="en-SG"/>
        </a:p>
      </dgm:t>
    </dgm:pt>
    <dgm:pt modelId="{CF4E7E4F-DF45-4333-BC11-CA48C662E33A}">
      <dgm:prSet custT="1"/>
      <dgm:spPr/>
      <dgm:t>
        <a:bodyPr/>
        <a:lstStyle/>
        <a:p>
          <a:r>
            <a:rPr lang="en-SG" sz="1200" dirty="0"/>
            <a:t>10 years Budget Statements, Round-Up Speeches – FY2016 - FY2025</a:t>
          </a:r>
        </a:p>
      </dgm:t>
    </dgm:pt>
    <dgm:pt modelId="{97FD80C0-EE24-4989-AC3B-3D2B9D1C6DD7}" type="parTrans" cxnId="{D59C6718-48B0-41EE-9EFB-8567CAE979BE}">
      <dgm:prSet/>
      <dgm:spPr/>
      <dgm:t>
        <a:bodyPr/>
        <a:lstStyle/>
        <a:p>
          <a:endParaRPr lang="en-SG"/>
        </a:p>
      </dgm:t>
    </dgm:pt>
    <dgm:pt modelId="{71FD74C0-1BD3-4910-A6E2-97861893B144}" type="sibTrans" cxnId="{D59C6718-48B0-41EE-9EFB-8567CAE979BE}">
      <dgm:prSet/>
      <dgm:spPr/>
      <dgm:t>
        <a:bodyPr/>
        <a:lstStyle/>
        <a:p>
          <a:endParaRPr lang="en-SG"/>
        </a:p>
      </dgm:t>
    </dgm:pt>
    <dgm:pt modelId="{4F971BCF-6BF9-4240-BD4F-DF7FC6ED3A3C}">
      <dgm:prSet custT="1"/>
      <dgm:spPr/>
      <dgm:t>
        <a:bodyPr/>
        <a:lstStyle/>
        <a:p>
          <a:r>
            <a:rPr lang="en-SG" sz="1200" dirty="0"/>
            <a:t>Dense semantic embedding + Sparse lexical retrieval (BM25-style)</a:t>
          </a:r>
        </a:p>
      </dgm:t>
    </dgm:pt>
    <dgm:pt modelId="{7FD38D87-98A3-4038-AAB3-ED60042E90AB}" type="parTrans" cxnId="{5CC78B03-FFE8-4425-B89B-296BEC8F4D01}">
      <dgm:prSet/>
      <dgm:spPr/>
      <dgm:t>
        <a:bodyPr/>
        <a:lstStyle/>
        <a:p>
          <a:endParaRPr lang="en-SG"/>
        </a:p>
      </dgm:t>
    </dgm:pt>
    <dgm:pt modelId="{EAEAFAAC-29C2-4173-BB09-A9ACE02CAA4A}" type="sibTrans" cxnId="{5CC78B03-FFE8-4425-B89B-296BEC8F4D01}">
      <dgm:prSet/>
      <dgm:spPr/>
      <dgm:t>
        <a:bodyPr/>
        <a:lstStyle/>
        <a:p>
          <a:endParaRPr lang="en-SG"/>
        </a:p>
      </dgm:t>
    </dgm:pt>
    <dgm:pt modelId="{AD318CD4-0D24-4292-960A-331D4871A296}">
      <dgm:prSet custT="1"/>
      <dgm:spPr/>
      <dgm:t>
        <a:bodyPr/>
        <a:lstStyle/>
        <a:p>
          <a:r>
            <a:rPr lang="en-SG" sz="1200" dirty="0"/>
            <a:t>Overlapping chunking</a:t>
          </a:r>
        </a:p>
      </dgm:t>
    </dgm:pt>
    <dgm:pt modelId="{5DD6E0D8-1627-48EF-946B-F1C280CE00B7}" type="parTrans" cxnId="{4A5825BA-5664-4E5A-8EB9-F6C7A6474C13}">
      <dgm:prSet/>
      <dgm:spPr/>
      <dgm:t>
        <a:bodyPr/>
        <a:lstStyle/>
        <a:p>
          <a:endParaRPr lang="en-SG"/>
        </a:p>
      </dgm:t>
    </dgm:pt>
    <dgm:pt modelId="{DC3EF715-4F6E-4BEB-9B25-6555509B9B9C}" type="sibTrans" cxnId="{4A5825BA-5664-4E5A-8EB9-F6C7A6474C13}">
      <dgm:prSet/>
      <dgm:spPr/>
      <dgm:t>
        <a:bodyPr/>
        <a:lstStyle/>
        <a:p>
          <a:endParaRPr lang="en-SG"/>
        </a:p>
      </dgm:t>
    </dgm:pt>
    <dgm:pt modelId="{3BD596F6-11EB-48AD-9E08-8787E5F683F7}">
      <dgm:prSet custT="1"/>
      <dgm:spPr/>
      <dgm:t>
        <a:bodyPr/>
        <a:lstStyle/>
        <a:p>
          <a:pPr>
            <a:buFont typeface="Arial" panose="020B0604020202020204" pitchFamily="34" charset="0"/>
            <a:buChar char="•"/>
          </a:pPr>
          <a:r>
            <a:rPr lang="en-SG" sz="1200" dirty="0"/>
            <a:t>With re-ranking retrieval (cross-encoder transformers, non-LLM)</a:t>
          </a:r>
          <a:endParaRPr lang="en-SG" sz="1200" b="1" dirty="0"/>
        </a:p>
      </dgm:t>
    </dgm:pt>
    <dgm:pt modelId="{F721625A-BF04-47B9-8FE8-F6319B63F2E9}" type="parTrans" cxnId="{DA735BC0-76E0-474D-853A-9CAFEAD6275A}">
      <dgm:prSet/>
      <dgm:spPr/>
      <dgm:t>
        <a:bodyPr/>
        <a:lstStyle/>
        <a:p>
          <a:endParaRPr lang="en-SG"/>
        </a:p>
      </dgm:t>
    </dgm:pt>
    <dgm:pt modelId="{4D514DBE-7EA7-4E0C-82DB-BD5CE9853BC7}" type="sibTrans" cxnId="{DA735BC0-76E0-474D-853A-9CAFEAD6275A}">
      <dgm:prSet/>
      <dgm:spPr/>
      <dgm:t>
        <a:bodyPr/>
        <a:lstStyle/>
        <a:p>
          <a:endParaRPr lang="en-SG"/>
        </a:p>
      </dgm:t>
    </dgm:pt>
    <dgm:pt modelId="{838D8691-B0A1-48CC-A58B-527833995C1E}">
      <dgm:prSet custT="1"/>
      <dgm:spPr/>
      <dgm:t>
        <a:bodyPr/>
        <a:lstStyle/>
        <a:p>
          <a:r>
            <a:rPr lang="en-SG" sz="1200" b="0" i="0" dirty="0"/>
            <a:t>Evaluation (QA)</a:t>
          </a:r>
          <a:endParaRPr lang="en-SG" sz="1200" b="1" dirty="0"/>
        </a:p>
      </dgm:t>
    </dgm:pt>
    <dgm:pt modelId="{E668D923-6533-40AE-B563-8EEA0442ABDC}" type="parTrans" cxnId="{0CDCD4C6-BAB0-4DD0-8EE5-66CB0023FC20}">
      <dgm:prSet/>
      <dgm:spPr/>
      <dgm:t>
        <a:bodyPr/>
        <a:lstStyle/>
        <a:p>
          <a:endParaRPr lang="en-SG"/>
        </a:p>
      </dgm:t>
    </dgm:pt>
    <dgm:pt modelId="{51F688DA-2903-4106-A015-85C94F7750C5}" type="sibTrans" cxnId="{0CDCD4C6-BAB0-4DD0-8EE5-66CB0023FC20}">
      <dgm:prSet/>
      <dgm:spPr/>
      <dgm:t>
        <a:bodyPr/>
        <a:lstStyle/>
        <a:p>
          <a:endParaRPr lang="en-SG"/>
        </a:p>
      </dgm:t>
    </dgm:pt>
    <dgm:pt modelId="{33DF35EA-74CE-420E-A3C4-4A84E45EB0E6}">
      <dgm:prSet custT="1"/>
      <dgm:spPr/>
      <dgm:t>
        <a:bodyPr/>
        <a:lstStyle/>
        <a:p>
          <a:endParaRPr lang="en-SG" sz="1200" b="1" dirty="0"/>
        </a:p>
      </dgm:t>
    </dgm:pt>
    <dgm:pt modelId="{F42840B0-A56B-493D-81AD-25EC0BD148C5}" type="parTrans" cxnId="{904DE8D0-79AD-43AF-A308-6508A2974A9C}">
      <dgm:prSet/>
      <dgm:spPr/>
      <dgm:t>
        <a:bodyPr/>
        <a:lstStyle/>
        <a:p>
          <a:endParaRPr lang="en-SG"/>
        </a:p>
      </dgm:t>
    </dgm:pt>
    <dgm:pt modelId="{A0523AAA-F6B8-4F7A-8F2E-687343386272}" type="sibTrans" cxnId="{904DE8D0-79AD-43AF-A308-6508A2974A9C}">
      <dgm:prSet/>
      <dgm:spPr/>
      <dgm:t>
        <a:bodyPr/>
        <a:lstStyle/>
        <a:p>
          <a:endParaRPr lang="en-SG"/>
        </a:p>
      </dgm:t>
    </dgm:pt>
    <dgm:pt modelId="{2216AD90-5177-4A66-AA84-50C8EE6450CC}">
      <dgm:prSet custT="1"/>
      <dgm:spPr/>
      <dgm:t>
        <a:bodyPr/>
        <a:lstStyle/>
        <a:p>
          <a:r>
            <a:rPr lang="en-SG" sz="1200" b="0" i="0" dirty="0"/>
            <a:t>AI Safety Guardrails</a:t>
          </a:r>
          <a:endParaRPr lang="en-SG" sz="1200" b="1" dirty="0"/>
        </a:p>
      </dgm:t>
    </dgm:pt>
    <dgm:pt modelId="{C0D068F3-873E-438D-BE39-857CB6D7CFA2}" type="parTrans" cxnId="{B4C7141B-03C3-4682-AAAA-19AF3DFF4B26}">
      <dgm:prSet/>
      <dgm:spPr/>
      <dgm:t>
        <a:bodyPr/>
        <a:lstStyle/>
        <a:p>
          <a:endParaRPr lang="en-SG"/>
        </a:p>
      </dgm:t>
    </dgm:pt>
    <dgm:pt modelId="{3E3317EE-CB4F-4691-A6CF-4AF8A1FE22EE}" type="sibTrans" cxnId="{B4C7141B-03C3-4682-AAAA-19AF3DFF4B26}">
      <dgm:prSet/>
      <dgm:spPr/>
      <dgm:t>
        <a:bodyPr/>
        <a:lstStyle/>
        <a:p>
          <a:endParaRPr lang="en-SG"/>
        </a:p>
      </dgm:t>
    </dgm:pt>
    <dgm:pt modelId="{DF33BD62-E60E-4B90-9780-200DB440587E}">
      <dgm:prSet custT="1"/>
      <dgm:spPr/>
      <dgm:t>
        <a:bodyPr/>
        <a:lstStyle/>
        <a:p>
          <a:r>
            <a:rPr lang="en-SG" sz="1200" b="0" i="0" dirty="0"/>
            <a:t>MCP Tooling</a:t>
          </a:r>
          <a:endParaRPr lang="en-SG" sz="1200" b="1" dirty="0"/>
        </a:p>
      </dgm:t>
    </dgm:pt>
    <dgm:pt modelId="{A04590DE-3551-4A80-8838-70BB6C8E8D47}" type="parTrans" cxnId="{4F439F2B-75CB-4202-8A22-1B0240C3C487}">
      <dgm:prSet/>
      <dgm:spPr/>
      <dgm:t>
        <a:bodyPr/>
        <a:lstStyle/>
        <a:p>
          <a:endParaRPr lang="en-SG"/>
        </a:p>
      </dgm:t>
    </dgm:pt>
    <dgm:pt modelId="{BC754C14-2EAC-4662-9989-E7C5258071F1}" type="sibTrans" cxnId="{4F439F2B-75CB-4202-8A22-1B0240C3C487}">
      <dgm:prSet/>
      <dgm:spPr/>
      <dgm:t>
        <a:bodyPr/>
        <a:lstStyle/>
        <a:p>
          <a:endParaRPr lang="en-SG"/>
        </a:p>
      </dgm:t>
    </dgm:pt>
    <dgm:pt modelId="{98DF7536-9BEC-484E-820A-4149F93A37D7}" type="pres">
      <dgm:prSet presAssocID="{33C774CC-5ABC-4DBC-AA95-95A8E9530D0F}" presName="Name0" presStyleCnt="0">
        <dgm:presLayoutVars>
          <dgm:dir/>
          <dgm:resizeHandles val="exact"/>
        </dgm:presLayoutVars>
      </dgm:prSet>
      <dgm:spPr/>
    </dgm:pt>
    <dgm:pt modelId="{8B60FB5F-05B2-459A-9300-9D95BF839B98}" type="pres">
      <dgm:prSet presAssocID="{6F5E7D44-1557-4D24-B418-71C970AD6BEF}" presName="node" presStyleLbl="node1" presStyleIdx="0" presStyleCnt="5">
        <dgm:presLayoutVars>
          <dgm:bulletEnabled val="1"/>
        </dgm:presLayoutVars>
      </dgm:prSet>
      <dgm:spPr/>
    </dgm:pt>
    <dgm:pt modelId="{C8C2DF9B-2592-4876-8559-E8894F0B09C5}" type="pres">
      <dgm:prSet presAssocID="{E0E4E17F-FE6C-4091-ACB5-7F2D6C4BE1D7}" presName="sibTrans" presStyleLbl="sibTrans2D1" presStyleIdx="0" presStyleCnt="4"/>
      <dgm:spPr/>
    </dgm:pt>
    <dgm:pt modelId="{F8BF7B47-155E-4BC1-9AD2-5A3BBE6D98E3}" type="pres">
      <dgm:prSet presAssocID="{E0E4E17F-FE6C-4091-ACB5-7F2D6C4BE1D7}" presName="connectorText" presStyleLbl="sibTrans2D1" presStyleIdx="0" presStyleCnt="4"/>
      <dgm:spPr/>
    </dgm:pt>
    <dgm:pt modelId="{92C6CB1E-8AB8-417B-99FC-BDB0633FF67D}" type="pres">
      <dgm:prSet presAssocID="{079FAE3C-BF08-425F-BECA-798B744C0D11}" presName="node" presStyleLbl="node1" presStyleIdx="1" presStyleCnt="5">
        <dgm:presLayoutVars>
          <dgm:bulletEnabled val="1"/>
        </dgm:presLayoutVars>
      </dgm:prSet>
      <dgm:spPr/>
    </dgm:pt>
    <dgm:pt modelId="{5ACAF45A-2293-4DEB-A521-8230FD18B43C}" type="pres">
      <dgm:prSet presAssocID="{4E8D1881-922E-437F-B010-AA1E6A222DFE}" presName="sibTrans" presStyleLbl="sibTrans2D1" presStyleIdx="1" presStyleCnt="4"/>
      <dgm:spPr/>
    </dgm:pt>
    <dgm:pt modelId="{8F0A802E-4130-4BA7-B156-F1D61C2ED953}" type="pres">
      <dgm:prSet presAssocID="{4E8D1881-922E-437F-B010-AA1E6A222DFE}" presName="connectorText" presStyleLbl="sibTrans2D1" presStyleIdx="1" presStyleCnt="4"/>
      <dgm:spPr/>
    </dgm:pt>
    <dgm:pt modelId="{35E22166-92D8-4563-AFE1-94814331420D}" type="pres">
      <dgm:prSet presAssocID="{27C25BF8-704C-4EDD-AD83-35C8EFC3F1E2}" presName="node" presStyleLbl="node1" presStyleIdx="2" presStyleCnt="5">
        <dgm:presLayoutVars>
          <dgm:bulletEnabled val="1"/>
        </dgm:presLayoutVars>
      </dgm:prSet>
      <dgm:spPr/>
    </dgm:pt>
    <dgm:pt modelId="{97535247-3BF9-4E17-BDB4-1A03A64BCCF8}" type="pres">
      <dgm:prSet presAssocID="{24A5978D-6909-40FE-907E-7396AD1AE1D2}" presName="sibTrans" presStyleLbl="sibTrans2D1" presStyleIdx="2" presStyleCnt="4"/>
      <dgm:spPr/>
    </dgm:pt>
    <dgm:pt modelId="{C5CD479F-24D8-4092-9152-A0E6EF993B70}" type="pres">
      <dgm:prSet presAssocID="{24A5978D-6909-40FE-907E-7396AD1AE1D2}" presName="connectorText" presStyleLbl="sibTrans2D1" presStyleIdx="2" presStyleCnt="4"/>
      <dgm:spPr/>
    </dgm:pt>
    <dgm:pt modelId="{35C9A030-F680-4047-A5AD-E01589EA65AB}" type="pres">
      <dgm:prSet presAssocID="{8D939E49-1DCF-4EA5-8FAD-4C10D1706BBA}" presName="node" presStyleLbl="node1" presStyleIdx="3" presStyleCnt="5" custScaleX="104663" custScaleY="99988" custLinFactNeighborX="5231" custLinFactNeighborY="-226">
        <dgm:presLayoutVars>
          <dgm:bulletEnabled val="1"/>
        </dgm:presLayoutVars>
      </dgm:prSet>
      <dgm:spPr/>
    </dgm:pt>
    <dgm:pt modelId="{7894FAD1-982C-4135-BFAC-AAC3B729DCE7}" type="pres">
      <dgm:prSet presAssocID="{8B4A4F78-DE25-471A-8C80-F5931F735A9D}" presName="sibTrans" presStyleLbl="sibTrans2D1" presStyleIdx="3" presStyleCnt="4"/>
      <dgm:spPr/>
    </dgm:pt>
    <dgm:pt modelId="{3CBF0380-0755-479F-9DFB-25A252235DAE}" type="pres">
      <dgm:prSet presAssocID="{8B4A4F78-DE25-471A-8C80-F5931F735A9D}" presName="connectorText" presStyleLbl="sibTrans2D1" presStyleIdx="3" presStyleCnt="4"/>
      <dgm:spPr/>
    </dgm:pt>
    <dgm:pt modelId="{C16203E6-504B-4580-8F87-8CBB85053497}" type="pres">
      <dgm:prSet presAssocID="{CA85AEC3-64F6-4ABB-BAE0-5B3CFE072DA2}" presName="node" presStyleLbl="node1" presStyleIdx="4" presStyleCnt="5">
        <dgm:presLayoutVars>
          <dgm:bulletEnabled val="1"/>
        </dgm:presLayoutVars>
      </dgm:prSet>
      <dgm:spPr/>
    </dgm:pt>
  </dgm:ptLst>
  <dgm:cxnLst>
    <dgm:cxn modelId="{48F04302-DD6A-484E-AFCD-D92C8A99D2A8}" type="presOf" srcId="{4E8D1881-922E-437F-B010-AA1E6A222DFE}" destId="{5ACAF45A-2293-4DEB-A521-8230FD18B43C}" srcOrd="0" destOrd="0" presId="urn:microsoft.com/office/officeart/2005/8/layout/process1"/>
    <dgm:cxn modelId="{5CC78B03-FFE8-4425-B89B-296BEC8F4D01}" srcId="{079FAE3C-BF08-425F-BECA-798B744C0D11}" destId="{4F971BCF-6BF9-4240-BD4F-DF7FC6ED3A3C}" srcOrd="2" destOrd="0" parTransId="{7FD38D87-98A3-4038-AAB3-ED60042E90AB}" sibTransId="{EAEAFAAC-29C2-4173-BB09-A9ACE02CAA4A}"/>
    <dgm:cxn modelId="{09675112-9356-460B-804C-288F82767D17}" type="presOf" srcId="{AD318CD4-0D24-4292-960A-331D4871A296}" destId="{92C6CB1E-8AB8-417B-99FC-BDB0633FF67D}" srcOrd="0" destOrd="2" presId="urn:microsoft.com/office/officeart/2005/8/layout/process1"/>
    <dgm:cxn modelId="{D59C6718-48B0-41EE-9EFB-8567CAE979BE}" srcId="{6F5E7D44-1557-4D24-B418-71C970AD6BEF}" destId="{CF4E7E4F-DF45-4333-BC11-CA48C662E33A}" srcOrd="0" destOrd="0" parTransId="{97FD80C0-EE24-4989-AC3B-3D2B9D1C6DD7}" sibTransId="{71FD74C0-1BD3-4910-A6E2-97861893B144}"/>
    <dgm:cxn modelId="{B4C7141B-03C3-4682-AAAA-19AF3DFF4B26}" srcId="{8D939E49-1DCF-4EA5-8FAD-4C10D1706BBA}" destId="{2216AD90-5177-4A66-AA84-50C8EE6450CC}" srcOrd="2" destOrd="0" parTransId="{C0D068F3-873E-438D-BE39-857CB6D7CFA2}" sibTransId="{3E3317EE-CB4F-4691-A6CF-4AF8A1FE22EE}"/>
    <dgm:cxn modelId="{11E3A61B-AE8E-4C19-AAC9-01FE8A90EDFA}" type="presOf" srcId="{2216AD90-5177-4A66-AA84-50C8EE6450CC}" destId="{35C9A030-F680-4047-A5AD-E01589EA65AB}" srcOrd="0" destOrd="3" presId="urn:microsoft.com/office/officeart/2005/8/layout/process1"/>
    <dgm:cxn modelId="{B41D552A-A7CD-48A2-B689-A82BDFD5B0FF}" srcId="{27C25BF8-704C-4EDD-AD83-35C8EFC3F1E2}" destId="{FC0F9AFE-2DC1-4CC8-B649-12982D951021}" srcOrd="0" destOrd="0" parTransId="{2FAC6633-295A-4515-96D7-FE1B808C1B63}" sibTransId="{9EDD29D1-B9DF-44B0-8902-9E49AD4AC93B}"/>
    <dgm:cxn modelId="{4F439F2B-75CB-4202-8A22-1B0240C3C487}" srcId="{8D939E49-1DCF-4EA5-8FAD-4C10D1706BBA}" destId="{DF33BD62-E60E-4B90-9780-200DB440587E}" srcOrd="3" destOrd="0" parTransId="{A04590DE-3551-4A80-8838-70BB6C8E8D47}" sibTransId="{BC754C14-2EAC-4662-9989-E7C5258071F1}"/>
    <dgm:cxn modelId="{A558902C-FACF-49D9-9753-2D0A7C7E17C0}" type="presOf" srcId="{27C25BF8-704C-4EDD-AD83-35C8EFC3F1E2}" destId="{35E22166-92D8-4563-AFE1-94814331420D}" srcOrd="0" destOrd="0" presId="urn:microsoft.com/office/officeart/2005/8/layout/process1"/>
    <dgm:cxn modelId="{F2982640-DDF6-43CD-A2E2-A039D5D679A3}" srcId="{33C774CC-5ABC-4DBC-AA95-95A8E9530D0F}" destId="{6F5E7D44-1557-4D24-B418-71C970AD6BEF}" srcOrd="0" destOrd="0" parTransId="{650FB0FD-2931-4FC3-85ED-4A827A98927E}" sibTransId="{E0E4E17F-FE6C-4091-ACB5-7F2D6C4BE1D7}"/>
    <dgm:cxn modelId="{A5B9CE40-2E0F-4395-BD03-19333B2C3538}" type="presOf" srcId="{FC0F9AFE-2DC1-4CC8-B649-12982D951021}" destId="{35E22166-92D8-4563-AFE1-94814331420D}" srcOrd="0" destOrd="1" presId="urn:microsoft.com/office/officeart/2005/8/layout/process1"/>
    <dgm:cxn modelId="{0223BD60-F4B7-4EA3-B04E-326134A32B4F}" type="presOf" srcId="{160C48D4-816C-4610-8145-C4A8BA1165ED}" destId="{92C6CB1E-8AB8-417B-99FC-BDB0633FF67D}" srcOrd="0" destOrd="1" presId="urn:microsoft.com/office/officeart/2005/8/layout/process1"/>
    <dgm:cxn modelId="{4FF1C943-C55F-43F4-9D3F-1F39432EC1EC}" srcId="{079FAE3C-BF08-425F-BECA-798B744C0D11}" destId="{160C48D4-816C-4610-8145-C4A8BA1165ED}" srcOrd="0" destOrd="0" parTransId="{A0A0FE57-917B-4AE5-9575-E039280D23BF}" sibTransId="{B6513777-C514-4AF8-B67C-3023EB0A6C28}"/>
    <dgm:cxn modelId="{BC0DF755-7F77-4A81-9B82-ADD54CB9E2E7}" type="presOf" srcId="{838D8691-B0A1-48CC-A58B-527833995C1E}" destId="{35C9A030-F680-4047-A5AD-E01589EA65AB}" srcOrd="0" destOrd="2" presId="urn:microsoft.com/office/officeart/2005/8/layout/process1"/>
    <dgm:cxn modelId="{94745B79-3BBD-4FB6-8AB2-DF52DE8C8B0E}" type="presOf" srcId="{E0E4E17F-FE6C-4091-ACB5-7F2D6C4BE1D7}" destId="{F8BF7B47-155E-4BC1-9AD2-5A3BBE6D98E3}" srcOrd="1" destOrd="0" presId="urn:microsoft.com/office/officeart/2005/8/layout/process1"/>
    <dgm:cxn modelId="{AA92E759-917C-42D7-8B00-3F890057F8DC}" type="presOf" srcId="{33C774CC-5ABC-4DBC-AA95-95A8E9530D0F}" destId="{98DF7536-9BEC-484E-820A-4149F93A37D7}" srcOrd="0" destOrd="0" presId="urn:microsoft.com/office/officeart/2005/8/layout/process1"/>
    <dgm:cxn modelId="{762BCF7E-9BA8-4864-997A-B572791B4B73}" srcId="{33C774CC-5ABC-4DBC-AA95-95A8E9530D0F}" destId="{CA85AEC3-64F6-4ABB-BAE0-5B3CFE072DA2}" srcOrd="4" destOrd="0" parTransId="{901EECF6-A23F-41F9-B435-5CAF35502B6B}" sibTransId="{0DBFFCDE-B8FF-4550-A083-C0374CF8F108}"/>
    <dgm:cxn modelId="{FC87F980-2044-453C-9D30-B1E693A75729}" type="presOf" srcId="{24A5978D-6909-40FE-907E-7396AD1AE1D2}" destId="{C5CD479F-24D8-4092-9152-A0E6EF993B70}" srcOrd="1" destOrd="0" presId="urn:microsoft.com/office/officeart/2005/8/layout/process1"/>
    <dgm:cxn modelId="{01EF8482-E188-4101-9624-DEB60ECB022A}" type="presOf" srcId="{079FAE3C-BF08-425F-BECA-798B744C0D11}" destId="{92C6CB1E-8AB8-417B-99FC-BDB0633FF67D}" srcOrd="0" destOrd="0" presId="urn:microsoft.com/office/officeart/2005/8/layout/process1"/>
    <dgm:cxn modelId="{1CD5D484-CC14-4B81-BA9F-BBC3BAA6A6D1}" type="presOf" srcId="{DF33BD62-E60E-4B90-9780-200DB440587E}" destId="{35C9A030-F680-4047-A5AD-E01589EA65AB}" srcOrd="0" destOrd="4" presId="urn:microsoft.com/office/officeart/2005/8/layout/process1"/>
    <dgm:cxn modelId="{B951F189-DCBE-4370-91A7-4D2985A5388C}" type="presOf" srcId="{8D939E49-1DCF-4EA5-8FAD-4C10D1706BBA}" destId="{35C9A030-F680-4047-A5AD-E01589EA65AB}" srcOrd="0" destOrd="0" presId="urn:microsoft.com/office/officeart/2005/8/layout/process1"/>
    <dgm:cxn modelId="{FF98CE97-4217-4FC3-9B86-5BBDA540C0A6}" type="presOf" srcId="{8B4A4F78-DE25-471A-8C80-F5931F735A9D}" destId="{7894FAD1-982C-4135-BFAC-AAC3B729DCE7}" srcOrd="0" destOrd="0" presId="urn:microsoft.com/office/officeart/2005/8/layout/process1"/>
    <dgm:cxn modelId="{6E8C0B99-21F6-469C-A307-83DD79A42450}" type="presOf" srcId="{3BD596F6-11EB-48AD-9E08-8787E5F683F7}" destId="{35C9A030-F680-4047-A5AD-E01589EA65AB}" srcOrd="0" destOrd="1" presId="urn:microsoft.com/office/officeart/2005/8/layout/process1"/>
    <dgm:cxn modelId="{B6895D99-57E2-4E90-96D1-6D8068EF1F00}" srcId="{33C774CC-5ABC-4DBC-AA95-95A8E9530D0F}" destId="{27C25BF8-704C-4EDD-AD83-35C8EFC3F1E2}" srcOrd="2" destOrd="0" parTransId="{B1030CD2-66E4-4418-B5D8-421063A87A63}" sibTransId="{24A5978D-6909-40FE-907E-7396AD1AE1D2}"/>
    <dgm:cxn modelId="{BF37E6A6-BF8A-4A85-8947-CA083D59FDA9}" srcId="{33C774CC-5ABC-4DBC-AA95-95A8E9530D0F}" destId="{8D939E49-1DCF-4EA5-8FAD-4C10D1706BBA}" srcOrd="3" destOrd="0" parTransId="{FBE8369D-0324-41FE-B007-2B20E3C80C06}" sibTransId="{8B4A4F78-DE25-471A-8C80-F5931F735A9D}"/>
    <dgm:cxn modelId="{C269F3A7-87C3-4D9A-876B-A752FFEC4C5E}" type="presOf" srcId="{E0E4E17F-FE6C-4091-ACB5-7F2D6C4BE1D7}" destId="{C8C2DF9B-2592-4876-8559-E8894F0B09C5}" srcOrd="0" destOrd="0" presId="urn:microsoft.com/office/officeart/2005/8/layout/process1"/>
    <dgm:cxn modelId="{CFE1F6AD-C461-422A-BF11-02DF52A75FFE}" type="presOf" srcId="{CA85AEC3-64F6-4ABB-BAE0-5B3CFE072DA2}" destId="{C16203E6-504B-4580-8F87-8CBB85053497}" srcOrd="0" destOrd="0" presId="urn:microsoft.com/office/officeart/2005/8/layout/process1"/>
    <dgm:cxn modelId="{4A5825BA-5664-4E5A-8EB9-F6C7A6474C13}" srcId="{079FAE3C-BF08-425F-BECA-798B744C0D11}" destId="{AD318CD4-0D24-4292-960A-331D4871A296}" srcOrd="1" destOrd="0" parTransId="{5DD6E0D8-1627-48EF-946B-F1C280CE00B7}" sibTransId="{DC3EF715-4F6E-4BEB-9B25-6555509B9B9C}"/>
    <dgm:cxn modelId="{D50FCABB-2625-4041-9D9B-C96FCFBFBACF}" type="presOf" srcId="{CF4E7E4F-DF45-4333-BC11-CA48C662E33A}" destId="{8B60FB5F-05B2-459A-9300-9D95BF839B98}" srcOrd="0" destOrd="1" presId="urn:microsoft.com/office/officeart/2005/8/layout/process1"/>
    <dgm:cxn modelId="{DA735BC0-76E0-474D-853A-9CAFEAD6275A}" srcId="{8D939E49-1DCF-4EA5-8FAD-4C10D1706BBA}" destId="{3BD596F6-11EB-48AD-9E08-8787E5F683F7}" srcOrd="0" destOrd="0" parTransId="{F721625A-BF04-47B9-8FE8-F6319B63F2E9}" sibTransId="{4D514DBE-7EA7-4E0C-82DB-BD5CE9853BC7}"/>
    <dgm:cxn modelId="{0CDCD4C6-BAB0-4DD0-8EE5-66CB0023FC20}" srcId="{8D939E49-1DCF-4EA5-8FAD-4C10D1706BBA}" destId="{838D8691-B0A1-48CC-A58B-527833995C1E}" srcOrd="1" destOrd="0" parTransId="{E668D923-6533-40AE-B563-8EEA0442ABDC}" sibTransId="{51F688DA-2903-4106-A015-85C94F7750C5}"/>
    <dgm:cxn modelId="{89E7EEC8-6D59-48DE-A3C0-9EED5C714490}" type="presOf" srcId="{24A5978D-6909-40FE-907E-7396AD1AE1D2}" destId="{97535247-3BF9-4E17-BDB4-1A03A64BCCF8}" srcOrd="0" destOrd="0" presId="urn:microsoft.com/office/officeart/2005/8/layout/process1"/>
    <dgm:cxn modelId="{904DE8D0-79AD-43AF-A308-6508A2974A9C}" srcId="{8D939E49-1DCF-4EA5-8FAD-4C10D1706BBA}" destId="{33DF35EA-74CE-420E-A3C4-4A84E45EB0E6}" srcOrd="4" destOrd="0" parTransId="{F42840B0-A56B-493D-81AD-25EC0BD148C5}" sibTransId="{A0523AAA-F6B8-4F7A-8F2E-687343386272}"/>
    <dgm:cxn modelId="{FDDE30D2-1DF6-4205-AD62-55C99DCBD6A7}" type="presOf" srcId="{6F5E7D44-1557-4D24-B418-71C970AD6BEF}" destId="{8B60FB5F-05B2-459A-9300-9D95BF839B98}" srcOrd="0" destOrd="0" presId="urn:microsoft.com/office/officeart/2005/8/layout/process1"/>
    <dgm:cxn modelId="{B42B22D3-A5F4-462F-8295-0AFA45E9B3DF}" srcId="{33C774CC-5ABC-4DBC-AA95-95A8E9530D0F}" destId="{079FAE3C-BF08-425F-BECA-798B744C0D11}" srcOrd="1" destOrd="0" parTransId="{A29D9133-0987-4FED-9312-D210C92FC2FD}" sibTransId="{4E8D1881-922E-437F-B010-AA1E6A222DFE}"/>
    <dgm:cxn modelId="{2DA59ED4-2DF4-407D-8000-A9FAE5F4F08C}" type="presOf" srcId="{8B4A4F78-DE25-471A-8C80-F5931F735A9D}" destId="{3CBF0380-0755-479F-9DFB-25A252235DAE}" srcOrd="1" destOrd="0" presId="urn:microsoft.com/office/officeart/2005/8/layout/process1"/>
    <dgm:cxn modelId="{CFBA6FDE-69FA-45AD-8199-996CE0013D1F}" type="presOf" srcId="{4F971BCF-6BF9-4240-BD4F-DF7FC6ED3A3C}" destId="{92C6CB1E-8AB8-417B-99FC-BDB0633FF67D}" srcOrd="0" destOrd="3" presId="urn:microsoft.com/office/officeart/2005/8/layout/process1"/>
    <dgm:cxn modelId="{D5D47EDE-44E1-49D9-A863-989628FB031C}" type="presOf" srcId="{4E8D1881-922E-437F-B010-AA1E6A222DFE}" destId="{8F0A802E-4130-4BA7-B156-F1D61C2ED953}" srcOrd="1" destOrd="0" presId="urn:microsoft.com/office/officeart/2005/8/layout/process1"/>
    <dgm:cxn modelId="{19E925F6-9A1A-41F1-8DC2-6691BB49B535}" type="presOf" srcId="{33DF35EA-74CE-420E-A3C4-4A84E45EB0E6}" destId="{35C9A030-F680-4047-A5AD-E01589EA65AB}" srcOrd="0" destOrd="5" presId="urn:microsoft.com/office/officeart/2005/8/layout/process1"/>
    <dgm:cxn modelId="{C583BF58-51AF-40AA-B853-47C55EF7A119}" type="presParOf" srcId="{98DF7536-9BEC-484E-820A-4149F93A37D7}" destId="{8B60FB5F-05B2-459A-9300-9D95BF839B98}" srcOrd="0" destOrd="0" presId="urn:microsoft.com/office/officeart/2005/8/layout/process1"/>
    <dgm:cxn modelId="{0516B65B-0382-4155-9E38-EFAA6FB25B31}" type="presParOf" srcId="{98DF7536-9BEC-484E-820A-4149F93A37D7}" destId="{C8C2DF9B-2592-4876-8559-E8894F0B09C5}" srcOrd="1" destOrd="0" presId="urn:microsoft.com/office/officeart/2005/8/layout/process1"/>
    <dgm:cxn modelId="{EE5D305E-2F30-499A-9E9F-6BA269C18416}" type="presParOf" srcId="{C8C2DF9B-2592-4876-8559-E8894F0B09C5}" destId="{F8BF7B47-155E-4BC1-9AD2-5A3BBE6D98E3}" srcOrd="0" destOrd="0" presId="urn:microsoft.com/office/officeart/2005/8/layout/process1"/>
    <dgm:cxn modelId="{01B04BD6-9FF4-4B77-9A68-DBC24DC42617}" type="presParOf" srcId="{98DF7536-9BEC-484E-820A-4149F93A37D7}" destId="{92C6CB1E-8AB8-417B-99FC-BDB0633FF67D}" srcOrd="2" destOrd="0" presId="urn:microsoft.com/office/officeart/2005/8/layout/process1"/>
    <dgm:cxn modelId="{BD52DE2B-9F45-47C3-A126-C824B7A19F7E}" type="presParOf" srcId="{98DF7536-9BEC-484E-820A-4149F93A37D7}" destId="{5ACAF45A-2293-4DEB-A521-8230FD18B43C}" srcOrd="3" destOrd="0" presId="urn:microsoft.com/office/officeart/2005/8/layout/process1"/>
    <dgm:cxn modelId="{4691C764-424C-40B0-9CDE-2C16967AD7CA}" type="presParOf" srcId="{5ACAF45A-2293-4DEB-A521-8230FD18B43C}" destId="{8F0A802E-4130-4BA7-B156-F1D61C2ED953}" srcOrd="0" destOrd="0" presId="urn:microsoft.com/office/officeart/2005/8/layout/process1"/>
    <dgm:cxn modelId="{ABEB5E6E-F9F3-4DD6-B500-A0D880B792E9}" type="presParOf" srcId="{98DF7536-9BEC-484E-820A-4149F93A37D7}" destId="{35E22166-92D8-4563-AFE1-94814331420D}" srcOrd="4" destOrd="0" presId="urn:microsoft.com/office/officeart/2005/8/layout/process1"/>
    <dgm:cxn modelId="{AAF95C71-3E7B-481D-A4B2-EDC7B5EF5FAB}" type="presParOf" srcId="{98DF7536-9BEC-484E-820A-4149F93A37D7}" destId="{97535247-3BF9-4E17-BDB4-1A03A64BCCF8}" srcOrd="5" destOrd="0" presId="urn:microsoft.com/office/officeart/2005/8/layout/process1"/>
    <dgm:cxn modelId="{A305DDF4-8941-4E34-B3A1-F5DD91EDB20D}" type="presParOf" srcId="{97535247-3BF9-4E17-BDB4-1A03A64BCCF8}" destId="{C5CD479F-24D8-4092-9152-A0E6EF993B70}" srcOrd="0" destOrd="0" presId="urn:microsoft.com/office/officeart/2005/8/layout/process1"/>
    <dgm:cxn modelId="{AB1541F0-6C65-40DC-ADE6-4A9D050F4D36}" type="presParOf" srcId="{98DF7536-9BEC-484E-820A-4149F93A37D7}" destId="{35C9A030-F680-4047-A5AD-E01589EA65AB}" srcOrd="6" destOrd="0" presId="urn:microsoft.com/office/officeart/2005/8/layout/process1"/>
    <dgm:cxn modelId="{C8C17E8A-0C0C-4510-B682-3310517EF4B7}" type="presParOf" srcId="{98DF7536-9BEC-484E-820A-4149F93A37D7}" destId="{7894FAD1-982C-4135-BFAC-AAC3B729DCE7}" srcOrd="7" destOrd="0" presId="urn:microsoft.com/office/officeart/2005/8/layout/process1"/>
    <dgm:cxn modelId="{73DFF4FC-95C2-43D3-8745-9BFEBB38CCE3}" type="presParOf" srcId="{7894FAD1-982C-4135-BFAC-AAC3B729DCE7}" destId="{3CBF0380-0755-479F-9DFB-25A252235DAE}" srcOrd="0" destOrd="0" presId="urn:microsoft.com/office/officeart/2005/8/layout/process1"/>
    <dgm:cxn modelId="{3752DA32-C642-4992-8EF6-91733CB8E3EF}" type="presParOf" srcId="{98DF7536-9BEC-484E-820A-4149F93A37D7}" destId="{C16203E6-504B-4580-8F87-8CBB85053497}" srcOrd="8" destOrd="0" presId="urn:microsoft.com/office/officeart/2005/8/layout/process1"/>
  </dgm:cxnLst>
  <dgm:bg/>
  <dgm:whole/>
  <dgm:extLst>
    <a:ext uri="http://schemas.microsoft.com/office/drawing/2008/diagram">
      <dsp:dataModelExt xmlns:dsp="http://schemas.microsoft.com/office/drawing/2008/diagram" relId="rId7" minVer="http://schemas.openxmlformats.org/drawingml/2006/diagram"/>
    </a:ext>
  </dgm:extLst>
</dgm:dataModel>
</file>

<file path=ppt/diagrams/drawing1.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8B60FB5F-05B2-459A-9300-9D95BF839B98}">
      <dsp:nvSpPr>
        <dsp:cNvPr id="0" name=""/>
        <dsp:cNvSpPr/>
      </dsp:nvSpPr>
      <dsp:spPr>
        <a:xfrm>
          <a:off x="2339" y="787830"/>
          <a:ext cx="1719813" cy="2216947"/>
        </a:xfrm>
        <a:prstGeom prst="roundRect">
          <a:avLst>
            <a:gd name="adj" fmla="val 10000"/>
          </a:avLst>
        </a:prstGeom>
        <a:solidFill>
          <a:schemeClr val="accent1">
            <a:hueOff val="0"/>
            <a:satOff val="0"/>
            <a:lumOff val="0"/>
            <a:alphaOff val="0"/>
          </a:schemeClr>
        </a:solidFill>
        <a:ln w="15875"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60960" tIns="60960" rIns="60960" bIns="60960" numCol="1" spcCol="1270" anchor="t" anchorCtr="0">
          <a:noAutofit/>
        </a:bodyPr>
        <a:lstStyle/>
        <a:p>
          <a:pPr marL="0" lvl="0" indent="0" algn="l" defTabSz="711200">
            <a:lnSpc>
              <a:spcPct val="90000"/>
            </a:lnSpc>
            <a:spcBef>
              <a:spcPct val="0"/>
            </a:spcBef>
            <a:spcAft>
              <a:spcPct val="35000"/>
            </a:spcAft>
            <a:buNone/>
          </a:pPr>
          <a:r>
            <a:rPr lang="en-SG" sz="1600" kern="1200" dirty="0"/>
            <a:t>Data Sources (Unstructured — Singapore Budgets)</a:t>
          </a:r>
        </a:p>
        <a:p>
          <a:pPr marL="114300" lvl="1" indent="-114300" algn="l" defTabSz="533400">
            <a:lnSpc>
              <a:spcPct val="90000"/>
            </a:lnSpc>
            <a:spcBef>
              <a:spcPct val="0"/>
            </a:spcBef>
            <a:spcAft>
              <a:spcPct val="15000"/>
            </a:spcAft>
            <a:buChar char="•"/>
          </a:pPr>
          <a:r>
            <a:rPr lang="en-SG" sz="1200" kern="1200" dirty="0"/>
            <a:t>10 years Budget Statements, Round-Up Speeches – FY2016 - FY2025</a:t>
          </a:r>
        </a:p>
      </dsp:txBody>
      <dsp:txXfrm>
        <a:off x="52711" y="838202"/>
        <a:ext cx="1619069" cy="2116203"/>
      </dsp:txXfrm>
    </dsp:sp>
    <dsp:sp modelId="{C8C2DF9B-2592-4876-8559-E8894F0B09C5}">
      <dsp:nvSpPr>
        <dsp:cNvPr id="0" name=""/>
        <dsp:cNvSpPr/>
      </dsp:nvSpPr>
      <dsp:spPr>
        <a:xfrm>
          <a:off x="1894134" y="1683047"/>
          <a:ext cx="364600" cy="426513"/>
        </a:xfrm>
        <a:prstGeom prst="rightArrow">
          <a:avLst>
            <a:gd name="adj1" fmla="val 60000"/>
            <a:gd name="adj2" fmla="val 50000"/>
          </a:avLst>
        </a:prstGeom>
        <a:solidFill>
          <a:schemeClr val="accent1">
            <a:tint val="60000"/>
            <a:hueOff val="0"/>
            <a:satOff val="0"/>
            <a:lumOff val="0"/>
            <a:alphaOff val="0"/>
          </a:schemeClr>
        </a:solidFill>
        <a:ln>
          <a:noFill/>
        </a:ln>
        <a:effectLst/>
      </dsp:spPr>
      <dsp:style>
        <a:lnRef idx="0">
          <a:scrgbClr r="0" g="0" b="0"/>
        </a:lnRef>
        <a:fillRef idx="1">
          <a:scrgbClr r="0" g="0" b="0"/>
        </a:fillRef>
        <a:effectRef idx="0">
          <a:scrgbClr r="0" g="0" b="0"/>
        </a:effectRef>
        <a:fontRef idx="minor">
          <a:schemeClr val="lt1"/>
        </a:fontRef>
      </dsp:style>
      <dsp:txBody>
        <a:bodyPr spcFirstLastPara="0" vert="horz" wrap="square" lIns="0" tIns="0" rIns="0" bIns="0" numCol="1" spcCol="1270" anchor="ctr" anchorCtr="0">
          <a:noAutofit/>
        </a:bodyPr>
        <a:lstStyle/>
        <a:p>
          <a:pPr marL="0" lvl="0" indent="0" algn="ctr" defTabSz="844550">
            <a:lnSpc>
              <a:spcPct val="90000"/>
            </a:lnSpc>
            <a:spcBef>
              <a:spcPct val="0"/>
            </a:spcBef>
            <a:spcAft>
              <a:spcPct val="35000"/>
            </a:spcAft>
            <a:buNone/>
          </a:pPr>
          <a:endParaRPr lang="en-SG" sz="1900" kern="1200" dirty="0"/>
        </a:p>
      </dsp:txBody>
      <dsp:txXfrm>
        <a:off x="1894134" y="1768350"/>
        <a:ext cx="255220" cy="255907"/>
      </dsp:txXfrm>
    </dsp:sp>
    <dsp:sp modelId="{92C6CB1E-8AB8-417B-99FC-BDB0633FF67D}">
      <dsp:nvSpPr>
        <dsp:cNvPr id="0" name=""/>
        <dsp:cNvSpPr/>
      </dsp:nvSpPr>
      <dsp:spPr>
        <a:xfrm>
          <a:off x="2410078" y="787830"/>
          <a:ext cx="1719813" cy="2216947"/>
        </a:xfrm>
        <a:prstGeom prst="roundRect">
          <a:avLst>
            <a:gd name="adj" fmla="val 10000"/>
          </a:avLst>
        </a:prstGeom>
        <a:solidFill>
          <a:schemeClr val="accent1">
            <a:hueOff val="0"/>
            <a:satOff val="0"/>
            <a:lumOff val="0"/>
            <a:alphaOff val="0"/>
          </a:schemeClr>
        </a:solidFill>
        <a:ln w="15875"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60960" tIns="60960" rIns="60960" bIns="60960" numCol="1" spcCol="1270" anchor="t" anchorCtr="0">
          <a:noAutofit/>
        </a:bodyPr>
        <a:lstStyle/>
        <a:p>
          <a:pPr marL="0" lvl="0" indent="0" algn="l" defTabSz="711200">
            <a:lnSpc>
              <a:spcPct val="90000"/>
            </a:lnSpc>
            <a:spcBef>
              <a:spcPct val="0"/>
            </a:spcBef>
            <a:spcAft>
              <a:spcPct val="35000"/>
            </a:spcAft>
            <a:buNone/>
          </a:pPr>
          <a:r>
            <a:rPr lang="en-SG" sz="1600" kern="1200" dirty="0"/>
            <a:t>Ingestion &amp; Preprocessing</a:t>
          </a:r>
        </a:p>
        <a:p>
          <a:pPr marL="114300" lvl="1" indent="-114300" algn="l" defTabSz="533400">
            <a:lnSpc>
              <a:spcPct val="90000"/>
            </a:lnSpc>
            <a:spcBef>
              <a:spcPct val="0"/>
            </a:spcBef>
            <a:spcAft>
              <a:spcPct val="15000"/>
            </a:spcAft>
            <a:buChar char="•"/>
          </a:pPr>
          <a:r>
            <a:rPr lang="en-SG" sz="1200" kern="1200" dirty="0"/>
            <a:t>Tag sources by Financial Year,  Type (Budget Statement / Round-Up Speech)</a:t>
          </a:r>
        </a:p>
        <a:p>
          <a:pPr marL="114300" lvl="1" indent="-114300" algn="l" defTabSz="533400">
            <a:lnSpc>
              <a:spcPct val="90000"/>
            </a:lnSpc>
            <a:spcBef>
              <a:spcPct val="0"/>
            </a:spcBef>
            <a:spcAft>
              <a:spcPct val="15000"/>
            </a:spcAft>
            <a:buChar char="•"/>
          </a:pPr>
          <a:r>
            <a:rPr lang="en-SG" sz="1200" kern="1200" dirty="0"/>
            <a:t>Overlapping chunking</a:t>
          </a:r>
        </a:p>
        <a:p>
          <a:pPr marL="114300" lvl="1" indent="-114300" algn="l" defTabSz="533400">
            <a:lnSpc>
              <a:spcPct val="90000"/>
            </a:lnSpc>
            <a:spcBef>
              <a:spcPct val="0"/>
            </a:spcBef>
            <a:spcAft>
              <a:spcPct val="15000"/>
            </a:spcAft>
            <a:buChar char="•"/>
          </a:pPr>
          <a:r>
            <a:rPr lang="en-SG" sz="1200" kern="1200" dirty="0"/>
            <a:t>Dense semantic embedding + Sparse lexical retrieval (BM25-style)</a:t>
          </a:r>
        </a:p>
      </dsp:txBody>
      <dsp:txXfrm>
        <a:off x="2460450" y="838202"/>
        <a:ext cx="1619069" cy="2116203"/>
      </dsp:txXfrm>
    </dsp:sp>
    <dsp:sp modelId="{5ACAF45A-2293-4DEB-A521-8230FD18B43C}">
      <dsp:nvSpPr>
        <dsp:cNvPr id="0" name=""/>
        <dsp:cNvSpPr/>
      </dsp:nvSpPr>
      <dsp:spPr>
        <a:xfrm>
          <a:off x="4301873" y="1683047"/>
          <a:ext cx="364600" cy="426513"/>
        </a:xfrm>
        <a:prstGeom prst="rightArrow">
          <a:avLst>
            <a:gd name="adj1" fmla="val 60000"/>
            <a:gd name="adj2" fmla="val 50000"/>
          </a:avLst>
        </a:prstGeom>
        <a:solidFill>
          <a:schemeClr val="accent1">
            <a:tint val="60000"/>
            <a:hueOff val="0"/>
            <a:satOff val="0"/>
            <a:lumOff val="0"/>
            <a:alphaOff val="0"/>
          </a:schemeClr>
        </a:solidFill>
        <a:ln>
          <a:noFill/>
        </a:ln>
        <a:effectLst/>
      </dsp:spPr>
      <dsp:style>
        <a:lnRef idx="0">
          <a:scrgbClr r="0" g="0" b="0"/>
        </a:lnRef>
        <a:fillRef idx="1">
          <a:scrgbClr r="0" g="0" b="0"/>
        </a:fillRef>
        <a:effectRef idx="0">
          <a:scrgbClr r="0" g="0" b="0"/>
        </a:effectRef>
        <a:fontRef idx="minor">
          <a:schemeClr val="lt1"/>
        </a:fontRef>
      </dsp:style>
      <dsp:txBody>
        <a:bodyPr spcFirstLastPara="0" vert="horz" wrap="square" lIns="0" tIns="0" rIns="0" bIns="0" numCol="1" spcCol="1270" anchor="ctr" anchorCtr="0">
          <a:noAutofit/>
        </a:bodyPr>
        <a:lstStyle/>
        <a:p>
          <a:pPr marL="0" lvl="0" indent="0" algn="ctr" defTabSz="844550">
            <a:lnSpc>
              <a:spcPct val="90000"/>
            </a:lnSpc>
            <a:spcBef>
              <a:spcPct val="0"/>
            </a:spcBef>
            <a:spcAft>
              <a:spcPct val="35000"/>
            </a:spcAft>
            <a:buNone/>
          </a:pPr>
          <a:endParaRPr lang="en-SG" sz="1900" kern="1200" dirty="0"/>
        </a:p>
      </dsp:txBody>
      <dsp:txXfrm>
        <a:off x="4301873" y="1768350"/>
        <a:ext cx="255220" cy="255907"/>
      </dsp:txXfrm>
    </dsp:sp>
    <dsp:sp modelId="{35E22166-92D8-4563-AFE1-94814331420D}">
      <dsp:nvSpPr>
        <dsp:cNvPr id="0" name=""/>
        <dsp:cNvSpPr/>
      </dsp:nvSpPr>
      <dsp:spPr>
        <a:xfrm>
          <a:off x="4817817" y="787830"/>
          <a:ext cx="1719813" cy="2216947"/>
        </a:xfrm>
        <a:prstGeom prst="roundRect">
          <a:avLst>
            <a:gd name="adj" fmla="val 10000"/>
          </a:avLst>
        </a:prstGeom>
        <a:solidFill>
          <a:schemeClr val="accent1">
            <a:hueOff val="0"/>
            <a:satOff val="0"/>
            <a:lumOff val="0"/>
            <a:alphaOff val="0"/>
          </a:schemeClr>
        </a:solidFill>
        <a:ln w="15875"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60960" tIns="60960" rIns="60960" bIns="60960" numCol="1" spcCol="1270" anchor="t" anchorCtr="0">
          <a:noAutofit/>
        </a:bodyPr>
        <a:lstStyle/>
        <a:p>
          <a:pPr marL="0" lvl="0" indent="0" algn="l" defTabSz="711200">
            <a:lnSpc>
              <a:spcPct val="90000"/>
            </a:lnSpc>
            <a:spcBef>
              <a:spcPct val="0"/>
            </a:spcBef>
            <a:spcAft>
              <a:spcPct val="35000"/>
            </a:spcAft>
            <a:buNone/>
          </a:pPr>
          <a:r>
            <a:rPr lang="en-SG" sz="1600" kern="1200" dirty="0"/>
            <a:t>Knowledge Stores</a:t>
          </a:r>
        </a:p>
        <a:p>
          <a:pPr marL="114300" lvl="1" indent="-114300" algn="l" defTabSz="533400">
            <a:lnSpc>
              <a:spcPct val="90000"/>
            </a:lnSpc>
            <a:spcBef>
              <a:spcPct val="0"/>
            </a:spcBef>
            <a:spcAft>
              <a:spcPct val="15000"/>
            </a:spcAft>
            <a:buFont typeface="Arial" panose="020B0604020202020204" pitchFamily="34" charset="0"/>
            <a:buChar char="•"/>
          </a:pPr>
          <a:r>
            <a:rPr lang="en-SG" sz="1200" kern="1200" dirty="0"/>
            <a:t>Vector DB</a:t>
          </a:r>
        </a:p>
      </dsp:txBody>
      <dsp:txXfrm>
        <a:off x="4868189" y="838202"/>
        <a:ext cx="1619069" cy="2116203"/>
      </dsp:txXfrm>
    </dsp:sp>
    <dsp:sp modelId="{97535247-3BF9-4E17-BDB4-1A03A64BCCF8}">
      <dsp:nvSpPr>
        <dsp:cNvPr id="0" name=""/>
        <dsp:cNvSpPr/>
      </dsp:nvSpPr>
      <dsp:spPr>
        <a:xfrm rot="21593065">
          <a:off x="6718608" y="1680561"/>
          <a:ext cx="383673" cy="426513"/>
        </a:xfrm>
        <a:prstGeom prst="rightArrow">
          <a:avLst>
            <a:gd name="adj1" fmla="val 60000"/>
            <a:gd name="adj2" fmla="val 50000"/>
          </a:avLst>
        </a:prstGeom>
        <a:solidFill>
          <a:schemeClr val="accent1">
            <a:tint val="60000"/>
            <a:hueOff val="0"/>
            <a:satOff val="0"/>
            <a:lumOff val="0"/>
            <a:alphaOff val="0"/>
          </a:schemeClr>
        </a:solidFill>
        <a:ln>
          <a:noFill/>
        </a:ln>
        <a:effectLst/>
      </dsp:spPr>
      <dsp:style>
        <a:lnRef idx="0">
          <a:scrgbClr r="0" g="0" b="0"/>
        </a:lnRef>
        <a:fillRef idx="1">
          <a:scrgbClr r="0" g="0" b="0"/>
        </a:fillRef>
        <a:effectRef idx="0">
          <a:scrgbClr r="0" g="0" b="0"/>
        </a:effectRef>
        <a:fontRef idx="minor">
          <a:schemeClr val="lt1"/>
        </a:fontRef>
      </dsp:style>
      <dsp:txBody>
        <a:bodyPr spcFirstLastPara="0" vert="horz" wrap="square" lIns="0" tIns="0" rIns="0" bIns="0" numCol="1" spcCol="1270" anchor="ctr" anchorCtr="0">
          <a:noAutofit/>
        </a:bodyPr>
        <a:lstStyle/>
        <a:p>
          <a:pPr marL="0" lvl="0" indent="0" algn="ctr" defTabSz="844550">
            <a:lnSpc>
              <a:spcPct val="90000"/>
            </a:lnSpc>
            <a:spcBef>
              <a:spcPct val="0"/>
            </a:spcBef>
            <a:spcAft>
              <a:spcPct val="35000"/>
            </a:spcAft>
            <a:buNone/>
          </a:pPr>
          <a:endParaRPr lang="en-SG" sz="1900" kern="1200" dirty="0"/>
        </a:p>
      </dsp:txBody>
      <dsp:txXfrm>
        <a:off x="6718608" y="1765980"/>
        <a:ext cx="268571" cy="255907"/>
      </dsp:txXfrm>
    </dsp:sp>
    <dsp:sp modelId="{35C9A030-F680-4047-A5AD-E01589EA65AB}">
      <dsp:nvSpPr>
        <dsp:cNvPr id="0" name=""/>
        <dsp:cNvSpPr/>
      </dsp:nvSpPr>
      <dsp:spPr>
        <a:xfrm>
          <a:off x="7261541" y="782953"/>
          <a:ext cx="1800008" cy="2216681"/>
        </a:xfrm>
        <a:prstGeom prst="roundRect">
          <a:avLst>
            <a:gd name="adj" fmla="val 10000"/>
          </a:avLst>
        </a:prstGeom>
        <a:solidFill>
          <a:schemeClr val="accent1">
            <a:hueOff val="0"/>
            <a:satOff val="0"/>
            <a:lumOff val="0"/>
            <a:alphaOff val="0"/>
          </a:schemeClr>
        </a:solidFill>
        <a:ln w="15875"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60960" tIns="60960" rIns="60960" bIns="60960" numCol="1" spcCol="1270" anchor="t" anchorCtr="0">
          <a:noAutofit/>
        </a:bodyPr>
        <a:lstStyle/>
        <a:p>
          <a:pPr marL="0" lvl="0" indent="0" algn="l" defTabSz="711200">
            <a:lnSpc>
              <a:spcPct val="90000"/>
            </a:lnSpc>
            <a:spcBef>
              <a:spcPct val="0"/>
            </a:spcBef>
            <a:spcAft>
              <a:spcPct val="35000"/>
            </a:spcAft>
            <a:buNone/>
          </a:pPr>
          <a:r>
            <a:rPr lang="en-SG" sz="1600" kern="1200" dirty="0"/>
            <a:t>RAG &amp; Agentic AI Orchestration</a:t>
          </a:r>
        </a:p>
        <a:p>
          <a:pPr marL="114300" lvl="1" indent="-114300" algn="l" defTabSz="533400">
            <a:lnSpc>
              <a:spcPct val="90000"/>
            </a:lnSpc>
            <a:spcBef>
              <a:spcPct val="0"/>
            </a:spcBef>
            <a:spcAft>
              <a:spcPct val="15000"/>
            </a:spcAft>
            <a:buFont typeface="Arial" panose="020B0604020202020204" pitchFamily="34" charset="0"/>
            <a:buChar char="•"/>
          </a:pPr>
          <a:r>
            <a:rPr lang="en-SG" sz="1200" kern="1200" dirty="0"/>
            <a:t>With re-ranking retrieval (cross-encoder transformers, non-LLM)</a:t>
          </a:r>
          <a:endParaRPr lang="en-SG" sz="1200" b="1" kern="1200" dirty="0"/>
        </a:p>
        <a:p>
          <a:pPr marL="114300" lvl="1" indent="-114300" algn="l" defTabSz="533400">
            <a:lnSpc>
              <a:spcPct val="90000"/>
            </a:lnSpc>
            <a:spcBef>
              <a:spcPct val="0"/>
            </a:spcBef>
            <a:spcAft>
              <a:spcPct val="15000"/>
            </a:spcAft>
            <a:buChar char="•"/>
          </a:pPr>
          <a:r>
            <a:rPr lang="en-SG" sz="1200" b="0" i="0" kern="1200" dirty="0"/>
            <a:t>Evaluation (QA)</a:t>
          </a:r>
          <a:endParaRPr lang="en-SG" sz="1200" b="1" kern="1200" dirty="0"/>
        </a:p>
        <a:p>
          <a:pPr marL="114300" lvl="1" indent="-114300" algn="l" defTabSz="533400">
            <a:lnSpc>
              <a:spcPct val="90000"/>
            </a:lnSpc>
            <a:spcBef>
              <a:spcPct val="0"/>
            </a:spcBef>
            <a:spcAft>
              <a:spcPct val="15000"/>
            </a:spcAft>
            <a:buChar char="•"/>
          </a:pPr>
          <a:r>
            <a:rPr lang="en-SG" sz="1200" b="0" i="0" kern="1200" dirty="0"/>
            <a:t>AI Safety Guardrails</a:t>
          </a:r>
          <a:endParaRPr lang="en-SG" sz="1200" b="1" kern="1200" dirty="0"/>
        </a:p>
        <a:p>
          <a:pPr marL="114300" lvl="1" indent="-114300" algn="l" defTabSz="533400">
            <a:lnSpc>
              <a:spcPct val="90000"/>
            </a:lnSpc>
            <a:spcBef>
              <a:spcPct val="0"/>
            </a:spcBef>
            <a:spcAft>
              <a:spcPct val="15000"/>
            </a:spcAft>
            <a:buChar char="•"/>
          </a:pPr>
          <a:r>
            <a:rPr lang="en-SG" sz="1200" b="0" i="0" kern="1200" dirty="0"/>
            <a:t>MCP Tooling</a:t>
          </a:r>
          <a:endParaRPr lang="en-SG" sz="1200" b="1" kern="1200" dirty="0"/>
        </a:p>
        <a:p>
          <a:pPr marL="114300" lvl="1" indent="-114300" algn="l" defTabSz="533400">
            <a:lnSpc>
              <a:spcPct val="90000"/>
            </a:lnSpc>
            <a:spcBef>
              <a:spcPct val="0"/>
            </a:spcBef>
            <a:spcAft>
              <a:spcPct val="15000"/>
            </a:spcAft>
            <a:buChar char="•"/>
          </a:pPr>
          <a:endParaRPr lang="en-SG" sz="1200" b="1" kern="1200" dirty="0"/>
        </a:p>
      </dsp:txBody>
      <dsp:txXfrm>
        <a:off x="7314261" y="835673"/>
        <a:ext cx="1694568" cy="2111241"/>
      </dsp:txXfrm>
    </dsp:sp>
    <dsp:sp modelId="{7894FAD1-982C-4135-BFAC-AAC3B729DCE7}">
      <dsp:nvSpPr>
        <dsp:cNvPr id="0" name=""/>
        <dsp:cNvSpPr/>
      </dsp:nvSpPr>
      <dsp:spPr>
        <a:xfrm rot="7141">
          <a:off x="9224534" y="1680604"/>
          <a:ext cx="345528" cy="426513"/>
        </a:xfrm>
        <a:prstGeom prst="rightArrow">
          <a:avLst>
            <a:gd name="adj1" fmla="val 60000"/>
            <a:gd name="adj2" fmla="val 50000"/>
          </a:avLst>
        </a:prstGeom>
        <a:solidFill>
          <a:schemeClr val="accent1">
            <a:tint val="60000"/>
            <a:hueOff val="0"/>
            <a:satOff val="0"/>
            <a:lumOff val="0"/>
            <a:alphaOff val="0"/>
          </a:schemeClr>
        </a:solidFill>
        <a:ln>
          <a:noFill/>
        </a:ln>
        <a:effectLst/>
      </dsp:spPr>
      <dsp:style>
        <a:lnRef idx="0">
          <a:scrgbClr r="0" g="0" b="0"/>
        </a:lnRef>
        <a:fillRef idx="1">
          <a:scrgbClr r="0" g="0" b="0"/>
        </a:fillRef>
        <a:effectRef idx="0">
          <a:scrgbClr r="0" g="0" b="0"/>
        </a:effectRef>
        <a:fontRef idx="minor">
          <a:schemeClr val="lt1"/>
        </a:fontRef>
      </dsp:style>
      <dsp:txBody>
        <a:bodyPr spcFirstLastPara="0" vert="horz" wrap="square" lIns="0" tIns="0" rIns="0" bIns="0" numCol="1" spcCol="1270" anchor="ctr" anchorCtr="0">
          <a:noAutofit/>
        </a:bodyPr>
        <a:lstStyle/>
        <a:p>
          <a:pPr marL="0" lvl="0" indent="0" algn="ctr" defTabSz="844550">
            <a:lnSpc>
              <a:spcPct val="90000"/>
            </a:lnSpc>
            <a:spcBef>
              <a:spcPct val="0"/>
            </a:spcBef>
            <a:spcAft>
              <a:spcPct val="35000"/>
            </a:spcAft>
            <a:buNone/>
          </a:pPr>
          <a:endParaRPr lang="en-SG" sz="1900" kern="1200" dirty="0"/>
        </a:p>
      </dsp:txBody>
      <dsp:txXfrm>
        <a:off x="9224534" y="1765799"/>
        <a:ext cx="241870" cy="255907"/>
      </dsp:txXfrm>
    </dsp:sp>
    <dsp:sp modelId="{C16203E6-504B-4580-8F87-8CBB85053497}">
      <dsp:nvSpPr>
        <dsp:cNvPr id="0" name=""/>
        <dsp:cNvSpPr/>
      </dsp:nvSpPr>
      <dsp:spPr>
        <a:xfrm>
          <a:off x="9713489" y="787830"/>
          <a:ext cx="1719813" cy="2216947"/>
        </a:xfrm>
        <a:prstGeom prst="roundRect">
          <a:avLst>
            <a:gd name="adj" fmla="val 10000"/>
          </a:avLst>
        </a:prstGeom>
        <a:solidFill>
          <a:schemeClr val="accent1">
            <a:hueOff val="0"/>
            <a:satOff val="0"/>
            <a:lumOff val="0"/>
            <a:alphaOff val="0"/>
          </a:schemeClr>
        </a:solidFill>
        <a:ln w="15875"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60960" tIns="60960" rIns="60960" bIns="60960" numCol="1" spcCol="1270" anchor="ctr" anchorCtr="0">
          <a:noAutofit/>
        </a:bodyPr>
        <a:lstStyle/>
        <a:p>
          <a:pPr marL="0" lvl="0" indent="0" algn="ctr" defTabSz="711200">
            <a:lnSpc>
              <a:spcPct val="90000"/>
            </a:lnSpc>
            <a:spcBef>
              <a:spcPct val="0"/>
            </a:spcBef>
            <a:spcAft>
              <a:spcPct val="35000"/>
            </a:spcAft>
            <a:buNone/>
          </a:pPr>
          <a:r>
            <a:rPr lang="en-SG" sz="1600" kern="1200" dirty="0"/>
            <a:t>Response</a:t>
          </a:r>
        </a:p>
      </dsp:txBody>
      <dsp:txXfrm>
        <a:off x="9763861" y="838202"/>
        <a:ext cx="1619069" cy="2116203"/>
      </dsp:txXfrm>
    </dsp:sp>
  </dsp:spTree>
</dsp:drawing>
</file>

<file path=ppt/diagrams/layout1.xml><?xml version="1.0" encoding="utf-8"?>
<dgm:layoutDef xmlns:dgm="http://schemas.openxmlformats.org/drawingml/2006/diagram" xmlns:a="http://schemas.openxmlformats.org/drawingml/2006/main" uniqueId="urn:microsoft.com/office/officeart/2005/8/layout/process1">
  <dgm:title val=""/>
  <dgm:desc val=""/>
  <dgm:catLst>
    <dgm:cat type="process" pri="1000"/>
    <dgm:cat type="convert" pri="15000"/>
  </dgm:catLst>
  <dgm:sampData useDef="1">
    <dgm:dataModel>
      <dgm:ptLst/>
      <dgm:bg/>
      <dgm:whole/>
    </dgm:dataModel>
  </dgm:sampData>
  <dgm:styleData>
    <dgm:dataModel>
      <dgm:ptLst>
        <dgm:pt modelId="0" type="doc"/>
        <dgm:pt modelId="1"/>
        <dgm:pt modelId="2"/>
      </dgm:ptLst>
      <dgm:cxnLst>
        <dgm:cxn modelId="3" srcId="0" destId="1" srcOrd="0" destOrd="0"/>
        <dgm:cxn modelId="4" srcId="0" destId="2" srcOrd="1" destOrd="0"/>
      </dgm:cxnLst>
      <dgm:bg/>
      <dgm:whole/>
    </dgm:dataModel>
  </dgm:styleData>
  <dgm:clrData>
    <dgm:dataModel>
      <dgm:ptLst>
        <dgm:pt modelId="0" type="doc"/>
        <dgm:pt modelId="1"/>
        <dgm:pt modelId="2"/>
        <dgm:pt modelId="3"/>
        <dgm:pt modelId="4"/>
      </dgm:ptLst>
      <dgm:cxnLst>
        <dgm:cxn modelId="5" srcId="0" destId="1" srcOrd="0" destOrd="0"/>
        <dgm:cxn modelId="6" srcId="0" destId="2" srcOrd="1" destOrd="0"/>
        <dgm:cxn modelId="7" srcId="0" destId="3" srcOrd="2" destOrd="0"/>
        <dgm:cxn modelId="8" srcId="0" destId="4" srcOrd="3" destOrd="0"/>
      </dgm:cxnLst>
      <dgm:bg/>
      <dgm:whole/>
    </dgm:dataModel>
  </dgm:clrData>
  <dgm:layoutNode name="Name0">
    <dgm:varLst>
      <dgm:dir/>
      <dgm:resizeHandles val="exact"/>
    </dgm:varLst>
    <dgm:choose name="Name1">
      <dgm:if name="Name2" func="var" arg="dir" op="equ" val="norm">
        <dgm:alg type="lin"/>
      </dgm:if>
      <dgm:else name="Name3">
        <dgm:alg type="lin">
          <dgm:param type="linDir" val="fromR"/>
        </dgm:alg>
      </dgm:else>
    </dgm:choose>
    <dgm:shape xmlns:r="http://schemas.openxmlformats.org/officeDocument/2006/relationships" r:blip="">
      <dgm:adjLst/>
    </dgm:shape>
    <dgm:presOf/>
    <dgm:constrLst>
      <dgm:constr type="w" for="ch" ptType="node" refType="w"/>
      <dgm:constr type="h" for="ch" ptType="node" op="equ"/>
      <dgm:constr type="primFontSz" for="ch" ptType="node" op="equ" val="65"/>
      <dgm:constr type="w" for="ch" ptType="sibTrans" refType="w" refFor="ch" refPtType="node" op="equ" fact="0.4"/>
      <dgm:constr type="h" for="ch" ptType="sibTrans" op="equ"/>
      <dgm:constr type="primFontSz" for="des" forName="connectorText" op="equ" val="55"/>
      <dgm:constr type="primFontSz" for="des" forName="connectorText" refType="primFontSz" refFor="ch" refPtType="node" op="lte" fact="0.8"/>
    </dgm:constrLst>
    <dgm:ruleLst/>
    <dgm:forEach name="nodesForEach" axis="ch" ptType="node">
      <dgm:layoutNode name="node">
        <dgm:varLst>
          <dgm:bulletEnabled val="1"/>
        </dgm:varLst>
        <dgm:alg type="tx"/>
        <dgm:shape xmlns:r="http://schemas.openxmlformats.org/officeDocument/2006/relationships" type="roundRect" r:blip="">
          <dgm:adjLst>
            <dgm:adj idx="1" val="0.1"/>
          </dgm:adjLst>
        </dgm:shape>
        <dgm:presOf axis="desOrSelf" ptType="node"/>
        <dgm:constrLst>
          <dgm:constr type="h" refType="w" fact="0.6"/>
          <dgm:constr type="tMarg" refType="primFontSz" fact="0.3"/>
          <dgm:constr type="bMarg" refType="primFontSz" fact="0.3"/>
          <dgm:constr type="lMarg" refType="primFontSz" fact="0.3"/>
          <dgm:constr type="rMarg" refType="primFontSz" fact="0.3"/>
        </dgm:constrLst>
        <dgm:ruleLst>
          <dgm:rule type="primFontSz" val="18" fact="NaN" max="NaN"/>
          <dgm:rule type="h" val="NaN" fact="1.5" max="NaN"/>
          <dgm:rule type="primFontSz" val="5" fact="NaN" max="NaN"/>
          <dgm:rule type="h" val="INF" fact="NaN" max="NaN"/>
        </dgm:ruleLst>
      </dgm:layoutNode>
      <dgm:forEach name="sibTransForEach" axis="followSib" ptType="sibTrans" cnt="1">
        <dgm:layoutNode name="sibTrans">
          <dgm:alg type="conn">
            <dgm:param type="begPts" val="auto"/>
            <dgm:param type="endPts" val="auto"/>
          </dgm:alg>
          <dgm:shape xmlns:r="http://schemas.openxmlformats.org/officeDocument/2006/relationships" type="conn" r:blip="">
            <dgm:adjLst/>
          </dgm:shape>
          <dgm:presOf axis="self"/>
          <dgm:constrLst>
            <dgm:constr type="h" refType="w" fact="0.62"/>
            <dgm:constr type="connDist"/>
            <dgm:constr type="begPad" refType="connDist" fact="0.25"/>
            <dgm:constr type="endPad" refType="connDist" fact="0.22"/>
          </dgm:constrLst>
          <dgm:ruleLst/>
          <dgm:layoutNode name="connectorText">
            <dgm:alg type="tx">
              <dgm:param type="autoTxRot" val="grav"/>
            </dgm:alg>
            <dgm:shape xmlns:r="http://schemas.openxmlformats.org/officeDocument/2006/relationships" type="conn" r:blip="" hideGeom="1">
              <dgm:adjLst/>
            </dgm:shape>
            <dgm:presOf axis="self"/>
            <dgm:constrLst>
              <dgm:constr type="lMarg"/>
              <dgm:constr type="rMarg"/>
              <dgm:constr type="tMarg"/>
              <dgm:constr type="bMarg"/>
            </dgm:constrLst>
            <dgm:ruleLst>
              <dgm:rule type="primFontSz" val="5" fact="NaN" max="NaN"/>
            </dgm:ruleLst>
          </dgm:layoutNode>
        </dgm:layoutNode>
      </dgm:forEach>
    </dgm:forEach>
  </dgm:layoutNode>
</dgm:layoutDef>
</file>

<file path=ppt/diagrams/quickStyle1.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SG" dirty="0"/>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FC211DB0-4CAC-4D90-907F-FD24F16BC89C}" type="datetimeFigureOut">
              <a:rPr lang="en-SG" smtClean="0"/>
              <a:t>12/2/2026</a:t>
            </a:fld>
            <a:endParaRPr lang="en-SG" dirty="0"/>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SG" dirty="0"/>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SG"/>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SG" dirty="0"/>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09A4FB01-E6F3-460D-8523-1D01053AD545}" type="slidenum">
              <a:rPr lang="en-SG" smtClean="0"/>
              <a:t>‹#›</a:t>
            </a:fld>
            <a:endParaRPr lang="en-SG" dirty="0"/>
          </a:p>
        </p:txBody>
      </p:sp>
    </p:spTree>
    <p:extLst>
      <p:ext uri="{BB962C8B-B14F-4D97-AF65-F5344CB8AC3E}">
        <p14:creationId xmlns:p14="http://schemas.microsoft.com/office/powerpoint/2010/main" val="405420806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1.xml"/><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2" Type="http://schemas.openxmlformats.org/officeDocument/2006/relationships/slide" Target="../slides/slide2.xml"/><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2" Type="http://schemas.openxmlformats.org/officeDocument/2006/relationships/slide" Target="../slides/slide3.xml"/><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2" Type="http://schemas.openxmlformats.org/officeDocument/2006/relationships/slide" Target="../slides/slide4.xml"/><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2" Type="http://schemas.openxmlformats.org/officeDocument/2006/relationships/slide" Target="../slides/slide5.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B40E09CC-8764-B6A4-1AEA-76F35CAC144E}"/>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9B1D8362-B757-013C-5258-CDE583C57F15}"/>
              </a:ext>
            </a:extLst>
          </p:cNvPr>
          <p:cNvSpPr>
            <a:spLocks noGrp="1" noRot="1" noChangeAspect="1"/>
          </p:cNvSpPr>
          <p:nvPr>
            <p:ph type="sldImg"/>
          </p:nvPr>
        </p:nvSpPr>
        <p:spPr/>
        <p:txBody>
          <a:bodyPr/>
          <a:lstStyle/>
          <a:p>
            <a:endParaRPr lang="en-SG" dirty="0"/>
          </a:p>
        </p:txBody>
      </p:sp>
      <p:sp>
        <p:nvSpPr>
          <p:cNvPr id="3" name="Notes Placeholder 2">
            <a:extLst>
              <a:ext uri="{FF2B5EF4-FFF2-40B4-BE49-F238E27FC236}">
                <a16:creationId xmlns:a16="http://schemas.microsoft.com/office/drawing/2014/main" id="{2E24D05E-4C99-9ECA-D858-45E3BCC7EEE6}"/>
              </a:ext>
            </a:extLst>
          </p:cNvPr>
          <p:cNvSpPr>
            <a:spLocks noGrp="1"/>
          </p:cNvSpPr>
          <p:nvPr>
            <p:ph type="body" idx="1"/>
          </p:nvPr>
        </p:nvSpPr>
        <p:spPr/>
        <p:txBody>
          <a:bodyPr/>
          <a:lstStyle/>
          <a:p>
            <a:endParaRPr lang="en-SG" dirty="0"/>
          </a:p>
        </p:txBody>
      </p:sp>
      <p:sp>
        <p:nvSpPr>
          <p:cNvPr id="4" name="Slide Number Placeholder 3">
            <a:extLst>
              <a:ext uri="{FF2B5EF4-FFF2-40B4-BE49-F238E27FC236}">
                <a16:creationId xmlns:a16="http://schemas.microsoft.com/office/drawing/2014/main" id="{0C32CFEA-E442-43C6-2BBF-0F4A4583F902}"/>
              </a:ext>
            </a:extLst>
          </p:cNvPr>
          <p:cNvSpPr>
            <a:spLocks noGrp="1"/>
          </p:cNvSpPr>
          <p:nvPr>
            <p:ph type="sldNum" sz="quarter" idx="5"/>
          </p:nvPr>
        </p:nvSpPr>
        <p:spPr/>
        <p:txBody>
          <a:bodyPr/>
          <a:lstStyle/>
          <a:p>
            <a:fld id="{09A4FB01-E6F3-460D-8523-1D01053AD545}" type="slidenum">
              <a:rPr lang="en-SG" smtClean="0"/>
              <a:t>1</a:t>
            </a:fld>
            <a:endParaRPr lang="en-SG" dirty="0"/>
          </a:p>
        </p:txBody>
      </p:sp>
    </p:spTree>
    <p:extLst>
      <p:ext uri="{BB962C8B-B14F-4D97-AF65-F5344CB8AC3E}">
        <p14:creationId xmlns:p14="http://schemas.microsoft.com/office/powerpoint/2010/main" val="3414111780"/>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txBody>
          <a:bodyPr/>
          <a:lstStyle/>
          <a:p>
            <a:endParaRPr lang="en-SG" dirty="0"/>
          </a:p>
        </p:txBody>
      </p:sp>
      <p:sp>
        <p:nvSpPr>
          <p:cNvPr id="3" name="Notes Placeholder 2"/>
          <p:cNvSpPr>
            <a:spLocks noGrp="1"/>
          </p:cNvSpPr>
          <p:nvPr>
            <p:ph type="body" idx="1"/>
          </p:nvPr>
        </p:nvSpPr>
        <p:spPr/>
        <p:txBody>
          <a:bodyPr/>
          <a:lstStyle/>
          <a:p>
            <a:endParaRPr lang="en-SG" dirty="0"/>
          </a:p>
        </p:txBody>
      </p:sp>
      <p:sp>
        <p:nvSpPr>
          <p:cNvPr id="4" name="Slide Number Placeholder 3"/>
          <p:cNvSpPr>
            <a:spLocks noGrp="1"/>
          </p:cNvSpPr>
          <p:nvPr>
            <p:ph type="sldNum" sz="quarter" idx="5"/>
          </p:nvPr>
        </p:nvSpPr>
        <p:spPr/>
        <p:txBody>
          <a:bodyPr/>
          <a:lstStyle/>
          <a:p>
            <a:fld id="{09A4FB01-E6F3-460D-8523-1D01053AD545}" type="slidenum">
              <a:rPr lang="en-SG" smtClean="0"/>
              <a:t>2</a:t>
            </a:fld>
            <a:endParaRPr lang="en-SG" dirty="0"/>
          </a:p>
        </p:txBody>
      </p:sp>
    </p:spTree>
    <p:extLst>
      <p:ext uri="{BB962C8B-B14F-4D97-AF65-F5344CB8AC3E}">
        <p14:creationId xmlns:p14="http://schemas.microsoft.com/office/powerpoint/2010/main" val="3674379523"/>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txBody>
          <a:bodyPr/>
          <a:lstStyle/>
          <a:p>
            <a:endParaRPr lang="en-SG" dirty="0"/>
          </a:p>
        </p:txBody>
      </p:sp>
      <p:sp>
        <p:nvSpPr>
          <p:cNvPr id="3" name="Notes Placeholder 2"/>
          <p:cNvSpPr>
            <a:spLocks noGrp="1"/>
          </p:cNvSpPr>
          <p:nvPr>
            <p:ph type="body" idx="1"/>
          </p:nvPr>
        </p:nvSpPr>
        <p:spPr/>
        <p:txBody>
          <a:bodyPr/>
          <a:lstStyle/>
          <a:p>
            <a:endParaRPr lang="en-SG" dirty="0"/>
          </a:p>
        </p:txBody>
      </p:sp>
      <p:sp>
        <p:nvSpPr>
          <p:cNvPr id="4" name="Slide Number Placeholder 3"/>
          <p:cNvSpPr>
            <a:spLocks noGrp="1"/>
          </p:cNvSpPr>
          <p:nvPr>
            <p:ph type="sldNum" sz="quarter" idx="5"/>
          </p:nvPr>
        </p:nvSpPr>
        <p:spPr/>
        <p:txBody>
          <a:bodyPr/>
          <a:lstStyle/>
          <a:p>
            <a:fld id="{09A4FB01-E6F3-460D-8523-1D01053AD545}" type="slidenum">
              <a:rPr lang="en-SG" smtClean="0"/>
              <a:t>3</a:t>
            </a:fld>
            <a:endParaRPr lang="en-SG" dirty="0"/>
          </a:p>
        </p:txBody>
      </p:sp>
    </p:spTree>
    <p:extLst>
      <p:ext uri="{BB962C8B-B14F-4D97-AF65-F5344CB8AC3E}">
        <p14:creationId xmlns:p14="http://schemas.microsoft.com/office/powerpoint/2010/main" val="388357872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1F76F63F-D9BD-DE22-D67B-0C691B04FFEC}"/>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F87F160B-16EB-F0C5-675E-FA8CE35FD1A4}"/>
              </a:ext>
            </a:extLst>
          </p:cNvPr>
          <p:cNvSpPr>
            <a:spLocks noGrp="1" noRot="1" noChangeAspect="1"/>
          </p:cNvSpPr>
          <p:nvPr>
            <p:ph type="sldImg"/>
          </p:nvPr>
        </p:nvSpPr>
        <p:spPr/>
        <p:txBody>
          <a:bodyPr/>
          <a:lstStyle/>
          <a:p>
            <a:endParaRPr lang="en-SG" dirty="0"/>
          </a:p>
        </p:txBody>
      </p:sp>
      <p:sp>
        <p:nvSpPr>
          <p:cNvPr id="3" name="Notes Placeholder 2">
            <a:extLst>
              <a:ext uri="{FF2B5EF4-FFF2-40B4-BE49-F238E27FC236}">
                <a16:creationId xmlns:a16="http://schemas.microsoft.com/office/drawing/2014/main" id="{F7A67F33-9429-5FB5-7107-9951A2C7397D}"/>
              </a:ext>
            </a:extLst>
          </p:cNvPr>
          <p:cNvSpPr>
            <a:spLocks noGrp="1"/>
          </p:cNvSpPr>
          <p:nvPr>
            <p:ph type="body" idx="1"/>
          </p:nvPr>
        </p:nvSpPr>
        <p:spPr/>
        <p:txBody>
          <a:bodyPr/>
          <a:lstStyle/>
          <a:p>
            <a:endParaRPr lang="en-SG" dirty="0"/>
          </a:p>
        </p:txBody>
      </p:sp>
      <p:sp>
        <p:nvSpPr>
          <p:cNvPr id="4" name="Slide Number Placeholder 3">
            <a:extLst>
              <a:ext uri="{FF2B5EF4-FFF2-40B4-BE49-F238E27FC236}">
                <a16:creationId xmlns:a16="http://schemas.microsoft.com/office/drawing/2014/main" id="{E1AFE0A6-4298-748E-FC4B-60CA848C1EBF}"/>
              </a:ext>
            </a:extLst>
          </p:cNvPr>
          <p:cNvSpPr>
            <a:spLocks noGrp="1"/>
          </p:cNvSpPr>
          <p:nvPr>
            <p:ph type="sldNum" sz="quarter" idx="5"/>
          </p:nvPr>
        </p:nvSpPr>
        <p:spPr/>
        <p:txBody>
          <a:bodyPr/>
          <a:lstStyle/>
          <a:p>
            <a:fld id="{09A4FB01-E6F3-460D-8523-1D01053AD545}" type="slidenum">
              <a:rPr lang="en-SG" smtClean="0"/>
              <a:t>4</a:t>
            </a:fld>
            <a:endParaRPr lang="en-SG" dirty="0"/>
          </a:p>
        </p:txBody>
      </p:sp>
    </p:spTree>
    <p:extLst>
      <p:ext uri="{BB962C8B-B14F-4D97-AF65-F5344CB8AC3E}">
        <p14:creationId xmlns:p14="http://schemas.microsoft.com/office/powerpoint/2010/main" val="406816133"/>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7CED1C44-BE08-3592-69BD-55C8DBB2C5FA}"/>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366F6EF5-6308-9B3A-3E67-30BE6B274988}"/>
              </a:ext>
            </a:extLst>
          </p:cNvPr>
          <p:cNvSpPr>
            <a:spLocks noGrp="1" noRot="1" noChangeAspect="1"/>
          </p:cNvSpPr>
          <p:nvPr>
            <p:ph type="sldImg"/>
          </p:nvPr>
        </p:nvSpPr>
        <p:spPr/>
        <p:txBody>
          <a:bodyPr/>
          <a:lstStyle/>
          <a:p>
            <a:endParaRPr lang="en-SG" dirty="0"/>
          </a:p>
        </p:txBody>
      </p:sp>
      <p:sp>
        <p:nvSpPr>
          <p:cNvPr id="3" name="Notes Placeholder 2">
            <a:extLst>
              <a:ext uri="{FF2B5EF4-FFF2-40B4-BE49-F238E27FC236}">
                <a16:creationId xmlns:a16="http://schemas.microsoft.com/office/drawing/2014/main" id="{0DF14D86-4043-BFAF-275F-7B48B97941EF}"/>
              </a:ext>
            </a:extLst>
          </p:cNvPr>
          <p:cNvSpPr>
            <a:spLocks noGrp="1"/>
          </p:cNvSpPr>
          <p:nvPr>
            <p:ph type="body" idx="1"/>
          </p:nvPr>
        </p:nvSpPr>
        <p:spPr/>
        <p:txBody>
          <a:bodyPr/>
          <a:lstStyle/>
          <a:p>
            <a:endParaRPr lang="en-SG" dirty="0"/>
          </a:p>
        </p:txBody>
      </p:sp>
      <p:sp>
        <p:nvSpPr>
          <p:cNvPr id="4" name="Slide Number Placeholder 3">
            <a:extLst>
              <a:ext uri="{FF2B5EF4-FFF2-40B4-BE49-F238E27FC236}">
                <a16:creationId xmlns:a16="http://schemas.microsoft.com/office/drawing/2014/main" id="{D43C869E-B087-F74F-73E4-572087618DDD}"/>
              </a:ext>
            </a:extLst>
          </p:cNvPr>
          <p:cNvSpPr>
            <a:spLocks noGrp="1"/>
          </p:cNvSpPr>
          <p:nvPr>
            <p:ph type="sldNum" sz="quarter" idx="5"/>
          </p:nvPr>
        </p:nvSpPr>
        <p:spPr/>
        <p:txBody>
          <a:bodyPr/>
          <a:lstStyle/>
          <a:p>
            <a:fld id="{09A4FB01-E6F3-460D-8523-1D01053AD545}" type="slidenum">
              <a:rPr lang="en-SG" smtClean="0"/>
              <a:t>5</a:t>
            </a:fld>
            <a:endParaRPr lang="en-SG" dirty="0"/>
          </a:p>
        </p:txBody>
      </p:sp>
    </p:spTree>
    <p:extLst>
      <p:ext uri="{BB962C8B-B14F-4D97-AF65-F5344CB8AC3E}">
        <p14:creationId xmlns:p14="http://schemas.microsoft.com/office/powerpoint/2010/main" val="14311820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2417779" y="802298"/>
            <a:ext cx="8637073" cy="2541431"/>
          </a:xfrm>
        </p:spPr>
        <p:txBody>
          <a:bodyPr bIns="0" anchor="b">
            <a:normAutofit/>
          </a:bodyPr>
          <a:lstStyle>
            <a:lvl1pPr algn="l">
              <a:defRPr sz="6600"/>
            </a:lvl1pPr>
          </a:lstStyle>
          <a:p>
            <a:r>
              <a:rPr lang="en-US"/>
              <a:t>Click to edit Master title style</a:t>
            </a:r>
            <a:endParaRPr lang="en-US" dirty="0"/>
          </a:p>
        </p:txBody>
      </p:sp>
      <p:sp>
        <p:nvSpPr>
          <p:cNvPr id="3" name="Subtitle 2"/>
          <p:cNvSpPr>
            <a:spLocks noGrp="1"/>
          </p:cNvSpPr>
          <p:nvPr>
            <p:ph type="subTitle" idx="1"/>
          </p:nvPr>
        </p:nvSpPr>
        <p:spPr>
          <a:xfrm>
            <a:off x="2417780" y="3531204"/>
            <a:ext cx="8637072" cy="977621"/>
          </a:xfrm>
        </p:spPr>
        <p:txBody>
          <a:bodyPr tIns="91440" bIns="91440">
            <a:normAutofit/>
          </a:bodyPr>
          <a:lstStyle>
            <a:lvl1pPr marL="0" indent="0" algn="l">
              <a:buNone/>
              <a:defRPr sz="1800" b="0" cap="all" baseline="0">
                <a:solidFill>
                  <a:schemeClr val="tx1"/>
                </a:solidFill>
              </a:defRPr>
            </a:lvl1pPr>
            <a:lvl2pPr marL="457200" indent="0" algn="ctr">
              <a:buNone/>
              <a:defRPr sz="1800"/>
            </a:lvl2pPr>
            <a:lvl3pPr marL="914400" indent="0" algn="ctr">
              <a:buNone/>
              <a:defRPr sz="1800"/>
            </a:lvl3pPr>
            <a:lvl4pPr marL="1371600" indent="0" algn="ctr">
              <a:buNone/>
              <a:defRPr sz="1600"/>
            </a:lvl4pPr>
            <a:lvl5pPr marL="1828800" indent="0" algn="ctr">
              <a:buNone/>
              <a:defRPr sz="1600"/>
            </a:lvl5pPr>
            <a:lvl6pPr marL="2286000" indent="0" algn="ctr">
              <a:buNone/>
              <a:defRPr sz="1600"/>
            </a:lvl6pPr>
            <a:lvl7pPr marL="2743200" indent="0" algn="ctr">
              <a:buNone/>
              <a:defRPr sz="1600"/>
            </a:lvl7pPr>
            <a:lvl8pPr marL="3200400" indent="0" algn="ctr">
              <a:buNone/>
              <a:defRPr sz="1600"/>
            </a:lvl8pPr>
            <a:lvl9pPr marL="3657600" indent="0" algn="ctr">
              <a:buNone/>
              <a:defRPr sz="1600"/>
            </a:lvl9pPr>
          </a:lstStyle>
          <a:p>
            <a:r>
              <a:rPr lang="en-US"/>
              <a:t>Click to edit Master subtitle style</a:t>
            </a:r>
            <a:endParaRPr lang="en-US" dirty="0"/>
          </a:p>
        </p:txBody>
      </p:sp>
      <p:sp>
        <p:nvSpPr>
          <p:cNvPr id="4" name="Date Placeholder 3"/>
          <p:cNvSpPr>
            <a:spLocks noGrp="1"/>
          </p:cNvSpPr>
          <p:nvPr>
            <p:ph type="dt" sz="half" idx="10"/>
          </p:nvPr>
        </p:nvSpPr>
        <p:spPr/>
        <p:txBody>
          <a:bodyPr/>
          <a:lstStyle/>
          <a:p>
            <a:fld id="{893A27CD-D406-492E-A632-D285B7EF3DB9}" type="datetimeFigureOut">
              <a:rPr lang="en-SG" smtClean="0"/>
              <a:t>12/2/2026</a:t>
            </a:fld>
            <a:endParaRPr lang="en-SG" dirty="0"/>
          </a:p>
        </p:txBody>
      </p:sp>
      <p:sp>
        <p:nvSpPr>
          <p:cNvPr id="5" name="Footer Placeholder 4"/>
          <p:cNvSpPr>
            <a:spLocks noGrp="1"/>
          </p:cNvSpPr>
          <p:nvPr>
            <p:ph type="ftr" sz="quarter" idx="11"/>
          </p:nvPr>
        </p:nvSpPr>
        <p:spPr>
          <a:xfrm>
            <a:off x="2416500" y="329307"/>
            <a:ext cx="4973915" cy="309201"/>
          </a:xfrm>
        </p:spPr>
        <p:txBody>
          <a:bodyPr/>
          <a:lstStyle/>
          <a:p>
            <a:endParaRPr lang="en-SG" dirty="0"/>
          </a:p>
        </p:txBody>
      </p:sp>
      <p:sp>
        <p:nvSpPr>
          <p:cNvPr id="6" name="Slide Number Placeholder 5"/>
          <p:cNvSpPr>
            <a:spLocks noGrp="1"/>
          </p:cNvSpPr>
          <p:nvPr>
            <p:ph type="sldNum" sz="quarter" idx="12"/>
          </p:nvPr>
        </p:nvSpPr>
        <p:spPr>
          <a:xfrm>
            <a:off x="1437664" y="798973"/>
            <a:ext cx="811019" cy="503578"/>
          </a:xfrm>
        </p:spPr>
        <p:txBody>
          <a:bodyPr/>
          <a:lstStyle/>
          <a:p>
            <a:fld id="{0A4EFB76-80FB-49C2-8B32-717DDA70F7AB}" type="slidenum">
              <a:rPr lang="en-SG" smtClean="0"/>
              <a:t>‹#›</a:t>
            </a:fld>
            <a:endParaRPr lang="en-SG" dirty="0"/>
          </a:p>
        </p:txBody>
      </p:sp>
      <p:cxnSp>
        <p:nvCxnSpPr>
          <p:cNvPr id="15" name="Straight Connector 14"/>
          <p:cNvCxnSpPr/>
          <p:nvPr/>
        </p:nvCxnSpPr>
        <p:spPr>
          <a:xfrm>
            <a:off x="2417780" y="3528542"/>
            <a:ext cx="8637072" cy="0"/>
          </a:xfrm>
          <a:prstGeom prst="line">
            <a:avLst/>
          </a:prstGeom>
          <a:ln w="31750"/>
        </p:spPr>
        <p:style>
          <a:lnRef idx="3">
            <a:schemeClr val="accent1"/>
          </a:lnRef>
          <a:fillRef idx="0">
            <a:schemeClr val="accent1"/>
          </a:fillRef>
          <a:effectRef idx="2">
            <a:schemeClr val="accent1"/>
          </a:effectRef>
          <a:fontRef idx="minor">
            <a:schemeClr val="tx1"/>
          </a:fontRef>
        </p:style>
      </p:cxnSp>
    </p:spTree>
    <p:extLst>
      <p:ext uri="{BB962C8B-B14F-4D97-AF65-F5344CB8AC3E}">
        <p14:creationId xmlns:p14="http://schemas.microsoft.com/office/powerpoint/2010/main" val="2772067660"/>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endParaRPr lang="en-US" dirty="0"/>
          </a:p>
        </p:txBody>
      </p:sp>
      <p:sp>
        <p:nvSpPr>
          <p:cNvPr id="3" name="Content Placeholder 2"/>
          <p:cNvSpPr>
            <a:spLocks noGrp="1"/>
          </p:cNvSpPr>
          <p:nvPr>
            <p:ph idx="1"/>
          </p:nvPr>
        </p:nvSpPr>
        <p:spPr/>
        <p:txBody>
          <a:bodyPr ancho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4" name="Date Placeholder 3"/>
          <p:cNvSpPr>
            <a:spLocks noGrp="1"/>
          </p:cNvSpPr>
          <p:nvPr>
            <p:ph type="dt" sz="half" idx="10"/>
          </p:nvPr>
        </p:nvSpPr>
        <p:spPr/>
        <p:txBody>
          <a:bodyPr/>
          <a:lstStyle/>
          <a:p>
            <a:fld id="{893A27CD-D406-492E-A632-D285B7EF3DB9}" type="datetimeFigureOut">
              <a:rPr lang="en-SG" smtClean="0"/>
              <a:t>12/2/2026</a:t>
            </a:fld>
            <a:endParaRPr lang="en-SG" dirty="0"/>
          </a:p>
        </p:txBody>
      </p:sp>
      <p:sp>
        <p:nvSpPr>
          <p:cNvPr id="5" name="Footer Placeholder 4"/>
          <p:cNvSpPr>
            <a:spLocks noGrp="1"/>
          </p:cNvSpPr>
          <p:nvPr>
            <p:ph type="ftr" sz="quarter" idx="11"/>
          </p:nvPr>
        </p:nvSpPr>
        <p:spPr/>
        <p:txBody>
          <a:bodyPr/>
          <a:lstStyle/>
          <a:p>
            <a:endParaRPr lang="en-SG" dirty="0"/>
          </a:p>
        </p:txBody>
      </p:sp>
      <p:sp>
        <p:nvSpPr>
          <p:cNvPr id="6" name="Slide Number Placeholder 5"/>
          <p:cNvSpPr>
            <a:spLocks noGrp="1"/>
          </p:cNvSpPr>
          <p:nvPr>
            <p:ph type="sldNum" sz="quarter" idx="12"/>
          </p:nvPr>
        </p:nvSpPr>
        <p:spPr/>
        <p:txBody>
          <a:bodyPr/>
          <a:lstStyle/>
          <a:p>
            <a:fld id="{0A4EFB76-80FB-49C2-8B32-717DDA70F7AB}" type="slidenum">
              <a:rPr lang="en-SG" smtClean="0"/>
              <a:t>‹#›</a:t>
            </a:fld>
            <a:endParaRPr lang="en-SG" dirty="0"/>
          </a:p>
        </p:txBody>
      </p:sp>
      <p:cxnSp>
        <p:nvCxnSpPr>
          <p:cNvPr id="33" name="Straight Connector 32"/>
          <p:cNvCxnSpPr/>
          <p:nvPr/>
        </p:nvCxnSpPr>
        <p:spPr>
          <a:xfrm>
            <a:off x="1453896" y="1847088"/>
            <a:ext cx="9607522" cy="0"/>
          </a:xfrm>
          <a:prstGeom prst="line">
            <a:avLst/>
          </a:prstGeom>
          <a:ln w="31750"/>
        </p:spPr>
        <p:style>
          <a:lnRef idx="3">
            <a:schemeClr val="accent1"/>
          </a:lnRef>
          <a:fillRef idx="0">
            <a:schemeClr val="accent1"/>
          </a:fillRef>
          <a:effectRef idx="2">
            <a:schemeClr val="accent1"/>
          </a:effectRef>
          <a:fontRef idx="minor">
            <a:schemeClr val="tx1"/>
          </a:fontRef>
        </p:style>
      </p:cxnSp>
    </p:spTree>
    <p:extLst>
      <p:ext uri="{BB962C8B-B14F-4D97-AF65-F5344CB8AC3E}">
        <p14:creationId xmlns:p14="http://schemas.microsoft.com/office/powerpoint/2010/main" val="2834220569"/>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1454239" y="1756130"/>
            <a:ext cx="8643154" cy="1887950"/>
          </a:xfrm>
        </p:spPr>
        <p:txBody>
          <a:bodyPr anchor="b">
            <a:normAutofit/>
          </a:bodyPr>
          <a:lstStyle>
            <a:lvl1pPr algn="l">
              <a:defRPr sz="3600"/>
            </a:lvl1pPr>
          </a:lstStyle>
          <a:p>
            <a:r>
              <a:rPr lang="en-US"/>
              <a:t>Click to edit Master title style</a:t>
            </a:r>
            <a:endParaRPr lang="en-US" dirty="0"/>
          </a:p>
        </p:txBody>
      </p:sp>
      <p:sp>
        <p:nvSpPr>
          <p:cNvPr id="3" name="Text Placeholder 2"/>
          <p:cNvSpPr>
            <a:spLocks noGrp="1"/>
          </p:cNvSpPr>
          <p:nvPr>
            <p:ph type="body" idx="1"/>
          </p:nvPr>
        </p:nvSpPr>
        <p:spPr>
          <a:xfrm>
            <a:off x="1454239" y="3806195"/>
            <a:ext cx="8630446" cy="1012929"/>
          </a:xfrm>
        </p:spPr>
        <p:txBody>
          <a:bodyPr tIns="91440">
            <a:normAutofit/>
          </a:bodyPr>
          <a:lstStyle>
            <a:lvl1pPr marL="0" indent="0" algn="l">
              <a:buNone/>
              <a:defRPr sz="1800">
                <a:solidFill>
                  <a:schemeClr val="tx1"/>
                </a:solidFill>
              </a:defRPr>
            </a:lvl1pPr>
            <a:lvl2pPr marL="457200" indent="0">
              <a:buNone/>
              <a:defRPr sz="1800">
                <a:solidFill>
                  <a:schemeClr val="tx1">
                    <a:tint val="75000"/>
                  </a:schemeClr>
                </a:solidFill>
              </a:defRPr>
            </a:lvl2pPr>
            <a:lvl3pPr marL="914400" indent="0">
              <a:buNone/>
              <a:defRPr sz="1800">
                <a:solidFill>
                  <a:schemeClr val="tx1">
                    <a:tint val="75000"/>
                  </a:schemeClr>
                </a:solidFill>
              </a:defRPr>
            </a:lvl3pPr>
            <a:lvl4pPr marL="1371600" indent="0">
              <a:buNone/>
              <a:defRPr sz="1600">
                <a:solidFill>
                  <a:schemeClr val="tx1">
                    <a:tint val="75000"/>
                  </a:schemeClr>
                </a:solidFill>
              </a:defRPr>
            </a:lvl4pPr>
            <a:lvl5pPr marL="1828800" indent="0">
              <a:buNone/>
              <a:defRPr sz="1600">
                <a:solidFill>
                  <a:schemeClr val="tx1">
                    <a:tint val="75000"/>
                  </a:schemeClr>
                </a:solidFill>
              </a:defRPr>
            </a:lvl5pPr>
            <a:lvl6pPr marL="2286000" indent="0">
              <a:buNone/>
              <a:defRPr sz="1600">
                <a:solidFill>
                  <a:schemeClr val="tx1">
                    <a:tint val="75000"/>
                  </a:schemeClr>
                </a:solidFill>
              </a:defRPr>
            </a:lvl6pPr>
            <a:lvl7pPr marL="2743200" indent="0">
              <a:buNone/>
              <a:defRPr sz="1600">
                <a:solidFill>
                  <a:schemeClr val="tx1">
                    <a:tint val="75000"/>
                  </a:schemeClr>
                </a:solidFill>
              </a:defRPr>
            </a:lvl7pPr>
            <a:lvl8pPr marL="3200400" indent="0">
              <a:buNone/>
              <a:defRPr sz="1600">
                <a:solidFill>
                  <a:schemeClr val="tx1">
                    <a:tint val="75000"/>
                  </a:schemeClr>
                </a:solidFill>
              </a:defRPr>
            </a:lvl8pPr>
            <a:lvl9pPr marL="3657600" indent="0">
              <a:buNone/>
              <a:defRPr sz="1600">
                <a:solidFill>
                  <a:schemeClr val="tx1">
                    <a:tint val="75000"/>
                  </a:schemeClr>
                </a:solidFill>
              </a:defRPr>
            </a:lvl9pPr>
          </a:lstStyle>
          <a:p>
            <a:pPr lvl="0"/>
            <a:r>
              <a:rPr lang="en-US"/>
              <a:t>Click to edit Master text styles</a:t>
            </a:r>
          </a:p>
        </p:txBody>
      </p:sp>
      <p:sp>
        <p:nvSpPr>
          <p:cNvPr id="4" name="Date Placeholder 3"/>
          <p:cNvSpPr>
            <a:spLocks noGrp="1"/>
          </p:cNvSpPr>
          <p:nvPr>
            <p:ph type="dt" sz="half" idx="10"/>
          </p:nvPr>
        </p:nvSpPr>
        <p:spPr/>
        <p:txBody>
          <a:bodyPr/>
          <a:lstStyle/>
          <a:p>
            <a:fld id="{893A27CD-D406-492E-A632-D285B7EF3DB9}" type="datetimeFigureOut">
              <a:rPr lang="en-SG" smtClean="0"/>
              <a:t>12/2/2026</a:t>
            </a:fld>
            <a:endParaRPr lang="en-SG" dirty="0"/>
          </a:p>
        </p:txBody>
      </p:sp>
      <p:sp>
        <p:nvSpPr>
          <p:cNvPr id="5" name="Footer Placeholder 4"/>
          <p:cNvSpPr>
            <a:spLocks noGrp="1"/>
          </p:cNvSpPr>
          <p:nvPr>
            <p:ph type="ftr" sz="quarter" idx="11"/>
          </p:nvPr>
        </p:nvSpPr>
        <p:spPr/>
        <p:txBody>
          <a:bodyPr/>
          <a:lstStyle/>
          <a:p>
            <a:endParaRPr lang="en-SG" dirty="0"/>
          </a:p>
        </p:txBody>
      </p:sp>
      <p:sp>
        <p:nvSpPr>
          <p:cNvPr id="6" name="Slide Number Placeholder 5"/>
          <p:cNvSpPr>
            <a:spLocks noGrp="1"/>
          </p:cNvSpPr>
          <p:nvPr>
            <p:ph type="sldNum" sz="quarter" idx="12"/>
          </p:nvPr>
        </p:nvSpPr>
        <p:spPr/>
        <p:txBody>
          <a:bodyPr/>
          <a:lstStyle/>
          <a:p>
            <a:fld id="{0A4EFB76-80FB-49C2-8B32-717DDA70F7AB}" type="slidenum">
              <a:rPr lang="en-SG" smtClean="0"/>
              <a:t>‹#›</a:t>
            </a:fld>
            <a:endParaRPr lang="en-SG" dirty="0"/>
          </a:p>
        </p:txBody>
      </p:sp>
      <p:cxnSp>
        <p:nvCxnSpPr>
          <p:cNvPr id="15" name="Straight Connector 14"/>
          <p:cNvCxnSpPr/>
          <p:nvPr/>
        </p:nvCxnSpPr>
        <p:spPr>
          <a:xfrm>
            <a:off x="1454239" y="3804985"/>
            <a:ext cx="8630446" cy="0"/>
          </a:xfrm>
          <a:prstGeom prst="line">
            <a:avLst/>
          </a:prstGeom>
          <a:ln w="31750"/>
        </p:spPr>
        <p:style>
          <a:lnRef idx="3">
            <a:schemeClr val="accent1"/>
          </a:lnRef>
          <a:fillRef idx="0">
            <a:schemeClr val="accent1"/>
          </a:fillRef>
          <a:effectRef idx="2">
            <a:schemeClr val="accent1"/>
          </a:effectRef>
          <a:fontRef idx="minor">
            <a:schemeClr val="tx1"/>
          </a:fontRef>
        </p:style>
      </p:cxnSp>
    </p:spTree>
    <p:extLst>
      <p:ext uri="{BB962C8B-B14F-4D97-AF65-F5344CB8AC3E}">
        <p14:creationId xmlns:p14="http://schemas.microsoft.com/office/powerpoint/2010/main" val="1236791763"/>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a:xfrm>
            <a:off x="1449217" y="804889"/>
            <a:ext cx="9605635" cy="1059305"/>
          </a:xfrm>
        </p:spPr>
        <p:txBody>
          <a:bodyPr/>
          <a:lstStyle/>
          <a:p>
            <a:r>
              <a:rPr lang="en-US"/>
              <a:t>Click to edit Master title style</a:t>
            </a:r>
            <a:endParaRPr lang="en-US" dirty="0"/>
          </a:p>
        </p:txBody>
      </p:sp>
      <p:sp>
        <p:nvSpPr>
          <p:cNvPr id="3" name="Content Placeholder 2"/>
          <p:cNvSpPr>
            <a:spLocks noGrp="1"/>
          </p:cNvSpPr>
          <p:nvPr>
            <p:ph sz="half" idx="1"/>
          </p:nvPr>
        </p:nvSpPr>
        <p:spPr>
          <a:xfrm>
            <a:off x="1447331" y="2010878"/>
            <a:ext cx="4645152" cy="3448595"/>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4" name="Content Placeholder 3"/>
          <p:cNvSpPr>
            <a:spLocks noGrp="1"/>
          </p:cNvSpPr>
          <p:nvPr>
            <p:ph sz="half" idx="2"/>
          </p:nvPr>
        </p:nvSpPr>
        <p:spPr>
          <a:xfrm>
            <a:off x="6413771" y="2017343"/>
            <a:ext cx="4645152" cy="3441520"/>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5" name="Date Placeholder 4"/>
          <p:cNvSpPr>
            <a:spLocks noGrp="1"/>
          </p:cNvSpPr>
          <p:nvPr>
            <p:ph type="dt" sz="half" idx="10"/>
          </p:nvPr>
        </p:nvSpPr>
        <p:spPr/>
        <p:txBody>
          <a:bodyPr/>
          <a:lstStyle/>
          <a:p>
            <a:fld id="{893A27CD-D406-492E-A632-D285B7EF3DB9}" type="datetimeFigureOut">
              <a:rPr lang="en-SG" smtClean="0"/>
              <a:t>12/2/2026</a:t>
            </a:fld>
            <a:endParaRPr lang="en-SG" dirty="0"/>
          </a:p>
        </p:txBody>
      </p:sp>
      <p:sp>
        <p:nvSpPr>
          <p:cNvPr id="6" name="Footer Placeholder 5"/>
          <p:cNvSpPr>
            <a:spLocks noGrp="1"/>
          </p:cNvSpPr>
          <p:nvPr>
            <p:ph type="ftr" sz="quarter" idx="11"/>
          </p:nvPr>
        </p:nvSpPr>
        <p:spPr/>
        <p:txBody>
          <a:bodyPr/>
          <a:lstStyle/>
          <a:p>
            <a:endParaRPr lang="en-SG" dirty="0"/>
          </a:p>
        </p:txBody>
      </p:sp>
      <p:sp>
        <p:nvSpPr>
          <p:cNvPr id="7" name="Slide Number Placeholder 6"/>
          <p:cNvSpPr>
            <a:spLocks noGrp="1"/>
          </p:cNvSpPr>
          <p:nvPr>
            <p:ph type="sldNum" sz="quarter" idx="12"/>
          </p:nvPr>
        </p:nvSpPr>
        <p:spPr/>
        <p:txBody>
          <a:bodyPr/>
          <a:lstStyle/>
          <a:p>
            <a:fld id="{0A4EFB76-80FB-49C2-8B32-717DDA70F7AB}" type="slidenum">
              <a:rPr lang="en-SG" smtClean="0"/>
              <a:t>‹#›</a:t>
            </a:fld>
            <a:endParaRPr lang="en-SG" dirty="0"/>
          </a:p>
        </p:txBody>
      </p:sp>
      <p:cxnSp>
        <p:nvCxnSpPr>
          <p:cNvPr id="35" name="Straight Connector 34"/>
          <p:cNvCxnSpPr/>
          <p:nvPr/>
        </p:nvCxnSpPr>
        <p:spPr>
          <a:xfrm>
            <a:off x="1453896" y="1847088"/>
            <a:ext cx="9607522" cy="0"/>
          </a:xfrm>
          <a:prstGeom prst="line">
            <a:avLst/>
          </a:prstGeom>
          <a:ln w="31750"/>
        </p:spPr>
        <p:style>
          <a:lnRef idx="3">
            <a:schemeClr val="accent1"/>
          </a:lnRef>
          <a:fillRef idx="0">
            <a:schemeClr val="accent1"/>
          </a:fillRef>
          <a:effectRef idx="2">
            <a:schemeClr val="accent1"/>
          </a:effectRef>
          <a:fontRef idx="minor">
            <a:schemeClr val="tx1"/>
          </a:fontRef>
        </p:style>
      </p:cxnSp>
    </p:spTree>
    <p:extLst>
      <p:ext uri="{BB962C8B-B14F-4D97-AF65-F5344CB8AC3E}">
        <p14:creationId xmlns:p14="http://schemas.microsoft.com/office/powerpoint/2010/main" val="2906035861"/>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a:xfrm>
            <a:off x="1447191" y="804163"/>
            <a:ext cx="9607661" cy="1056319"/>
          </a:xfrm>
        </p:spPr>
        <p:txBody>
          <a:bodyPr/>
          <a:lstStyle/>
          <a:p>
            <a:r>
              <a:rPr lang="en-US"/>
              <a:t>Click to edit Master title style</a:t>
            </a:r>
            <a:endParaRPr lang="en-US" dirty="0"/>
          </a:p>
        </p:txBody>
      </p:sp>
      <p:sp>
        <p:nvSpPr>
          <p:cNvPr id="3" name="Text Placeholder 2"/>
          <p:cNvSpPr>
            <a:spLocks noGrp="1"/>
          </p:cNvSpPr>
          <p:nvPr>
            <p:ph type="body" idx="1"/>
          </p:nvPr>
        </p:nvSpPr>
        <p:spPr>
          <a:xfrm>
            <a:off x="1447191" y="2019549"/>
            <a:ext cx="4645152" cy="801943"/>
          </a:xfrm>
        </p:spPr>
        <p:txBody>
          <a:bodyPr anchor="b">
            <a:normAutofit/>
          </a:bodyPr>
          <a:lstStyle>
            <a:lvl1pPr marL="0" indent="0">
              <a:lnSpc>
                <a:spcPct val="100000"/>
              </a:lnSpc>
              <a:buNone/>
              <a:defRPr sz="2200" b="0" cap="all" baseline="0">
                <a:solidFill>
                  <a:schemeClr val="accent1"/>
                </a:solidFill>
              </a:defRPr>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4" name="Content Placeholder 3"/>
          <p:cNvSpPr>
            <a:spLocks noGrp="1"/>
          </p:cNvSpPr>
          <p:nvPr>
            <p:ph sz="half" idx="2"/>
          </p:nvPr>
        </p:nvSpPr>
        <p:spPr>
          <a:xfrm>
            <a:off x="1447191" y="2824269"/>
            <a:ext cx="4645152" cy="2644457"/>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5" name="Text Placeholder 4"/>
          <p:cNvSpPr>
            <a:spLocks noGrp="1"/>
          </p:cNvSpPr>
          <p:nvPr>
            <p:ph type="body" sz="quarter" idx="3"/>
          </p:nvPr>
        </p:nvSpPr>
        <p:spPr>
          <a:xfrm>
            <a:off x="6412362" y="2023003"/>
            <a:ext cx="4645152" cy="802237"/>
          </a:xfrm>
        </p:spPr>
        <p:txBody>
          <a:bodyPr anchor="b">
            <a:normAutofit/>
          </a:bodyPr>
          <a:lstStyle>
            <a:lvl1pPr marL="0" indent="0">
              <a:lnSpc>
                <a:spcPct val="100000"/>
              </a:lnSpc>
              <a:buNone/>
              <a:defRPr sz="2200" b="0" cap="all" baseline="0">
                <a:solidFill>
                  <a:schemeClr val="accent1"/>
                </a:solidFill>
              </a:defRPr>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6" name="Content Placeholder 5"/>
          <p:cNvSpPr>
            <a:spLocks noGrp="1"/>
          </p:cNvSpPr>
          <p:nvPr>
            <p:ph sz="quarter" idx="4"/>
          </p:nvPr>
        </p:nvSpPr>
        <p:spPr>
          <a:xfrm>
            <a:off x="6412362" y="2821491"/>
            <a:ext cx="4645152" cy="2637371"/>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7" name="Date Placeholder 6"/>
          <p:cNvSpPr>
            <a:spLocks noGrp="1"/>
          </p:cNvSpPr>
          <p:nvPr>
            <p:ph type="dt" sz="half" idx="10"/>
          </p:nvPr>
        </p:nvSpPr>
        <p:spPr/>
        <p:txBody>
          <a:bodyPr/>
          <a:lstStyle/>
          <a:p>
            <a:fld id="{893A27CD-D406-492E-A632-D285B7EF3DB9}" type="datetimeFigureOut">
              <a:rPr lang="en-SG" smtClean="0"/>
              <a:t>12/2/2026</a:t>
            </a:fld>
            <a:endParaRPr lang="en-SG" dirty="0"/>
          </a:p>
        </p:txBody>
      </p:sp>
      <p:sp>
        <p:nvSpPr>
          <p:cNvPr id="8" name="Footer Placeholder 7"/>
          <p:cNvSpPr>
            <a:spLocks noGrp="1"/>
          </p:cNvSpPr>
          <p:nvPr>
            <p:ph type="ftr" sz="quarter" idx="11"/>
          </p:nvPr>
        </p:nvSpPr>
        <p:spPr/>
        <p:txBody>
          <a:bodyPr/>
          <a:lstStyle/>
          <a:p>
            <a:endParaRPr lang="en-SG" dirty="0"/>
          </a:p>
        </p:txBody>
      </p:sp>
      <p:sp>
        <p:nvSpPr>
          <p:cNvPr id="9" name="Slide Number Placeholder 8"/>
          <p:cNvSpPr>
            <a:spLocks noGrp="1"/>
          </p:cNvSpPr>
          <p:nvPr>
            <p:ph type="sldNum" sz="quarter" idx="12"/>
          </p:nvPr>
        </p:nvSpPr>
        <p:spPr/>
        <p:txBody>
          <a:bodyPr/>
          <a:lstStyle/>
          <a:p>
            <a:fld id="{0A4EFB76-80FB-49C2-8B32-717DDA70F7AB}" type="slidenum">
              <a:rPr lang="en-SG" smtClean="0"/>
              <a:t>‹#›</a:t>
            </a:fld>
            <a:endParaRPr lang="en-SG" dirty="0"/>
          </a:p>
        </p:txBody>
      </p:sp>
      <p:cxnSp>
        <p:nvCxnSpPr>
          <p:cNvPr id="29" name="Straight Connector 28"/>
          <p:cNvCxnSpPr/>
          <p:nvPr/>
        </p:nvCxnSpPr>
        <p:spPr>
          <a:xfrm>
            <a:off x="1453896" y="1847088"/>
            <a:ext cx="9607522" cy="0"/>
          </a:xfrm>
          <a:prstGeom prst="line">
            <a:avLst/>
          </a:prstGeom>
          <a:ln w="31750"/>
        </p:spPr>
        <p:style>
          <a:lnRef idx="3">
            <a:schemeClr val="accent1"/>
          </a:lnRef>
          <a:fillRef idx="0">
            <a:schemeClr val="accent1"/>
          </a:fillRef>
          <a:effectRef idx="2">
            <a:schemeClr val="accent1"/>
          </a:effectRef>
          <a:fontRef idx="minor">
            <a:schemeClr val="tx1"/>
          </a:fontRef>
        </p:style>
      </p:cxnSp>
    </p:spTree>
    <p:extLst>
      <p:ext uri="{BB962C8B-B14F-4D97-AF65-F5344CB8AC3E}">
        <p14:creationId xmlns:p14="http://schemas.microsoft.com/office/powerpoint/2010/main" val="2747068905"/>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endParaRPr lang="en-US" dirty="0"/>
          </a:p>
        </p:txBody>
      </p:sp>
      <p:sp>
        <p:nvSpPr>
          <p:cNvPr id="3" name="Date Placeholder 2"/>
          <p:cNvSpPr>
            <a:spLocks noGrp="1"/>
          </p:cNvSpPr>
          <p:nvPr>
            <p:ph type="dt" sz="half" idx="10"/>
          </p:nvPr>
        </p:nvSpPr>
        <p:spPr/>
        <p:txBody>
          <a:bodyPr/>
          <a:lstStyle/>
          <a:p>
            <a:fld id="{893A27CD-D406-492E-A632-D285B7EF3DB9}" type="datetimeFigureOut">
              <a:rPr lang="en-SG" smtClean="0"/>
              <a:t>12/2/2026</a:t>
            </a:fld>
            <a:endParaRPr lang="en-SG" dirty="0"/>
          </a:p>
        </p:txBody>
      </p:sp>
      <p:sp>
        <p:nvSpPr>
          <p:cNvPr id="4" name="Footer Placeholder 3"/>
          <p:cNvSpPr>
            <a:spLocks noGrp="1"/>
          </p:cNvSpPr>
          <p:nvPr>
            <p:ph type="ftr" sz="quarter" idx="11"/>
          </p:nvPr>
        </p:nvSpPr>
        <p:spPr/>
        <p:txBody>
          <a:bodyPr/>
          <a:lstStyle/>
          <a:p>
            <a:endParaRPr lang="en-SG" dirty="0"/>
          </a:p>
        </p:txBody>
      </p:sp>
      <p:sp>
        <p:nvSpPr>
          <p:cNvPr id="5" name="Slide Number Placeholder 4"/>
          <p:cNvSpPr>
            <a:spLocks noGrp="1"/>
          </p:cNvSpPr>
          <p:nvPr>
            <p:ph type="sldNum" sz="quarter" idx="12"/>
          </p:nvPr>
        </p:nvSpPr>
        <p:spPr/>
        <p:txBody>
          <a:bodyPr/>
          <a:lstStyle/>
          <a:p>
            <a:fld id="{0A4EFB76-80FB-49C2-8B32-717DDA70F7AB}" type="slidenum">
              <a:rPr lang="en-SG" smtClean="0"/>
              <a:t>‹#›</a:t>
            </a:fld>
            <a:endParaRPr lang="en-SG" dirty="0"/>
          </a:p>
        </p:txBody>
      </p:sp>
      <p:cxnSp>
        <p:nvCxnSpPr>
          <p:cNvPr id="25" name="Straight Connector 24"/>
          <p:cNvCxnSpPr/>
          <p:nvPr/>
        </p:nvCxnSpPr>
        <p:spPr>
          <a:xfrm>
            <a:off x="1453896" y="1847088"/>
            <a:ext cx="9607522" cy="0"/>
          </a:xfrm>
          <a:prstGeom prst="line">
            <a:avLst/>
          </a:prstGeom>
          <a:ln w="31750"/>
        </p:spPr>
        <p:style>
          <a:lnRef idx="3">
            <a:schemeClr val="accent1"/>
          </a:lnRef>
          <a:fillRef idx="0">
            <a:schemeClr val="accent1"/>
          </a:fillRef>
          <a:effectRef idx="2">
            <a:schemeClr val="accent1"/>
          </a:effectRef>
          <a:fontRef idx="minor">
            <a:schemeClr val="tx1"/>
          </a:fontRef>
        </p:style>
      </p:cxnSp>
    </p:spTree>
    <p:extLst>
      <p:ext uri="{BB962C8B-B14F-4D97-AF65-F5344CB8AC3E}">
        <p14:creationId xmlns:p14="http://schemas.microsoft.com/office/powerpoint/2010/main" val="1503979538"/>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893A27CD-D406-492E-A632-D285B7EF3DB9}" type="datetimeFigureOut">
              <a:rPr lang="en-SG" smtClean="0"/>
              <a:t>12/2/2026</a:t>
            </a:fld>
            <a:endParaRPr lang="en-SG" dirty="0"/>
          </a:p>
        </p:txBody>
      </p:sp>
      <p:sp>
        <p:nvSpPr>
          <p:cNvPr id="3" name="Footer Placeholder 2"/>
          <p:cNvSpPr>
            <a:spLocks noGrp="1"/>
          </p:cNvSpPr>
          <p:nvPr>
            <p:ph type="ftr" sz="quarter" idx="11"/>
          </p:nvPr>
        </p:nvSpPr>
        <p:spPr/>
        <p:txBody>
          <a:bodyPr/>
          <a:lstStyle/>
          <a:p>
            <a:endParaRPr lang="en-SG" dirty="0"/>
          </a:p>
        </p:txBody>
      </p:sp>
      <p:sp>
        <p:nvSpPr>
          <p:cNvPr id="4" name="Slide Number Placeholder 3"/>
          <p:cNvSpPr>
            <a:spLocks noGrp="1"/>
          </p:cNvSpPr>
          <p:nvPr>
            <p:ph type="sldNum" sz="quarter" idx="12"/>
          </p:nvPr>
        </p:nvSpPr>
        <p:spPr/>
        <p:txBody>
          <a:bodyPr/>
          <a:lstStyle/>
          <a:p>
            <a:fld id="{0A4EFB76-80FB-49C2-8B32-717DDA70F7AB}" type="slidenum">
              <a:rPr lang="en-SG" smtClean="0"/>
              <a:t>‹#›</a:t>
            </a:fld>
            <a:endParaRPr lang="en-SG" dirty="0"/>
          </a:p>
        </p:txBody>
      </p:sp>
    </p:spTree>
    <p:extLst>
      <p:ext uri="{BB962C8B-B14F-4D97-AF65-F5344CB8AC3E}">
        <p14:creationId xmlns:p14="http://schemas.microsoft.com/office/powerpoint/2010/main" val="2331692376"/>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444671" y="798973"/>
            <a:ext cx="3273099" cy="2247117"/>
          </a:xfrm>
        </p:spPr>
        <p:txBody>
          <a:bodyPr anchor="b">
            <a:normAutofit/>
          </a:bodyPr>
          <a:lstStyle>
            <a:lvl1pPr algn="l">
              <a:defRPr sz="2400"/>
            </a:lvl1pPr>
          </a:lstStyle>
          <a:p>
            <a:r>
              <a:rPr lang="en-US"/>
              <a:t>Click to edit Master title style</a:t>
            </a:r>
            <a:endParaRPr lang="en-US" dirty="0"/>
          </a:p>
        </p:txBody>
      </p:sp>
      <p:sp>
        <p:nvSpPr>
          <p:cNvPr id="3" name="Content Placeholder 2"/>
          <p:cNvSpPr>
            <a:spLocks noGrp="1"/>
          </p:cNvSpPr>
          <p:nvPr>
            <p:ph idx="1"/>
          </p:nvPr>
        </p:nvSpPr>
        <p:spPr>
          <a:xfrm>
            <a:off x="5043714" y="798974"/>
            <a:ext cx="6012470" cy="4658826"/>
          </a:xfrm>
        </p:spPr>
        <p:txBody>
          <a:bodyPr anchor="ct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4" name="Text Placeholder 3"/>
          <p:cNvSpPr>
            <a:spLocks noGrp="1"/>
          </p:cNvSpPr>
          <p:nvPr>
            <p:ph type="body" sz="half" idx="2"/>
          </p:nvPr>
        </p:nvSpPr>
        <p:spPr>
          <a:xfrm>
            <a:off x="1444671" y="3205491"/>
            <a:ext cx="3275013" cy="2248181"/>
          </a:xfrm>
        </p:spPr>
        <p:txBody>
          <a:bodyPr/>
          <a:lstStyle>
            <a:lvl1pPr marL="0" indent="0" algn="l">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a:t>Click to edit Master text styles</a:t>
            </a:r>
          </a:p>
        </p:txBody>
      </p:sp>
      <p:sp>
        <p:nvSpPr>
          <p:cNvPr id="5" name="Date Placeholder 4"/>
          <p:cNvSpPr>
            <a:spLocks noGrp="1"/>
          </p:cNvSpPr>
          <p:nvPr>
            <p:ph type="dt" sz="half" idx="10"/>
          </p:nvPr>
        </p:nvSpPr>
        <p:spPr/>
        <p:txBody>
          <a:bodyPr/>
          <a:lstStyle/>
          <a:p>
            <a:fld id="{893A27CD-D406-492E-A632-D285B7EF3DB9}" type="datetimeFigureOut">
              <a:rPr lang="en-SG" smtClean="0"/>
              <a:t>12/2/2026</a:t>
            </a:fld>
            <a:endParaRPr lang="en-SG" dirty="0"/>
          </a:p>
        </p:txBody>
      </p:sp>
      <p:sp>
        <p:nvSpPr>
          <p:cNvPr id="6" name="Footer Placeholder 5"/>
          <p:cNvSpPr>
            <a:spLocks noGrp="1"/>
          </p:cNvSpPr>
          <p:nvPr>
            <p:ph type="ftr" sz="quarter" idx="11"/>
          </p:nvPr>
        </p:nvSpPr>
        <p:spPr/>
        <p:txBody>
          <a:bodyPr/>
          <a:lstStyle/>
          <a:p>
            <a:endParaRPr lang="en-SG" dirty="0"/>
          </a:p>
        </p:txBody>
      </p:sp>
      <p:sp>
        <p:nvSpPr>
          <p:cNvPr id="7" name="Slide Number Placeholder 6"/>
          <p:cNvSpPr>
            <a:spLocks noGrp="1"/>
          </p:cNvSpPr>
          <p:nvPr>
            <p:ph type="sldNum" sz="quarter" idx="12"/>
          </p:nvPr>
        </p:nvSpPr>
        <p:spPr/>
        <p:txBody>
          <a:bodyPr/>
          <a:lstStyle/>
          <a:p>
            <a:fld id="{0A4EFB76-80FB-49C2-8B32-717DDA70F7AB}" type="slidenum">
              <a:rPr lang="en-SG" smtClean="0"/>
              <a:t>‹#›</a:t>
            </a:fld>
            <a:endParaRPr lang="en-SG" dirty="0"/>
          </a:p>
        </p:txBody>
      </p:sp>
      <p:cxnSp>
        <p:nvCxnSpPr>
          <p:cNvPr id="17" name="Straight Connector 16"/>
          <p:cNvCxnSpPr/>
          <p:nvPr/>
        </p:nvCxnSpPr>
        <p:spPr>
          <a:xfrm>
            <a:off x="1448280" y="3205491"/>
            <a:ext cx="3269490" cy="0"/>
          </a:xfrm>
          <a:prstGeom prst="line">
            <a:avLst/>
          </a:prstGeom>
          <a:ln w="31750"/>
        </p:spPr>
        <p:style>
          <a:lnRef idx="3">
            <a:schemeClr val="accent1"/>
          </a:lnRef>
          <a:fillRef idx="0">
            <a:schemeClr val="accent1"/>
          </a:fillRef>
          <a:effectRef idx="2">
            <a:schemeClr val="accent1"/>
          </a:effectRef>
          <a:fontRef idx="minor">
            <a:schemeClr val="tx1"/>
          </a:fontRef>
        </p:style>
      </p:cxnSp>
    </p:spTree>
    <p:extLst>
      <p:ext uri="{BB962C8B-B14F-4D97-AF65-F5344CB8AC3E}">
        <p14:creationId xmlns:p14="http://schemas.microsoft.com/office/powerpoint/2010/main" val="915060788"/>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grpSp>
        <p:nvGrpSpPr>
          <p:cNvPr id="8" name="Group 7"/>
          <p:cNvGrpSpPr/>
          <p:nvPr/>
        </p:nvGrpSpPr>
        <p:grpSpPr>
          <a:xfrm>
            <a:off x="7477387" y="482170"/>
            <a:ext cx="4074533" cy="5149101"/>
            <a:chOff x="7477387" y="482170"/>
            <a:chExt cx="4074533" cy="5149101"/>
          </a:xfrm>
        </p:grpSpPr>
        <p:sp>
          <p:nvSpPr>
            <p:cNvPr id="18" name="Rectangle 17"/>
            <p:cNvSpPr/>
            <p:nvPr/>
          </p:nvSpPr>
          <p:spPr bwMode="black">
            <a:xfrm>
              <a:off x="7477387" y="482170"/>
              <a:ext cx="4074533" cy="5149101"/>
            </a:xfrm>
            <a:prstGeom prst="rect">
              <a:avLst/>
            </a:prstGeom>
            <a:gradFill>
              <a:gsLst>
                <a:gs pos="0">
                  <a:srgbClr val="000001"/>
                </a:gs>
                <a:gs pos="100000">
                  <a:srgbClr val="191919"/>
                </a:gs>
              </a:gsLst>
            </a:gradFill>
            <a:ln w="76200" cmpd="sng">
              <a:noFill/>
              <a:miter lim="800000"/>
            </a:ln>
            <a:effectLst>
              <a:outerShdw blurRad="127000" dist="228600" dir="4740000" sx="98000" sy="98000" algn="tl" rotWithShape="0">
                <a:srgbClr val="000000">
                  <a:alpha val="34000"/>
                </a:srgbClr>
              </a:outerShdw>
            </a:effectLst>
            <a:scene3d>
              <a:camera prst="orthographicFront"/>
              <a:lightRig rig="threePt" dir="t"/>
            </a:scene3d>
            <a:sp3d>
              <a:bevelT w="152400" h="50800" prst="softRound"/>
            </a:sp3d>
          </p:spPr>
          <p:style>
            <a:lnRef idx="1">
              <a:schemeClr val="accent1"/>
            </a:lnRef>
            <a:fillRef idx="3">
              <a:schemeClr val="accent1"/>
            </a:fillRef>
            <a:effectRef idx="2">
              <a:schemeClr val="accent1"/>
            </a:effectRef>
            <a:fontRef idx="minor">
              <a:schemeClr val="lt1"/>
            </a:fontRef>
          </p:style>
          <p:txBody>
            <a:bodyPr/>
            <a:lstStyle/>
            <a:p>
              <a:endParaRPr lang="en-SG" dirty="0"/>
            </a:p>
          </p:txBody>
        </p:sp>
        <p:sp>
          <p:nvSpPr>
            <p:cNvPr id="19" name="Rectangle 18"/>
            <p:cNvSpPr/>
            <p:nvPr/>
          </p:nvSpPr>
          <p:spPr bwMode="blackWhite">
            <a:xfrm>
              <a:off x="7790446" y="812506"/>
              <a:ext cx="3450289" cy="4466452"/>
            </a:xfrm>
            <a:prstGeom prst="rect">
              <a:avLst/>
            </a:prstGeom>
            <a:gradFill>
              <a:gsLst>
                <a:gs pos="0">
                  <a:srgbClr val="DADADA"/>
                </a:gs>
                <a:gs pos="100000">
                  <a:srgbClr val="FFFFFE"/>
                </a:gs>
              </a:gsLst>
              <a:lin ang="16200000" scaled="0"/>
            </a:gradFill>
            <a:ln w="50800" cmpd="sng">
              <a:solidFill>
                <a:srgbClr val="191919"/>
              </a:solidFill>
              <a:miter lim="800000"/>
            </a:ln>
            <a:effectLst>
              <a:innerShdw blurRad="63500" dist="88900" dir="14100000">
                <a:srgbClr val="000000">
                  <a:alpha val="30000"/>
                </a:srgbClr>
              </a:innerShdw>
            </a:effectLst>
            <a:scene3d>
              <a:camera prst="orthographicFront"/>
              <a:lightRig rig="threePt" dir="t"/>
            </a:scene3d>
            <a:sp3d>
              <a:bevelT prst="relaxedInset"/>
            </a:sp3d>
          </p:spPr>
          <p:style>
            <a:lnRef idx="1">
              <a:schemeClr val="accent1"/>
            </a:lnRef>
            <a:fillRef idx="3">
              <a:schemeClr val="accent1"/>
            </a:fillRef>
            <a:effectRef idx="2">
              <a:schemeClr val="accent1"/>
            </a:effectRef>
            <a:fontRef idx="minor">
              <a:schemeClr val="lt1"/>
            </a:fontRef>
          </p:style>
          <p:txBody>
            <a:bodyPr/>
            <a:lstStyle/>
            <a:p>
              <a:endParaRPr lang="en-SG" dirty="0"/>
            </a:p>
          </p:txBody>
        </p:sp>
      </p:grpSp>
      <p:sp>
        <p:nvSpPr>
          <p:cNvPr id="2" name="Title 1"/>
          <p:cNvSpPr>
            <a:spLocks noGrp="1"/>
          </p:cNvSpPr>
          <p:nvPr>
            <p:ph type="title"/>
          </p:nvPr>
        </p:nvSpPr>
        <p:spPr>
          <a:xfrm>
            <a:off x="1451206" y="1129513"/>
            <a:ext cx="5532328" cy="1830584"/>
          </a:xfrm>
        </p:spPr>
        <p:txBody>
          <a:bodyPr anchor="b">
            <a:normAutofit/>
          </a:bodyPr>
          <a:lstStyle>
            <a:lvl1pPr>
              <a:defRPr sz="3200"/>
            </a:lvl1pPr>
          </a:lstStyle>
          <a:p>
            <a:r>
              <a:rPr lang="en-US"/>
              <a:t>Click to edit Master title style</a:t>
            </a:r>
            <a:endParaRPr lang="en-US" dirty="0"/>
          </a:p>
        </p:txBody>
      </p:sp>
      <p:sp>
        <p:nvSpPr>
          <p:cNvPr id="3" name="Picture Placeholder 2"/>
          <p:cNvSpPr>
            <a:spLocks noGrp="1" noChangeAspect="1"/>
          </p:cNvSpPr>
          <p:nvPr>
            <p:ph type="pic" idx="1"/>
          </p:nvPr>
        </p:nvSpPr>
        <p:spPr>
          <a:xfrm>
            <a:off x="8124389" y="1122542"/>
            <a:ext cx="2791171" cy="3866327"/>
          </a:xfrm>
          <a:solidFill>
            <a:schemeClr val="bg1">
              <a:lumMod val="85000"/>
            </a:schemeClr>
          </a:solidFill>
          <a:ln w="9525" cap="sq">
            <a:noFill/>
            <a:miter lim="800000"/>
          </a:ln>
          <a:effectLst/>
        </p:spPr>
        <p:txBody>
          <a:bodyPr anchor="t"/>
          <a:lstStyle>
            <a:lvl1pPr marL="0" indent="0" algn="ctr">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r>
              <a:rPr lang="en-US" dirty="0"/>
              <a:t>Click icon to add picture</a:t>
            </a:r>
          </a:p>
        </p:txBody>
      </p:sp>
      <p:sp>
        <p:nvSpPr>
          <p:cNvPr id="4" name="Text Placeholder 3"/>
          <p:cNvSpPr>
            <a:spLocks noGrp="1"/>
          </p:cNvSpPr>
          <p:nvPr>
            <p:ph type="body" sz="half" idx="2"/>
          </p:nvPr>
        </p:nvSpPr>
        <p:spPr>
          <a:xfrm>
            <a:off x="1450329" y="3145992"/>
            <a:ext cx="5524404" cy="2003742"/>
          </a:xfrm>
        </p:spPr>
        <p:txBody>
          <a:bodyPr>
            <a:normAutofit/>
          </a:bodyPr>
          <a:lstStyle>
            <a:lvl1pPr marL="0" indent="0" algn="l">
              <a:buNone/>
              <a:defRPr sz="18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a:t>Click to edit Master text styles</a:t>
            </a:r>
          </a:p>
        </p:txBody>
      </p:sp>
      <p:sp>
        <p:nvSpPr>
          <p:cNvPr id="5" name="Date Placeholder 4"/>
          <p:cNvSpPr>
            <a:spLocks noGrp="1"/>
          </p:cNvSpPr>
          <p:nvPr>
            <p:ph type="dt" sz="half" idx="10"/>
          </p:nvPr>
        </p:nvSpPr>
        <p:spPr>
          <a:xfrm>
            <a:off x="1447382" y="5469856"/>
            <a:ext cx="5527351" cy="320123"/>
          </a:xfrm>
        </p:spPr>
        <p:txBody>
          <a:bodyPr/>
          <a:lstStyle>
            <a:lvl1pPr algn="l">
              <a:defRPr/>
            </a:lvl1pPr>
          </a:lstStyle>
          <a:p>
            <a:fld id="{893A27CD-D406-492E-A632-D285B7EF3DB9}" type="datetimeFigureOut">
              <a:rPr lang="en-SG" smtClean="0"/>
              <a:t>12/2/2026</a:t>
            </a:fld>
            <a:endParaRPr lang="en-SG" dirty="0"/>
          </a:p>
        </p:txBody>
      </p:sp>
      <p:sp>
        <p:nvSpPr>
          <p:cNvPr id="6" name="Footer Placeholder 5"/>
          <p:cNvSpPr>
            <a:spLocks noGrp="1"/>
          </p:cNvSpPr>
          <p:nvPr>
            <p:ph type="ftr" sz="quarter" idx="11"/>
          </p:nvPr>
        </p:nvSpPr>
        <p:spPr>
          <a:xfrm>
            <a:off x="1447382" y="318640"/>
            <a:ext cx="5541004" cy="320931"/>
          </a:xfrm>
        </p:spPr>
        <p:txBody>
          <a:bodyPr/>
          <a:lstStyle/>
          <a:p>
            <a:endParaRPr lang="en-SG" dirty="0"/>
          </a:p>
        </p:txBody>
      </p:sp>
      <p:sp>
        <p:nvSpPr>
          <p:cNvPr id="7" name="Slide Number Placeholder 6"/>
          <p:cNvSpPr>
            <a:spLocks noGrp="1"/>
          </p:cNvSpPr>
          <p:nvPr>
            <p:ph type="sldNum" sz="quarter" idx="12"/>
          </p:nvPr>
        </p:nvSpPr>
        <p:spPr/>
        <p:txBody>
          <a:bodyPr/>
          <a:lstStyle/>
          <a:p>
            <a:fld id="{0A4EFB76-80FB-49C2-8B32-717DDA70F7AB}" type="slidenum">
              <a:rPr lang="en-SG" smtClean="0"/>
              <a:t>‹#›</a:t>
            </a:fld>
            <a:endParaRPr lang="en-SG" dirty="0"/>
          </a:p>
        </p:txBody>
      </p:sp>
      <p:cxnSp>
        <p:nvCxnSpPr>
          <p:cNvPr id="31" name="Straight Connector 30"/>
          <p:cNvCxnSpPr/>
          <p:nvPr/>
        </p:nvCxnSpPr>
        <p:spPr>
          <a:xfrm>
            <a:off x="1447382" y="3143605"/>
            <a:ext cx="5527351" cy="0"/>
          </a:xfrm>
          <a:prstGeom prst="line">
            <a:avLst/>
          </a:prstGeom>
          <a:ln w="31750"/>
        </p:spPr>
        <p:style>
          <a:lnRef idx="3">
            <a:schemeClr val="accent1"/>
          </a:lnRef>
          <a:fillRef idx="0">
            <a:schemeClr val="accent1"/>
          </a:fillRef>
          <a:effectRef idx="2">
            <a:schemeClr val="accent1"/>
          </a:effectRef>
          <a:fontRef idx="minor">
            <a:schemeClr val="tx1"/>
          </a:fontRef>
        </p:style>
      </p:cxnSp>
    </p:spTree>
    <p:extLst>
      <p:ext uri="{BB962C8B-B14F-4D97-AF65-F5344CB8AC3E}">
        <p14:creationId xmlns:p14="http://schemas.microsoft.com/office/powerpoint/2010/main" val="3234535382"/>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endParaRPr lang="en-US" dirty="0"/>
          </a:p>
        </p:txBody>
      </p:sp>
      <p:sp>
        <p:nvSpPr>
          <p:cNvPr id="3" name="Vertical Text Placeholder 2"/>
          <p:cNvSpPr>
            <a:spLocks noGrp="1"/>
          </p:cNvSpPr>
          <p:nvPr>
            <p:ph type="body" orient="vert" idx="1"/>
          </p:nvPr>
        </p:nvSpPr>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4" name="Date Placeholder 3"/>
          <p:cNvSpPr>
            <a:spLocks noGrp="1"/>
          </p:cNvSpPr>
          <p:nvPr>
            <p:ph type="dt" sz="half" idx="10"/>
          </p:nvPr>
        </p:nvSpPr>
        <p:spPr/>
        <p:txBody>
          <a:bodyPr/>
          <a:lstStyle/>
          <a:p>
            <a:fld id="{893A27CD-D406-492E-A632-D285B7EF3DB9}" type="datetimeFigureOut">
              <a:rPr lang="en-SG" smtClean="0"/>
              <a:t>12/2/2026</a:t>
            </a:fld>
            <a:endParaRPr lang="en-SG" dirty="0"/>
          </a:p>
        </p:txBody>
      </p:sp>
      <p:sp>
        <p:nvSpPr>
          <p:cNvPr id="5" name="Footer Placeholder 4"/>
          <p:cNvSpPr>
            <a:spLocks noGrp="1"/>
          </p:cNvSpPr>
          <p:nvPr>
            <p:ph type="ftr" sz="quarter" idx="11"/>
          </p:nvPr>
        </p:nvSpPr>
        <p:spPr/>
        <p:txBody>
          <a:bodyPr/>
          <a:lstStyle/>
          <a:p>
            <a:endParaRPr lang="en-SG" dirty="0"/>
          </a:p>
        </p:txBody>
      </p:sp>
      <p:sp>
        <p:nvSpPr>
          <p:cNvPr id="6" name="Slide Number Placeholder 5"/>
          <p:cNvSpPr>
            <a:spLocks noGrp="1"/>
          </p:cNvSpPr>
          <p:nvPr>
            <p:ph type="sldNum" sz="quarter" idx="12"/>
          </p:nvPr>
        </p:nvSpPr>
        <p:spPr/>
        <p:txBody>
          <a:bodyPr/>
          <a:lstStyle/>
          <a:p>
            <a:fld id="{0A4EFB76-80FB-49C2-8B32-717DDA70F7AB}" type="slidenum">
              <a:rPr lang="en-SG" smtClean="0"/>
              <a:t>‹#›</a:t>
            </a:fld>
            <a:endParaRPr lang="en-SG" dirty="0"/>
          </a:p>
        </p:txBody>
      </p:sp>
      <p:cxnSp>
        <p:nvCxnSpPr>
          <p:cNvPr id="26" name="Straight Connector 25"/>
          <p:cNvCxnSpPr/>
          <p:nvPr/>
        </p:nvCxnSpPr>
        <p:spPr>
          <a:xfrm>
            <a:off x="1453896" y="1847088"/>
            <a:ext cx="9607522" cy="0"/>
          </a:xfrm>
          <a:prstGeom prst="line">
            <a:avLst/>
          </a:prstGeom>
          <a:ln w="31750"/>
        </p:spPr>
        <p:style>
          <a:lnRef idx="3">
            <a:schemeClr val="accent1"/>
          </a:lnRef>
          <a:fillRef idx="0">
            <a:schemeClr val="accent1"/>
          </a:fillRef>
          <a:effectRef idx="2">
            <a:schemeClr val="accent1"/>
          </a:effectRef>
          <a:fontRef idx="minor">
            <a:schemeClr val="tx1"/>
          </a:fontRef>
        </p:style>
      </p:cxnSp>
    </p:spTree>
    <p:extLst>
      <p:ext uri="{BB962C8B-B14F-4D97-AF65-F5344CB8AC3E}">
        <p14:creationId xmlns:p14="http://schemas.microsoft.com/office/powerpoint/2010/main" val="3879148583"/>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9439111" y="798973"/>
            <a:ext cx="1615742" cy="4659889"/>
          </a:xfrm>
        </p:spPr>
        <p:txBody>
          <a:bodyPr vert="eaVert"/>
          <a:lstStyle>
            <a:lvl1pPr algn="l">
              <a:defRPr/>
            </a:lvl1pPr>
          </a:lstStyle>
          <a:p>
            <a:r>
              <a:rPr lang="en-US"/>
              <a:t>Click to edit Master title style</a:t>
            </a:r>
            <a:endParaRPr lang="en-US" dirty="0"/>
          </a:p>
        </p:txBody>
      </p:sp>
      <p:sp>
        <p:nvSpPr>
          <p:cNvPr id="3" name="Vertical Text Placeholder 2"/>
          <p:cNvSpPr>
            <a:spLocks noGrp="1"/>
          </p:cNvSpPr>
          <p:nvPr>
            <p:ph type="body" orient="vert" idx="1"/>
          </p:nvPr>
        </p:nvSpPr>
        <p:spPr>
          <a:xfrm>
            <a:off x="1444672" y="798973"/>
            <a:ext cx="7828830" cy="4659889"/>
          </a:xfrm>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4" name="Date Placeholder 3"/>
          <p:cNvSpPr>
            <a:spLocks noGrp="1"/>
          </p:cNvSpPr>
          <p:nvPr>
            <p:ph type="dt" sz="half" idx="10"/>
          </p:nvPr>
        </p:nvSpPr>
        <p:spPr/>
        <p:txBody>
          <a:bodyPr/>
          <a:lstStyle/>
          <a:p>
            <a:fld id="{893A27CD-D406-492E-A632-D285B7EF3DB9}" type="datetimeFigureOut">
              <a:rPr lang="en-SG" smtClean="0"/>
              <a:t>12/2/2026</a:t>
            </a:fld>
            <a:endParaRPr lang="en-SG" dirty="0"/>
          </a:p>
        </p:txBody>
      </p:sp>
      <p:sp>
        <p:nvSpPr>
          <p:cNvPr id="5" name="Footer Placeholder 4"/>
          <p:cNvSpPr>
            <a:spLocks noGrp="1"/>
          </p:cNvSpPr>
          <p:nvPr>
            <p:ph type="ftr" sz="quarter" idx="11"/>
          </p:nvPr>
        </p:nvSpPr>
        <p:spPr/>
        <p:txBody>
          <a:bodyPr/>
          <a:lstStyle/>
          <a:p>
            <a:endParaRPr lang="en-SG" dirty="0"/>
          </a:p>
        </p:txBody>
      </p:sp>
      <p:sp>
        <p:nvSpPr>
          <p:cNvPr id="6" name="Slide Number Placeholder 5"/>
          <p:cNvSpPr>
            <a:spLocks noGrp="1"/>
          </p:cNvSpPr>
          <p:nvPr>
            <p:ph type="sldNum" sz="quarter" idx="12"/>
          </p:nvPr>
        </p:nvSpPr>
        <p:spPr/>
        <p:txBody>
          <a:bodyPr/>
          <a:lstStyle/>
          <a:p>
            <a:fld id="{0A4EFB76-80FB-49C2-8B32-717DDA70F7AB}" type="slidenum">
              <a:rPr lang="en-SG" smtClean="0"/>
              <a:t>‹#›</a:t>
            </a:fld>
            <a:endParaRPr lang="en-SG" dirty="0"/>
          </a:p>
        </p:txBody>
      </p:sp>
      <p:cxnSp>
        <p:nvCxnSpPr>
          <p:cNvPr id="15" name="Straight Connector 14"/>
          <p:cNvCxnSpPr/>
          <p:nvPr/>
        </p:nvCxnSpPr>
        <p:spPr>
          <a:xfrm>
            <a:off x="9439111" y="798973"/>
            <a:ext cx="0" cy="4659889"/>
          </a:xfrm>
          <a:prstGeom prst="line">
            <a:avLst/>
          </a:prstGeom>
          <a:ln w="31750"/>
        </p:spPr>
        <p:style>
          <a:lnRef idx="3">
            <a:schemeClr val="accent1"/>
          </a:lnRef>
          <a:fillRef idx="0">
            <a:schemeClr val="accent1"/>
          </a:fillRef>
          <a:effectRef idx="2">
            <a:schemeClr val="accent1"/>
          </a:effectRef>
          <a:fontRef idx="minor">
            <a:schemeClr val="tx1"/>
          </a:fontRef>
        </p:style>
      </p:cxnSp>
    </p:spTree>
    <p:extLst>
      <p:ext uri="{BB962C8B-B14F-4D97-AF65-F5344CB8AC3E}">
        <p14:creationId xmlns:p14="http://schemas.microsoft.com/office/powerpoint/2010/main" val="3145426993"/>
      </p:ext>
    </p:extLst>
  </p:cSld>
  <p:clrMapOvr>
    <a:masterClrMapping/>
  </p:clrMapOvr>
</p:sldLayout>
</file>

<file path=ppt/slideMasters/_rels/slideMaster1.xml.rels><?xml version="1.0" encoding="UTF-8" standalone="yes"?>
<Relationships xmlns="http://schemas.openxmlformats.org/package/2006/relationships"><Relationship Id="rId8" Type="http://schemas.openxmlformats.org/officeDocument/2006/relationships/slideLayout" Target="../slideLayouts/slideLayout8.xml"/><Relationship Id="rId13" Type="http://schemas.openxmlformats.org/officeDocument/2006/relationships/image" Target="../media/image1.jpg"/><Relationship Id="rId3" Type="http://schemas.openxmlformats.org/officeDocument/2006/relationships/slideLayout" Target="../slideLayouts/slideLayout3.xml"/><Relationship Id="rId7" Type="http://schemas.openxmlformats.org/officeDocument/2006/relationships/slideLayout" Target="../slideLayouts/slideLayout7.xml"/><Relationship Id="rId12" Type="http://schemas.openxmlformats.org/officeDocument/2006/relationships/theme" Target="../theme/theme1.xml"/><Relationship Id="rId2" Type="http://schemas.openxmlformats.org/officeDocument/2006/relationships/slideLayout" Target="../slideLayouts/slideLayout2.xml"/><Relationship Id="rId1" Type="http://schemas.openxmlformats.org/officeDocument/2006/relationships/slideLayout" Target="../slideLayouts/slideLayout1.xml"/><Relationship Id="rId6" Type="http://schemas.openxmlformats.org/officeDocument/2006/relationships/slideLayout" Target="../slideLayouts/slideLayout6.xml"/><Relationship Id="rId11" Type="http://schemas.openxmlformats.org/officeDocument/2006/relationships/slideLayout" Target="../slideLayouts/slideLayout11.xml"/><Relationship Id="rId5" Type="http://schemas.openxmlformats.org/officeDocument/2006/relationships/slideLayout" Target="../slideLayouts/slideLayout5.xml"/><Relationship Id="rId10" Type="http://schemas.openxmlformats.org/officeDocument/2006/relationships/slideLayout" Target="../slideLayouts/slideLayout10.xml"/><Relationship Id="rId4" Type="http://schemas.openxmlformats.org/officeDocument/2006/relationships/slideLayout" Target="../slideLayouts/slideLayout4.xml"/><Relationship Id="rId9" Type="http://schemas.openxmlformats.org/officeDocument/2006/relationships/slideLayout" Target="../slideLayouts/slideLayout9.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3">
        <a:schemeClr val="bg2"/>
      </p:bgRef>
    </p:bg>
    <p:spTree>
      <p:nvGrpSpPr>
        <p:cNvPr id="1" name=""/>
        <p:cNvGrpSpPr/>
        <p:nvPr/>
      </p:nvGrpSpPr>
      <p:grpSpPr>
        <a:xfrm>
          <a:off x="0" y="0"/>
          <a:ext cx="0" cy="0"/>
          <a:chOff x="0" y="0"/>
          <a:chExt cx="0" cy="0"/>
        </a:xfrm>
      </p:grpSpPr>
      <p:sp>
        <p:nvSpPr>
          <p:cNvPr id="8" name="Rectangle 7"/>
          <p:cNvSpPr/>
          <p:nvPr/>
        </p:nvSpPr>
        <p:spPr>
          <a:xfrm>
            <a:off x="0" y="2019476"/>
            <a:ext cx="12192000" cy="4105941"/>
          </a:xfrm>
          <a:prstGeom prst="rect">
            <a:avLst/>
          </a:prstGeom>
          <a:gradFill flip="none" rotWithShape="1">
            <a:gsLst>
              <a:gs pos="0">
                <a:schemeClr val="bg2">
                  <a:alpha val="0"/>
                </a:schemeClr>
              </a:gs>
              <a:gs pos="100000">
                <a:schemeClr val="bg2"/>
              </a:gs>
            </a:gsLst>
            <a:lin ang="5400000" scaled="0"/>
            <a:tileRect/>
          </a:gradFill>
          <a:ln>
            <a:noFill/>
          </a:ln>
        </p:spPr>
        <p:style>
          <a:lnRef idx="2">
            <a:schemeClr val="accent1">
              <a:shade val="50000"/>
            </a:schemeClr>
          </a:lnRef>
          <a:fillRef idx="1">
            <a:schemeClr val="accent1"/>
          </a:fillRef>
          <a:effectRef idx="0">
            <a:schemeClr val="accent1"/>
          </a:effectRef>
          <a:fontRef idx="minor">
            <a:schemeClr val="lt1"/>
          </a:fontRef>
        </p:style>
        <p:txBody>
          <a:bodyPr/>
          <a:lstStyle/>
          <a:p>
            <a:endParaRPr lang="en-SG" dirty="0"/>
          </a:p>
        </p:txBody>
      </p:sp>
      <p:pic>
        <p:nvPicPr>
          <p:cNvPr id="7" name="Picture 6"/>
          <p:cNvPicPr>
            <a:picLocks noChangeAspect="1"/>
          </p:cNvPicPr>
          <p:nvPr/>
        </p:nvPicPr>
        <p:blipFill rotWithShape="1">
          <a:blip r:embed="rId13">
            <a:extLst>
              <a:ext uri="{28A0092B-C50C-407E-A947-70E740481C1C}">
                <a14:useLocalDpi xmlns:a14="http://schemas.microsoft.com/office/drawing/2010/main" val="0"/>
              </a:ext>
            </a:extLst>
          </a:blip>
          <a:srcRect t="1538" b="-1538"/>
          <a:stretch/>
        </p:blipFill>
        <p:spPr bwMode="black">
          <a:xfrm>
            <a:off x="0" y="6126480"/>
            <a:ext cx="12192000" cy="742950"/>
          </a:xfrm>
          <a:prstGeom prst="rect">
            <a:avLst/>
          </a:prstGeom>
        </p:spPr>
      </p:pic>
      <p:sp>
        <p:nvSpPr>
          <p:cNvPr id="2" name="Title Placeholder 1"/>
          <p:cNvSpPr>
            <a:spLocks noGrp="1"/>
          </p:cNvSpPr>
          <p:nvPr>
            <p:ph type="title"/>
          </p:nvPr>
        </p:nvSpPr>
        <p:spPr>
          <a:xfrm>
            <a:off x="1451579" y="804519"/>
            <a:ext cx="9603275" cy="1049235"/>
          </a:xfrm>
          <a:prstGeom prst="rect">
            <a:avLst/>
          </a:prstGeom>
        </p:spPr>
        <p:txBody>
          <a:bodyPr vert="horz" lIns="91440" tIns="45720" rIns="91440" bIns="45720" rtlCol="0" anchor="t">
            <a:normAutofit/>
          </a:bodyPr>
          <a:lstStyle/>
          <a:p>
            <a:r>
              <a:rPr lang="en-US"/>
              <a:t>Click to edit Master title style</a:t>
            </a:r>
            <a:endParaRPr lang="en-US" dirty="0"/>
          </a:p>
        </p:txBody>
      </p:sp>
      <p:sp>
        <p:nvSpPr>
          <p:cNvPr id="3" name="Text Placeholder 2"/>
          <p:cNvSpPr>
            <a:spLocks noGrp="1"/>
          </p:cNvSpPr>
          <p:nvPr>
            <p:ph type="body" idx="1"/>
          </p:nvPr>
        </p:nvSpPr>
        <p:spPr>
          <a:xfrm>
            <a:off x="1451579" y="2015732"/>
            <a:ext cx="9603275" cy="3450613"/>
          </a:xfrm>
          <a:prstGeom prst="rect">
            <a:avLst/>
          </a:prstGeom>
        </p:spPr>
        <p:txBody>
          <a:bodyPr vert="horz" lIns="91440" tIns="45720" rIns="91440" bIns="45720" rtlCol="0">
            <a:norm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4" name="Date Placeholder 3"/>
          <p:cNvSpPr>
            <a:spLocks noGrp="1"/>
          </p:cNvSpPr>
          <p:nvPr>
            <p:ph type="dt" sz="half" idx="2"/>
          </p:nvPr>
        </p:nvSpPr>
        <p:spPr>
          <a:xfrm>
            <a:off x="7554138" y="330370"/>
            <a:ext cx="3500715" cy="309201"/>
          </a:xfrm>
          <a:prstGeom prst="rect">
            <a:avLst/>
          </a:prstGeom>
        </p:spPr>
        <p:txBody>
          <a:bodyPr vert="horz" lIns="91440" tIns="45720" rIns="91440" bIns="45720" rtlCol="0" anchor="ctr"/>
          <a:lstStyle>
            <a:lvl1pPr algn="r">
              <a:defRPr sz="1000">
                <a:solidFill>
                  <a:schemeClr val="tx1">
                    <a:tint val="75000"/>
                  </a:schemeClr>
                </a:solidFill>
              </a:defRPr>
            </a:lvl1pPr>
          </a:lstStyle>
          <a:p>
            <a:fld id="{893A27CD-D406-492E-A632-D285B7EF3DB9}" type="datetimeFigureOut">
              <a:rPr lang="en-SG" smtClean="0"/>
              <a:t>12/2/2026</a:t>
            </a:fld>
            <a:endParaRPr lang="en-SG" dirty="0"/>
          </a:p>
        </p:txBody>
      </p:sp>
      <p:sp>
        <p:nvSpPr>
          <p:cNvPr id="5" name="Footer Placeholder 4"/>
          <p:cNvSpPr>
            <a:spLocks noGrp="1"/>
          </p:cNvSpPr>
          <p:nvPr>
            <p:ph type="ftr" sz="quarter" idx="3"/>
          </p:nvPr>
        </p:nvSpPr>
        <p:spPr>
          <a:xfrm>
            <a:off x="1451579" y="329307"/>
            <a:ext cx="5938836" cy="309201"/>
          </a:xfrm>
          <a:prstGeom prst="rect">
            <a:avLst/>
          </a:prstGeom>
        </p:spPr>
        <p:txBody>
          <a:bodyPr vert="horz" lIns="91440" tIns="45720" rIns="91440" bIns="45720" rtlCol="0" anchor="ctr"/>
          <a:lstStyle>
            <a:lvl1pPr algn="l">
              <a:defRPr sz="1000">
                <a:solidFill>
                  <a:schemeClr val="tx1">
                    <a:tint val="75000"/>
                  </a:schemeClr>
                </a:solidFill>
              </a:defRPr>
            </a:lvl1pPr>
          </a:lstStyle>
          <a:p>
            <a:endParaRPr lang="en-SG" dirty="0"/>
          </a:p>
        </p:txBody>
      </p:sp>
      <p:sp>
        <p:nvSpPr>
          <p:cNvPr id="6" name="Slide Number Placeholder 5"/>
          <p:cNvSpPr>
            <a:spLocks noGrp="1"/>
          </p:cNvSpPr>
          <p:nvPr>
            <p:ph type="sldNum" sz="quarter" idx="4"/>
          </p:nvPr>
        </p:nvSpPr>
        <p:spPr>
          <a:xfrm>
            <a:off x="480060" y="798973"/>
            <a:ext cx="811019" cy="503578"/>
          </a:xfrm>
          <a:prstGeom prst="rect">
            <a:avLst/>
          </a:prstGeom>
        </p:spPr>
        <p:txBody>
          <a:bodyPr vert="horz" lIns="91440" tIns="45720" rIns="91440" bIns="45720" rtlCol="0" anchor="t"/>
          <a:lstStyle>
            <a:lvl1pPr algn="r">
              <a:defRPr sz="2800">
                <a:solidFill>
                  <a:schemeClr val="accent1"/>
                </a:solidFill>
              </a:defRPr>
            </a:lvl1pPr>
          </a:lstStyle>
          <a:p>
            <a:fld id="{0A4EFB76-80FB-49C2-8B32-717DDA70F7AB}" type="slidenum">
              <a:rPr lang="en-SG" smtClean="0"/>
              <a:t>‹#›</a:t>
            </a:fld>
            <a:endParaRPr lang="en-SG" dirty="0"/>
          </a:p>
        </p:txBody>
      </p:sp>
      <p:cxnSp>
        <p:nvCxnSpPr>
          <p:cNvPr id="10" name="Straight Connector 9"/>
          <p:cNvCxnSpPr/>
          <p:nvPr/>
        </p:nvCxnSpPr>
        <p:spPr>
          <a:xfrm>
            <a:off x="0" y="6128413"/>
            <a:ext cx="12192000" cy="0"/>
          </a:xfrm>
          <a:prstGeom prst="line">
            <a:avLst/>
          </a:prstGeom>
          <a:ln w="12700">
            <a:solidFill>
              <a:srgbClr val="000001">
                <a:alpha val="20000"/>
              </a:srgbClr>
            </a:solidFill>
          </a:ln>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1911553501"/>
      </p:ext>
    </p:extLst>
  </p:cSld>
  <p:clrMap bg1="lt1" tx1="dk1" bg2="lt2" tx2="dk2" accent1="accent1" accent2="accent2" accent3="accent3" accent4="accent4" accent5="accent5" accent6="accent6" hlink="hlink" folHlink="folHlink"/>
  <p:sldLayoutIdLst>
    <p:sldLayoutId id="2147483661" r:id="rId1"/>
    <p:sldLayoutId id="2147483662" r:id="rId2"/>
    <p:sldLayoutId id="2147483663" r:id="rId3"/>
    <p:sldLayoutId id="2147483664" r:id="rId4"/>
    <p:sldLayoutId id="2147483665" r:id="rId5"/>
    <p:sldLayoutId id="2147483666" r:id="rId6"/>
    <p:sldLayoutId id="2147483667" r:id="rId7"/>
    <p:sldLayoutId id="2147483668" r:id="rId8"/>
    <p:sldLayoutId id="2147483669" r:id="rId9"/>
    <p:sldLayoutId id="2147483670" r:id="rId10"/>
    <p:sldLayoutId id="2147483671" r:id="rId11"/>
  </p:sldLayoutIdLst>
  <p:txStyles>
    <p:titleStyle>
      <a:lvl1pPr algn="l" defTabSz="914400" rtl="0" eaLnBrk="1" latinLnBrk="0" hangingPunct="1">
        <a:lnSpc>
          <a:spcPct val="90000"/>
        </a:lnSpc>
        <a:spcBef>
          <a:spcPct val="0"/>
        </a:spcBef>
        <a:buNone/>
        <a:defRPr sz="3200" b="0" i="0" kern="1200" cap="all">
          <a:solidFill>
            <a:schemeClr val="tx1"/>
          </a:solidFill>
          <a:effectLst/>
          <a:latin typeface="+mj-lt"/>
          <a:ea typeface="+mj-ea"/>
          <a:cs typeface="+mj-cs"/>
        </a:defRPr>
      </a:lvl1pPr>
    </p:titleStyle>
    <p:bodyStyle>
      <a:lvl1pPr marL="228600" indent="-228600" algn="l" defTabSz="914400" rtl="0" eaLnBrk="1" latinLnBrk="0" hangingPunct="1">
        <a:lnSpc>
          <a:spcPct val="120000"/>
        </a:lnSpc>
        <a:spcBef>
          <a:spcPts val="1000"/>
        </a:spcBef>
        <a:buClr>
          <a:schemeClr val="accent1"/>
        </a:buClr>
        <a:buSzPct val="100000"/>
        <a:buFont typeface="Arial" panose="020B0604020202020204" pitchFamily="34" charset="0"/>
        <a:buChar char="•"/>
        <a:defRPr sz="2000" kern="1200">
          <a:solidFill>
            <a:schemeClr val="tx1"/>
          </a:solidFill>
          <a:effectLst/>
          <a:latin typeface="+mn-lt"/>
          <a:ea typeface="+mn-ea"/>
          <a:cs typeface="+mn-cs"/>
        </a:defRPr>
      </a:lvl1pPr>
      <a:lvl2pPr marL="685800" indent="-228600" algn="l" defTabSz="914400" rtl="0" eaLnBrk="1" latinLnBrk="0" hangingPunct="1">
        <a:lnSpc>
          <a:spcPct val="120000"/>
        </a:lnSpc>
        <a:spcBef>
          <a:spcPts val="500"/>
        </a:spcBef>
        <a:buClr>
          <a:schemeClr val="accent1"/>
        </a:buClr>
        <a:buSzPct val="100000"/>
        <a:buFont typeface="Arial" panose="020B0604020202020204" pitchFamily="34" charset="0"/>
        <a:buChar char="•"/>
        <a:defRPr sz="1800" kern="1200" cap="none" baseline="0">
          <a:solidFill>
            <a:schemeClr val="tx1"/>
          </a:solidFill>
          <a:effectLst/>
          <a:latin typeface="+mn-lt"/>
          <a:ea typeface="+mn-ea"/>
          <a:cs typeface="+mn-cs"/>
        </a:defRPr>
      </a:lvl2pPr>
      <a:lvl3pPr marL="1143000" indent="-228600" algn="l" defTabSz="914400" rtl="0" eaLnBrk="1" latinLnBrk="0" hangingPunct="1">
        <a:lnSpc>
          <a:spcPct val="120000"/>
        </a:lnSpc>
        <a:spcBef>
          <a:spcPts val="500"/>
        </a:spcBef>
        <a:buClr>
          <a:schemeClr val="accent1"/>
        </a:buClr>
        <a:buSzPct val="100000"/>
        <a:buFont typeface="Arial" panose="020B0604020202020204" pitchFamily="34" charset="0"/>
        <a:buChar char="•"/>
        <a:defRPr sz="1600" kern="1200">
          <a:solidFill>
            <a:schemeClr val="tx1"/>
          </a:solidFill>
          <a:effectLst/>
          <a:latin typeface="+mn-lt"/>
          <a:ea typeface="+mn-ea"/>
          <a:cs typeface="+mn-cs"/>
        </a:defRPr>
      </a:lvl3pPr>
      <a:lvl4pPr marL="1600200" indent="-228600" algn="l" defTabSz="914400" rtl="0" eaLnBrk="1" latinLnBrk="0" hangingPunct="1">
        <a:lnSpc>
          <a:spcPct val="120000"/>
        </a:lnSpc>
        <a:spcBef>
          <a:spcPts val="500"/>
        </a:spcBef>
        <a:buClr>
          <a:schemeClr val="accent1"/>
        </a:buClr>
        <a:buSzPct val="100000"/>
        <a:buFont typeface="Arial" panose="020B0604020202020204" pitchFamily="34" charset="0"/>
        <a:buChar char="•"/>
        <a:defRPr sz="1400" kern="1200" cap="none" baseline="0">
          <a:solidFill>
            <a:schemeClr val="tx1"/>
          </a:solidFill>
          <a:effectLst/>
          <a:latin typeface="+mn-lt"/>
          <a:ea typeface="+mn-ea"/>
          <a:cs typeface="+mn-cs"/>
        </a:defRPr>
      </a:lvl4pPr>
      <a:lvl5pPr marL="2057400" indent="-228600" algn="l" defTabSz="914400" rtl="0" eaLnBrk="1" latinLnBrk="0" hangingPunct="1">
        <a:lnSpc>
          <a:spcPct val="120000"/>
        </a:lnSpc>
        <a:spcBef>
          <a:spcPts val="500"/>
        </a:spcBef>
        <a:buClr>
          <a:schemeClr val="accent1"/>
        </a:buClr>
        <a:buSzPct val="100000"/>
        <a:buFont typeface="Arial" panose="020B0604020202020204" pitchFamily="34" charset="0"/>
        <a:buChar char="•"/>
        <a:defRPr sz="1200" kern="1200">
          <a:solidFill>
            <a:schemeClr val="tx1"/>
          </a:solidFill>
          <a:effectLst/>
          <a:latin typeface="+mn-lt"/>
          <a:ea typeface="+mn-ea"/>
          <a:cs typeface="+mn-cs"/>
        </a:defRPr>
      </a:lvl5pPr>
      <a:lvl6pPr marL="2514600" indent="-228600" algn="l" defTabSz="914400" rtl="0" eaLnBrk="1" latinLnBrk="0" hangingPunct="1">
        <a:lnSpc>
          <a:spcPct val="120000"/>
        </a:lnSpc>
        <a:spcBef>
          <a:spcPts val="500"/>
        </a:spcBef>
        <a:buClr>
          <a:schemeClr val="accent1"/>
        </a:buClr>
        <a:buSzPct val="100000"/>
        <a:buFont typeface="Arial" panose="020B0604020202020204" pitchFamily="34" charset="0"/>
        <a:buChar char="•"/>
        <a:defRPr sz="1200" kern="1200">
          <a:solidFill>
            <a:schemeClr val="tx1"/>
          </a:solidFill>
          <a:effectLst/>
          <a:latin typeface="+mn-lt"/>
          <a:ea typeface="+mn-ea"/>
          <a:cs typeface="+mn-cs"/>
        </a:defRPr>
      </a:lvl6pPr>
      <a:lvl7pPr marL="2971800" indent="-228600" algn="l" defTabSz="914400" rtl="0" eaLnBrk="1" latinLnBrk="0" hangingPunct="1">
        <a:lnSpc>
          <a:spcPct val="120000"/>
        </a:lnSpc>
        <a:spcBef>
          <a:spcPts val="500"/>
        </a:spcBef>
        <a:buClr>
          <a:schemeClr val="accent1"/>
        </a:buClr>
        <a:buSzPct val="100000"/>
        <a:buFont typeface="Arial" panose="020B0604020202020204" pitchFamily="34" charset="0"/>
        <a:buChar char="•"/>
        <a:defRPr sz="1200" kern="1200">
          <a:solidFill>
            <a:schemeClr val="tx1"/>
          </a:solidFill>
          <a:effectLst/>
          <a:latin typeface="+mn-lt"/>
          <a:ea typeface="+mn-ea"/>
          <a:cs typeface="+mn-cs"/>
        </a:defRPr>
      </a:lvl7pPr>
      <a:lvl8pPr marL="3429000" indent="-228600" algn="l" defTabSz="914400" rtl="0" eaLnBrk="1" latinLnBrk="0" hangingPunct="1">
        <a:lnSpc>
          <a:spcPct val="120000"/>
        </a:lnSpc>
        <a:spcBef>
          <a:spcPts val="500"/>
        </a:spcBef>
        <a:buClr>
          <a:schemeClr val="accent1"/>
        </a:buClr>
        <a:buSzPct val="100000"/>
        <a:buFont typeface="Arial" panose="020B0604020202020204" pitchFamily="34" charset="0"/>
        <a:buChar char="•"/>
        <a:defRPr sz="1200" kern="1200" baseline="0">
          <a:solidFill>
            <a:schemeClr val="tx1"/>
          </a:solidFill>
          <a:effectLst/>
          <a:latin typeface="+mn-lt"/>
          <a:ea typeface="+mn-ea"/>
          <a:cs typeface="+mn-cs"/>
        </a:defRPr>
      </a:lvl8pPr>
      <a:lvl9pPr marL="3886200" indent="-228600" algn="l" defTabSz="914400" rtl="0" eaLnBrk="1" latinLnBrk="0" hangingPunct="1">
        <a:lnSpc>
          <a:spcPct val="120000"/>
        </a:lnSpc>
        <a:spcBef>
          <a:spcPts val="500"/>
        </a:spcBef>
        <a:buClr>
          <a:schemeClr val="accent1"/>
        </a:buClr>
        <a:buSzPct val="100000"/>
        <a:buFont typeface="Arial" panose="020B0604020202020204" pitchFamily="34" charset="0"/>
        <a:buChar char="•"/>
        <a:defRPr sz="1200" kern="1200" baseline="0">
          <a:solidFill>
            <a:schemeClr val="tx1"/>
          </a:solidFill>
          <a:effectLst/>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2" Type="http://schemas.openxmlformats.org/officeDocument/2006/relationships/notesSlide" Target="../notesSlides/notesSlide1.xml"/><Relationship Id="rId1" Type="http://schemas.openxmlformats.org/officeDocument/2006/relationships/slideLayout" Target="../slideLayouts/slideLayout2.xml"/></Relationships>
</file>

<file path=ppt/slides/_rels/slide2.xml.rels><?xml version="1.0" encoding="UTF-8" standalone="yes"?>
<Relationships xmlns="http://schemas.openxmlformats.org/package/2006/relationships"><Relationship Id="rId8" Type="http://schemas.openxmlformats.org/officeDocument/2006/relationships/hyperlink" Target="https://www.mof.gov.sg/budget-archives/" TargetMode="External"/><Relationship Id="rId3" Type="http://schemas.openxmlformats.org/officeDocument/2006/relationships/diagramData" Target="../diagrams/data1.xml"/><Relationship Id="rId7" Type="http://schemas.microsoft.com/office/2007/relationships/diagramDrawing" Target="../diagrams/drawing1.xml"/><Relationship Id="rId2" Type="http://schemas.openxmlformats.org/officeDocument/2006/relationships/notesSlide" Target="../notesSlides/notesSlide2.xml"/><Relationship Id="rId1" Type="http://schemas.openxmlformats.org/officeDocument/2006/relationships/slideLayout" Target="../slideLayouts/slideLayout2.xml"/><Relationship Id="rId6" Type="http://schemas.openxmlformats.org/officeDocument/2006/relationships/diagramColors" Target="../diagrams/colors1.xml"/><Relationship Id="rId5" Type="http://schemas.openxmlformats.org/officeDocument/2006/relationships/diagramQuickStyle" Target="../diagrams/quickStyle1.xml"/><Relationship Id="rId4" Type="http://schemas.openxmlformats.org/officeDocument/2006/relationships/diagramLayout" Target="../diagrams/layout1.xml"/></Relationships>
</file>

<file path=ppt/slides/_rels/slide3.xml.rels><?xml version="1.0" encoding="UTF-8" standalone="yes"?>
<Relationships xmlns="http://schemas.openxmlformats.org/package/2006/relationships"><Relationship Id="rId2" Type="http://schemas.openxmlformats.org/officeDocument/2006/relationships/notesSlide" Target="../notesSlides/notesSlide3.xml"/><Relationship Id="rId1" Type="http://schemas.openxmlformats.org/officeDocument/2006/relationships/slideLayout" Target="../slideLayouts/slideLayout2.xml"/></Relationships>
</file>

<file path=ppt/slides/_rels/slide4.xml.rels><?xml version="1.0" encoding="UTF-8" standalone="yes"?>
<Relationships xmlns="http://schemas.openxmlformats.org/package/2006/relationships"><Relationship Id="rId3" Type="http://schemas.openxmlformats.org/officeDocument/2006/relationships/hyperlink" Target="https://www.geeksforgeeks.org/nlp/what-is-bm25-best-matching-25-algorithm/" TargetMode="External"/><Relationship Id="rId2" Type="http://schemas.openxmlformats.org/officeDocument/2006/relationships/notesSlide" Target="../notesSlides/notesSlide4.xml"/><Relationship Id="rId1" Type="http://schemas.openxmlformats.org/officeDocument/2006/relationships/slideLayout" Target="../slideLayouts/slideLayout2.xml"/></Relationships>
</file>

<file path=ppt/slides/_rels/slide5.xml.rels><?xml version="1.0" encoding="UTF-8" standalone="yes"?>
<Relationships xmlns="http://schemas.openxmlformats.org/package/2006/relationships"><Relationship Id="rId2" Type="http://schemas.openxmlformats.org/officeDocument/2006/relationships/notesSlide" Target="../notesSlides/notesSlide5.xml"/><Relationship Id="rId1" Type="http://schemas.openxmlformats.org/officeDocument/2006/relationships/slideLayout" Target="../slideLayouts/slideLayout2.xml"/></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B950B568-3D68-8D61-05D8-A8407D0058C8}"/>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60B52F57-1FBB-0E94-1291-76DFAD19A0D7}"/>
              </a:ext>
            </a:extLst>
          </p:cNvPr>
          <p:cNvSpPr>
            <a:spLocks noGrp="1"/>
          </p:cNvSpPr>
          <p:nvPr>
            <p:ph type="title"/>
          </p:nvPr>
        </p:nvSpPr>
        <p:spPr/>
        <p:txBody>
          <a:bodyPr/>
          <a:lstStyle/>
          <a:p>
            <a:r>
              <a:rPr lang="en-SG" dirty="0"/>
              <a:t>System Architecture</a:t>
            </a:r>
          </a:p>
        </p:txBody>
      </p:sp>
      <p:sp>
        <p:nvSpPr>
          <p:cNvPr id="20" name="TextBox 19">
            <a:extLst>
              <a:ext uri="{FF2B5EF4-FFF2-40B4-BE49-F238E27FC236}">
                <a16:creationId xmlns:a16="http://schemas.microsoft.com/office/drawing/2014/main" id="{6763D794-7DB9-06CD-DC30-A361231CCAE6}"/>
              </a:ext>
            </a:extLst>
          </p:cNvPr>
          <p:cNvSpPr txBox="1"/>
          <p:nvPr/>
        </p:nvSpPr>
        <p:spPr>
          <a:xfrm>
            <a:off x="1451579" y="1469398"/>
            <a:ext cx="4329878" cy="369332"/>
          </a:xfrm>
          <a:prstGeom prst="rect">
            <a:avLst/>
          </a:prstGeom>
          <a:noFill/>
        </p:spPr>
        <p:txBody>
          <a:bodyPr wrap="square" rtlCol="0">
            <a:spAutoFit/>
          </a:bodyPr>
          <a:lstStyle/>
          <a:p>
            <a:r>
              <a:rPr lang="en-SG" dirty="0"/>
              <a:t>Scope &amp; Non-Goals</a:t>
            </a:r>
          </a:p>
        </p:txBody>
      </p:sp>
      <p:sp>
        <p:nvSpPr>
          <p:cNvPr id="15" name="TextBox 14">
            <a:extLst>
              <a:ext uri="{FF2B5EF4-FFF2-40B4-BE49-F238E27FC236}">
                <a16:creationId xmlns:a16="http://schemas.microsoft.com/office/drawing/2014/main" id="{30796149-1FFC-2ADD-4D58-43803AADFE5B}"/>
              </a:ext>
            </a:extLst>
          </p:cNvPr>
          <p:cNvSpPr txBox="1"/>
          <p:nvPr/>
        </p:nvSpPr>
        <p:spPr>
          <a:xfrm>
            <a:off x="1382842" y="2045391"/>
            <a:ext cx="9603275" cy="3693319"/>
          </a:xfrm>
          <a:prstGeom prst="rect">
            <a:avLst/>
          </a:prstGeom>
          <a:noFill/>
        </p:spPr>
        <p:txBody>
          <a:bodyPr wrap="square">
            <a:spAutoFit/>
          </a:bodyPr>
          <a:lstStyle/>
          <a:p>
            <a:r>
              <a:rPr lang="en-SG" dirty="0"/>
              <a:t>This system focuses on answering one-shot queries by retrieving, summarize and cite from publicly available Singapore Budget documents after normalization to text. </a:t>
            </a:r>
          </a:p>
          <a:p>
            <a:endParaRPr lang="en-SG" dirty="0"/>
          </a:p>
          <a:p>
            <a:r>
              <a:rPr lang="en-SG" dirty="0"/>
              <a:t>Vision- or audio-only understanding without text conversion is out of scope. </a:t>
            </a:r>
          </a:p>
          <a:p>
            <a:endParaRPr lang="en-SG" dirty="0"/>
          </a:p>
          <a:p>
            <a:r>
              <a:rPr lang="en-SG" dirty="0"/>
              <a:t>Structured financial modelling, tabular computation, and chart-level numerical synthesis are also out of scope, as the primary goal is to evaluate the effectiveness of RAG and agentic orchestration for grounded understanding of unstructured policy narratives.</a:t>
            </a:r>
          </a:p>
          <a:p>
            <a:endParaRPr lang="en-SG" dirty="0"/>
          </a:p>
          <a:p>
            <a:r>
              <a:rPr lang="en-SG" dirty="0"/>
              <a:t>Potential extensions could incorporate structured extraction (e.g. to build Financials datasets), more focus on reasoning and analysis (numerical, narrative) covering policy and financial, but are intentionally excluded here to isolate and evaluate RAG-LLM grounding and agentic control behaviours.</a:t>
            </a:r>
          </a:p>
        </p:txBody>
      </p:sp>
    </p:spTree>
    <p:extLst>
      <p:ext uri="{BB962C8B-B14F-4D97-AF65-F5344CB8AC3E}">
        <p14:creationId xmlns:p14="http://schemas.microsoft.com/office/powerpoint/2010/main" val="1787687128"/>
      </p:ext>
    </p:extLst>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273E5E70-07E2-45A3-59BF-F7CFEB06BA70}"/>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F5359C7E-B272-A9F4-2BDF-FF0362F8F965}"/>
              </a:ext>
            </a:extLst>
          </p:cNvPr>
          <p:cNvSpPr>
            <a:spLocks noGrp="1"/>
          </p:cNvSpPr>
          <p:nvPr>
            <p:ph type="title"/>
          </p:nvPr>
        </p:nvSpPr>
        <p:spPr/>
        <p:txBody>
          <a:bodyPr/>
          <a:lstStyle/>
          <a:p>
            <a:r>
              <a:rPr lang="en-SG" dirty="0"/>
              <a:t>System Architecture</a:t>
            </a:r>
          </a:p>
        </p:txBody>
      </p:sp>
      <p:sp>
        <p:nvSpPr>
          <p:cNvPr id="20" name="TextBox 19">
            <a:extLst>
              <a:ext uri="{FF2B5EF4-FFF2-40B4-BE49-F238E27FC236}">
                <a16:creationId xmlns:a16="http://schemas.microsoft.com/office/drawing/2014/main" id="{2A05987A-596F-4248-7D7F-63089B75FAEB}"/>
              </a:ext>
            </a:extLst>
          </p:cNvPr>
          <p:cNvSpPr txBox="1"/>
          <p:nvPr/>
        </p:nvSpPr>
        <p:spPr>
          <a:xfrm>
            <a:off x="1451579" y="1469398"/>
            <a:ext cx="4329878" cy="369332"/>
          </a:xfrm>
          <a:prstGeom prst="rect">
            <a:avLst/>
          </a:prstGeom>
          <a:noFill/>
        </p:spPr>
        <p:txBody>
          <a:bodyPr wrap="square" rtlCol="0">
            <a:spAutoFit/>
          </a:bodyPr>
          <a:lstStyle/>
          <a:p>
            <a:r>
              <a:rPr lang="en-SG" dirty="0"/>
              <a:t>SG Budgets RAG</a:t>
            </a:r>
          </a:p>
        </p:txBody>
      </p:sp>
      <p:graphicFrame>
        <p:nvGraphicFramePr>
          <p:cNvPr id="31" name="Content Placeholder 3">
            <a:extLst>
              <a:ext uri="{FF2B5EF4-FFF2-40B4-BE49-F238E27FC236}">
                <a16:creationId xmlns:a16="http://schemas.microsoft.com/office/drawing/2014/main" id="{AB879FA8-925F-2D2F-B039-858CFE6FBA7A}"/>
              </a:ext>
            </a:extLst>
          </p:cNvPr>
          <p:cNvGraphicFramePr>
            <a:graphicFrameLocks/>
          </p:cNvGraphicFramePr>
          <p:nvPr>
            <p:extLst>
              <p:ext uri="{D42A27DB-BD31-4B8C-83A1-F6EECF244321}">
                <p14:modId xmlns:p14="http://schemas.microsoft.com/office/powerpoint/2010/main" val="209407742"/>
              </p:ext>
            </p:extLst>
          </p:nvPr>
        </p:nvGraphicFramePr>
        <p:xfrm>
          <a:off x="587024" y="2193037"/>
          <a:ext cx="11435643" cy="3792609"/>
        </p:xfrm>
        <a:graphic>
          <a:graphicData uri="http://schemas.openxmlformats.org/drawingml/2006/diagram">
            <dgm:relIds xmlns:dgm="http://schemas.openxmlformats.org/drawingml/2006/diagram" xmlns:r="http://schemas.openxmlformats.org/officeDocument/2006/relationships" r:dm="rId3" r:lo="rId4" r:qs="rId5" r:cs="rId6"/>
          </a:graphicData>
        </a:graphic>
      </p:graphicFrame>
      <p:sp>
        <p:nvSpPr>
          <p:cNvPr id="33" name="TextBox 32">
            <a:extLst>
              <a:ext uri="{FF2B5EF4-FFF2-40B4-BE49-F238E27FC236}">
                <a16:creationId xmlns:a16="http://schemas.microsoft.com/office/drawing/2014/main" id="{830E1DE8-6EBE-944B-8E5D-AD63EB06EDA3}"/>
              </a:ext>
            </a:extLst>
          </p:cNvPr>
          <p:cNvSpPr txBox="1"/>
          <p:nvPr/>
        </p:nvSpPr>
        <p:spPr>
          <a:xfrm>
            <a:off x="1451579" y="1904789"/>
            <a:ext cx="9603275" cy="646331"/>
          </a:xfrm>
          <a:prstGeom prst="rect">
            <a:avLst/>
          </a:prstGeom>
          <a:noFill/>
        </p:spPr>
        <p:txBody>
          <a:bodyPr wrap="square" rtlCol="0">
            <a:spAutoFit/>
          </a:bodyPr>
          <a:lstStyle/>
          <a:p>
            <a:r>
              <a:rPr lang="en-SG" i="1" dirty="0"/>
              <a:t>Key Goal:  A single-question Q&amp;A interface (no chat history) grounded in Singapore Budget Statements,  Annex and Budget Round-Up Speeches from FY2016 – FY2025.</a:t>
            </a:r>
          </a:p>
        </p:txBody>
      </p:sp>
      <p:grpSp>
        <p:nvGrpSpPr>
          <p:cNvPr id="3" name="Group 2">
            <a:extLst>
              <a:ext uri="{FF2B5EF4-FFF2-40B4-BE49-F238E27FC236}">
                <a16:creationId xmlns:a16="http://schemas.microsoft.com/office/drawing/2014/main" id="{060E1F04-B61C-9582-9D44-15BED0E68DDC}"/>
              </a:ext>
            </a:extLst>
          </p:cNvPr>
          <p:cNvGrpSpPr/>
          <p:nvPr/>
        </p:nvGrpSpPr>
        <p:grpSpPr>
          <a:xfrm rot="16200000">
            <a:off x="9426998" y="5664002"/>
            <a:ext cx="383993" cy="200048"/>
            <a:chOff x="9272692" y="1547728"/>
            <a:chExt cx="370682" cy="433628"/>
          </a:xfrm>
        </p:grpSpPr>
        <p:sp>
          <p:nvSpPr>
            <p:cNvPr id="4" name="Arrow: Right 3">
              <a:extLst>
                <a:ext uri="{FF2B5EF4-FFF2-40B4-BE49-F238E27FC236}">
                  <a16:creationId xmlns:a16="http://schemas.microsoft.com/office/drawing/2014/main" id="{B65E4D5E-720A-AF11-9A30-D749EB030491}"/>
                </a:ext>
              </a:extLst>
            </p:cNvPr>
            <p:cNvSpPr/>
            <p:nvPr/>
          </p:nvSpPr>
          <p:spPr>
            <a:xfrm>
              <a:off x="9272692" y="1547728"/>
              <a:ext cx="370682" cy="433628"/>
            </a:xfrm>
            <a:prstGeom prst="rightArrow">
              <a:avLst>
                <a:gd name="adj1" fmla="val 60000"/>
                <a:gd name="adj2" fmla="val 50000"/>
              </a:avLst>
            </a:prstGeom>
          </p:spPr>
          <p:style>
            <a:lnRef idx="0">
              <a:schemeClr val="accent1">
                <a:tint val="60000"/>
                <a:hueOff val="0"/>
                <a:satOff val="0"/>
                <a:lumOff val="0"/>
                <a:alphaOff val="0"/>
              </a:schemeClr>
            </a:lnRef>
            <a:fillRef idx="1">
              <a:schemeClr val="accent1">
                <a:tint val="60000"/>
                <a:hueOff val="0"/>
                <a:satOff val="0"/>
                <a:lumOff val="0"/>
                <a:alphaOff val="0"/>
              </a:schemeClr>
            </a:fillRef>
            <a:effectRef idx="0">
              <a:schemeClr val="accent1">
                <a:tint val="60000"/>
                <a:hueOff val="0"/>
                <a:satOff val="0"/>
                <a:lumOff val="0"/>
                <a:alphaOff val="0"/>
              </a:schemeClr>
            </a:effectRef>
            <a:fontRef idx="minor">
              <a:schemeClr val="lt1"/>
            </a:fontRef>
          </p:style>
          <p:txBody>
            <a:bodyPr/>
            <a:lstStyle/>
            <a:p>
              <a:endParaRPr lang="en-SG" dirty="0"/>
            </a:p>
          </p:txBody>
        </p:sp>
        <p:sp>
          <p:nvSpPr>
            <p:cNvPr id="5" name="Arrow: Right 4">
              <a:extLst>
                <a:ext uri="{FF2B5EF4-FFF2-40B4-BE49-F238E27FC236}">
                  <a16:creationId xmlns:a16="http://schemas.microsoft.com/office/drawing/2014/main" id="{48AD26D9-592C-4306-5099-FE75FD19C990}"/>
                </a:ext>
              </a:extLst>
            </p:cNvPr>
            <p:cNvSpPr txBox="1"/>
            <p:nvPr/>
          </p:nvSpPr>
          <p:spPr>
            <a:xfrm>
              <a:off x="9272692" y="1634454"/>
              <a:ext cx="259477" cy="260176"/>
            </a:xfrm>
            <a:prstGeom prst="rect">
              <a:avLst/>
            </a:prstGeom>
          </p:spPr>
          <p:style>
            <a:lnRef idx="0">
              <a:scrgbClr r="0" g="0" b="0"/>
            </a:lnRef>
            <a:fillRef idx="0">
              <a:scrgbClr r="0" g="0" b="0"/>
            </a:fillRef>
            <a:effectRef idx="0">
              <a:scrgbClr r="0" g="0" b="0"/>
            </a:effectRef>
            <a:fontRef idx="minor">
              <a:schemeClr val="lt1"/>
            </a:fontRef>
          </p:style>
          <p:txBody>
            <a:bodyPr spcFirstLastPara="0" vert="horz" wrap="square" lIns="0" tIns="0" rIns="0" bIns="0" numCol="1" spcCol="1270" anchor="ctr" anchorCtr="0">
              <a:noAutofit/>
            </a:bodyPr>
            <a:lstStyle/>
            <a:p>
              <a:pPr marL="0" lvl="0" indent="0" algn="ctr" defTabSz="577850">
                <a:lnSpc>
                  <a:spcPct val="90000"/>
                </a:lnSpc>
                <a:spcBef>
                  <a:spcPct val="0"/>
                </a:spcBef>
                <a:spcAft>
                  <a:spcPct val="35000"/>
                </a:spcAft>
                <a:buNone/>
              </a:pPr>
              <a:endParaRPr lang="en-SG" sz="1300" kern="1200" dirty="0"/>
            </a:p>
          </p:txBody>
        </p:sp>
      </p:grpSp>
      <p:grpSp>
        <p:nvGrpSpPr>
          <p:cNvPr id="6" name="Group 5">
            <a:extLst>
              <a:ext uri="{FF2B5EF4-FFF2-40B4-BE49-F238E27FC236}">
                <a16:creationId xmlns:a16="http://schemas.microsoft.com/office/drawing/2014/main" id="{C37F2C80-C713-D88B-9A69-D147FABA2D6B}"/>
              </a:ext>
            </a:extLst>
          </p:cNvPr>
          <p:cNvGrpSpPr/>
          <p:nvPr/>
        </p:nvGrpSpPr>
        <p:grpSpPr>
          <a:xfrm>
            <a:off x="9310724" y="6053481"/>
            <a:ext cx="882711" cy="627331"/>
            <a:chOff x="0" y="0"/>
            <a:chExt cx="1153770" cy="692262"/>
          </a:xfrm>
        </p:grpSpPr>
        <p:sp>
          <p:nvSpPr>
            <p:cNvPr id="7" name="Rectangle: Rounded Corners 6">
              <a:extLst>
                <a:ext uri="{FF2B5EF4-FFF2-40B4-BE49-F238E27FC236}">
                  <a16:creationId xmlns:a16="http://schemas.microsoft.com/office/drawing/2014/main" id="{0387E5D5-FDF2-4861-E74B-881CFEAB9926}"/>
                </a:ext>
              </a:extLst>
            </p:cNvPr>
            <p:cNvSpPr/>
            <p:nvPr/>
          </p:nvSpPr>
          <p:spPr>
            <a:xfrm>
              <a:off x="0" y="0"/>
              <a:ext cx="1153770" cy="692262"/>
            </a:xfrm>
            <a:prstGeom prst="roundRect">
              <a:avLst>
                <a:gd name="adj" fmla="val 10000"/>
              </a:avLst>
            </a:prstGeom>
          </p:spPr>
          <p:style>
            <a:lnRef idx="2">
              <a:schemeClr val="lt1">
                <a:hueOff val="0"/>
                <a:satOff val="0"/>
                <a:lumOff val="0"/>
                <a:alphaOff val="0"/>
              </a:schemeClr>
            </a:lnRef>
            <a:fillRef idx="1">
              <a:schemeClr val="accent1">
                <a:hueOff val="0"/>
                <a:satOff val="0"/>
                <a:lumOff val="0"/>
                <a:alphaOff val="0"/>
              </a:schemeClr>
            </a:fillRef>
            <a:effectRef idx="0">
              <a:schemeClr val="accent1">
                <a:hueOff val="0"/>
                <a:satOff val="0"/>
                <a:lumOff val="0"/>
                <a:alphaOff val="0"/>
              </a:schemeClr>
            </a:effectRef>
            <a:fontRef idx="minor">
              <a:schemeClr val="lt1"/>
            </a:fontRef>
          </p:style>
          <p:txBody>
            <a:bodyPr/>
            <a:lstStyle/>
            <a:p>
              <a:endParaRPr lang="en-SG" dirty="0"/>
            </a:p>
          </p:txBody>
        </p:sp>
        <p:sp>
          <p:nvSpPr>
            <p:cNvPr id="8" name="Rectangle: Rounded Corners 4">
              <a:extLst>
                <a:ext uri="{FF2B5EF4-FFF2-40B4-BE49-F238E27FC236}">
                  <a16:creationId xmlns:a16="http://schemas.microsoft.com/office/drawing/2014/main" id="{7E3BA1AC-3B1B-CF43-A7EF-100C437D20F5}"/>
                </a:ext>
              </a:extLst>
            </p:cNvPr>
            <p:cNvSpPr txBox="1"/>
            <p:nvPr/>
          </p:nvSpPr>
          <p:spPr>
            <a:xfrm>
              <a:off x="20276" y="20276"/>
              <a:ext cx="1113218" cy="651710"/>
            </a:xfrm>
            <a:prstGeom prst="rect">
              <a:avLst/>
            </a:prstGeom>
          </p:spPr>
          <p:style>
            <a:lnRef idx="0">
              <a:scrgbClr r="0" g="0" b="0"/>
            </a:lnRef>
            <a:fillRef idx="0">
              <a:scrgbClr r="0" g="0" b="0"/>
            </a:fillRef>
            <a:effectRef idx="0">
              <a:scrgbClr r="0" g="0" b="0"/>
            </a:effectRef>
            <a:fontRef idx="minor">
              <a:schemeClr val="lt1"/>
            </a:fontRef>
          </p:style>
          <p:txBody>
            <a:bodyPr spcFirstLastPara="0" vert="horz" wrap="square" lIns="68580" tIns="68580" rIns="68580" bIns="68580" numCol="1" spcCol="1270" anchor="ctr" anchorCtr="0">
              <a:noAutofit/>
            </a:bodyPr>
            <a:lstStyle/>
            <a:p>
              <a:pPr marL="0" lvl="0" indent="0" algn="ctr" defTabSz="800100">
                <a:lnSpc>
                  <a:spcPct val="90000"/>
                </a:lnSpc>
                <a:spcBef>
                  <a:spcPct val="0"/>
                </a:spcBef>
                <a:spcAft>
                  <a:spcPct val="35000"/>
                </a:spcAft>
                <a:buNone/>
              </a:pPr>
              <a:r>
                <a:rPr lang="en-SG" sz="1600" dirty="0"/>
                <a:t>User</a:t>
              </a:r>
            </a:p>
            <a:p>
              <a:pPr marL="171450" lvl="0" indent="-171450" algn="ctr" defTabSz="800100">
                <a:lnSpc>
                  <a:spcPct val="90000"/>
                </a:lnSpc>
                <a:spcBef>
                  <a:spcPct val="0"/>
                </a:spcBef>
                <a:spcAft>
                  <a:spcPct val="35000"/>
                </a:spcAft>
                <a:buFont typeface="Arial" panose="020B0604020202020204" pitchFamily="34" charset="0"/>
                <a:buChar char="•"/>
              </a:pPr>
              <a:r>
                <a:rPr lang="en-SG" sz="1200" dirty="0"/>
                <a:t>API + UI</a:t>
              </a:r>
              <a:endParaRPr lang="en-SG" sz="1200" kern="1200" dirty="0"/>
            </a:p>
          </p:txBody>
        </p:sp>
      </p:grpSp>
      <p:grpSp>
        <p:nvGrpSpPr>
          <p:cNvPr id="9" name="Group 8">
            <a:extLst>
              <a:ext uri="{FF2B5EF4-FFF2-40B4-BE49-F238E27FC236}">
                <a16:creationId xmlns:a16="http://schemas.microsoft.com/office/drawing/2014/main" id="{0D29197C-C3E0-7FA4-8597-08EDF6687BF4}"/>
              </a:ext>
            </a:extLst>
          </p:cNvPr>
          <p:cNvGrpSpPr/>
          <p:nvPr/>
        </p:nvGrpSpPr>
        <p:grpSpPr>
          <a:xfrm rot="5400000">
            <a:off x="9700117" y="5675251"/>
            <a:ext cx="383995" cy="200049"/>
            <a:chOff x="9272692" y="1547728"/>
            <a:chExt cx="370682" cy="433628"/>
          </a:xfrm>
        </p:grpSpPr>
        <p:sp>
          <p:nvSpPr>
            <p:cNvPr id="10" name="Arrow: Right 9">
              <a:extLst>
                <a:ext uri="{FF2B5EF4-FFF2-40B4-BE49-F238E27FC236}">
                  <a16:creationId xmlns:a16="http://schemas.microsoft.com/office/drawing/2014/main" id="{5577A9EE-91A2-C4D2-A211-32E05BAE53EE}"/>
                </a:ext>
              </a:extLst>
            </p:cNvPr>
            <p:cNvSpPr/>
            <p:nvPr/>
          </p:nvSpPr>
          <p:spPr>
            <a:xfrm>
              <a:off x="9272692" y="1547728"/>
              <a:ext cx="370682" cy="433628"/>
            </a:xfrm>
            <a:prstGeom prst="rightArrow">
              <a:avLst>
                <a:gd name="adj1" fmla="val 60000"/>
                <a:gd name="adj2" fmla="val 50000"/>
              </a:avLst>
            </a:prstGeom>
          </p:spPr>
          <p:style>
            <a:lnRef idx="0">
              <a:schemeClr val="accent1">
                <a:tint val="60000"/>
                <a:hueOff val="0"/>
                <a:satOff val="0"/>
                <a:lumOff val="0"/>
                <a:alphaOff val="0"/>
              </a:schemeClr>
            </a:lnRef>
            <a:fillRef idx="1">
              <a:schemeClr val="accent1">
                <a:tint val="60000"/>
                <a:hueOff val="0"/>
                <a:satOff val="0"/>
                <a:lumOff val="0"/>
                <a:alphaOff val="0"/>
              </a:schemeClr>
            </a:fillRef>
            <a:effectRef idx="0">
              <a:schemeClr val="accent1">
                <a:tint val="60000"/>
                <a:hueOff val="0"/>
                <a:satOff val="0"/>
                <a:lumOff val="0"/>
                <a:alphaOff val="0"/>
              </a:schemeClr>
            </a:effectRef>
            <a:fontRef idx="minor">
              <a:schemeClr val="lt1"/>
            </a:fontRef>
          </p:style>
          <p:txBody>
            <a:bodyPr/>
            <a:lstStyle/>
            <a:p>
              <a:endParaRPr lang="en-SG" dirty="0"/>
            </a:p>
          </p:txBody>
        </p:sp>
        <p:sp>
          <p:nvSpPr>
            <p:cNvPr id="11" name="Arrow: Right 4">
              <a:extLst>
                <a:ext uri="{FF2B5EF4-FFF2-40B4-BE49-F238E27FC236}">
                  <a16:creationId xmlns:a16="http://schemas.microsoft.com/office/drawing/2014/main" id="{629B0C25-D41A-6765-F1F8-A5C4DCC9ECCE}"/>
                </a:ext>
              </a:extLst>
            </p:cNvPr>
            <p:cNvSpPr txBox="1"/>
            <p:nvPr/>
          </p:nvSpPr>
          <p:spPr>
            <a:xfrm>
              <a:off x="9272692" y="1634454"/>
              <a:ext cx="259477" cy="260176"/>
            </a:xfrm>
            <a:prstGeom prst="rect">
              <a:avLst/>
            </a:prstGeom>
          </p:spPr>
          <p:style>
            <a:lnRef idx="0">
              <a:scrgbClr r="0" g="0" b="0"/>
            </a:lnRef>
            <a:fillRef idx="0">
              <a:scrgbClr r="0" g="0" b="0"/>
            </a:fillRef>
            <a:effectRef idx="0">
              <a:scrgbClr r="0" g="0" b="0"/>
            </a:effectRef>
            <a:fontRef idx="minor">
              <a:schemeClr val="lt1"/>
            </a:fontRef>
          </p:style>
          <p:txBody>
            <a:bodyPr spcFirstLastPara="0" vert="horz" wrap="square" lIns="0" tIns="0" rIns="0" bIns="0" numCol="1" spcCol="1270" anchor="ctr" anchorCtr="0">
              <a:noAutofit/>
            </a:bodyPr>
            <a:lstStyle/>
            <a:p>
              <a:pPr marL="0" lvl="0" indent="0" algn="ctr" defTabSz="577850">
                <a:lnSpc>
                  <a:spcPct val="90000"/>
                </a:lnSpc>
                <a:spcBef>
                  <a:spcPct val="0"/>
                </a:spcBef>
                <a:spcAft>
                  <a:spcPct val="35000"/>
                </a:spcAft>
                <a:buNone/>
              </a:pPr>
              <a:endParaRPr lang="en-SG" sz="1300" kern="1200" dirty="0"/>
            </a:p>
          </p:txBody>
        </p:sp>
      </p:grpSp>
      <p:sp>
        <p:nvSpPr>
          <p:cNvPr id="12" name="Rectangle: Rounded Corners 11">
            <a:extLst>
              <a:ext uri="{FF2B5EF4-FFF2-40B4-BE49-F238E27FC236}">
                <a16:creationId xmlns:a16="http://schemas.microsoft.com/office/drawing/2014/main" id="{A1A281A4-7593-B0F8-E76E-6A017C269BF6}"/>
              </a:ext>
            </a:extLst>
          </p:cNvPr>
          <p:cNvSpPr/>
          <p:nvPr/>
        </p:nvSpPr>
        <p:spPr>
          <a:xfrm>
            <a:off x="5305778" y="2621130"/>
            <a:ext cx="6845983" cy="2875939"/>
          </a:xfrm>
          <a:prstGeom prst="roundRect">
            <a:avLst/>
          </a:prstGeom>
          <a:noFill/>
          <a:ln>
            <a:prstDash val="lgDash"/>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SG" dirty="0"/>
          </a:p>
        </p:txBody>
      </p:sp>
      <p:sp>
        <p:nvSpPr>
          <p:cNvPr id="14" name="TextBox 13">
            <a:extLst>
              <a:ext uri="{FF2B5EF4-FFF2-40B4-BE49-F238E27FC236}">
                <a16:creationId xmlns:a16="http://schemas.microsoft.com/office/drawing/2014/main" id="{CDF685A2-DDE9-2521-C6C6-1537FC0EF46F}"/>
              </a:ext>
            </a:extLst>
          </p:cNvPr>
          <p:cNvSpPr txBox="1"/>
          <p:nvPr/>
        </p:nvSpPr>
        <p:spPr>
          <a:xfrm>
            <a:off x="357412" y="5256011"/>
            <a:ext cx="2115569" cy="523220"/>
          </a:xfrm>
          <a:prstGeom prst="rect">
            <a:avLst/>
          </a:prstGeom>
          <a:noFill/>
        </p:spPr>
        <p:txBody>
          <a:bodyPr wrap="square">
            <a:spAutoFit/>
          </a:bodyPr>
          <a:lstStyle/>
          <a:p>
            <a:r>
              <a:rPr lang="en-SG" sz="1400" i="1" dirty="0">
                <a:solidFill>
                  <a:srgbClr val="0070C0"/>
                </a:solidFill>
                <a:hlinkClick r:id="rId8">
                  <a:extLst>
                    <a:ext uri="{A12FA001-AC4F-418D-AE19-62706E023703}">
                      <ahyp:hlinkClr xmlns:ahyp="http://schemas.microsoft.com/office/drawing/2018/hyperlinkcolor" val="tx"/>
                    </a:ext>
                  </a:extLst>
                </a:hlinkClick>
              </a:rPr>
              <a:t>Budget Archives | Ministry of Finance (MOF)</a:t>
            </a:r>
            <a:endParaRPr lang="en-SG" sz="1400" i="1" dirty="0">
              <a:solidFill>
                <a:srgbClr val="0070C0"/>
              </a:solidFill>
            </a:endParaRPr>
          </a:p>
        </p:txBody>
      </p:sp>
      <p:grpSp>
        <p:nvGrpSpPr>
          <p:cNvPr id="13" name="Group 12">
            <a:extLst>
              <a:ext uri="{FF2B5EF4-FFF2-40B4-BE49-F238E27FC236}">
                <a16:creationId xmlns:a16="http://schemas.microsoft.com/office/drawing/2014/main" id="{845F748F-418A-7132-FE81-A106F8540CF2}"/>
              </a:ext>
            </a:extLst>
          </p:cNvPr>
          <p:cNvGrpSpPr/>
          <p:nvPr/>
        </p:nvGrpSpPr>
        <p:grpSpPr>
          <a:xfrm>
            <a:off x="6257925" y="6071855"/>
            <a:ext cx="2935236" cy="627331"/>
            <a:chOff x="0" y="0"/>
            <a:chExt cx="1153770" cy="692262"/>
          </a:xfrm>
        </p:grpSpPr>
        <p:sp>
          <p:nvSpPr>
            <p:cNvPr id="15" name="Rectangle: Rounded Corners 14">
              <a:extLst>
                <a:ext uri="{FF2B5EF4-FFF2-40B4-BE49-F238E27FC236}">
                  <a16:creationId xmlns:a16="http://schemas.microsoft.com/office/drawing/2014/main" id="{A5F57974-6FD7-1EC4-F569-5E4BF1E07CB9}"/>
                </a:ext>
              </a:extLst>
            </p:cNvPr>
            <p:cNvSpPr/>
            <p:nvPr/>
          </p:nvSpPr>
          <p:spPr>
            <a:xfrm>
              <a:off x="0" y="0"/>
              <a:ext cx="1153770" cy="692262"/>
            </a:xfrm>
            <a:prstGeom prst="roundRect">
              <a:avLst>
                <a:gd name="adj" fmla="val 10000"/>
              </a:avLst>
            </a:prstGeom>
          </p:spPr>
          <p:style>
            <a:lnRef idx="2">
              <a:schemeClr val="lt1">
                <a:hueOff val="0"/>
                <a:satOff val="0"/>
                <a:lumOff val="0"/>
                <a:alphaOff val="0"/>
              </a:schemeClr>
            </a:lnRef>
            <a:fillRef idx="1">
              <a:schemeClr val="accent1">
                <a:hueOff val="0"/>
                <a:satOff val="0"/>
                <a:lumOff val="0"/>
                <a:alphaOff val="0"/>
              </a:schemeClr>
            </a:fillRef>
            <a:effectRef idx="0">
              <a:schemeClr val="accent1">
                <a:hueOff val="0"/>
                <a:satOff val="0"/>
                <a:lumOff val="0"/>
                <a:alphaOff val="0"/>
              </a:schemeClr>
            </a:effectRef>
            <a:fontRef idx="minor">
              <a:schemeClr val="lt1"/>
            </a:fontRef>
          </p:style>
          <p:txBody>
            <a:bodyPr/>
            <a:lstStyle/>
            <a:p>
              <a:endParaRPr lang="en-SG" dirty="0"/>
            </a:p>
          </p:txBody>
        </p:sp>
        <p:sp>
          <p:nvSpPr>
            <p:cNvPr id="16" name="Rectangle: Rounded Corners 4">
              <a:extLst>
                <a:ext uri="{FF2B5EF4-FFF2-40B4-BE49-F238E27FC236}">
                  <a16:creationId xmlns:a16="http://schemas.microsoft.com/office/drawing/2014/main" id="{1E46A179-BA8F-52F4-7F84-AC8CBCB1F705}"/>
                </a:ext>
              </a:extLst>
            </p:cNvPr>
            <p:cNvSpPr txBox="1"/>
            <p:nvPr/>
          </p:nvSpPr>
          <p:spPr>
            <a:xfrm>
              <a:off x="20276" y="20276"/>
              <a:ext cx="1113218" cy="651711"/>
            </a:xfrm>
            <a:prstGeom prst="rect">
              <a:avLst/>
            </a:prstGeom>
          </p:spPr>
          <p:style>
            <a:lnRef idx="0">
              <a:scrgbClr r="0" g="0" b="0"/>
            </a:lnRef>
            <a:fillRef idx="0">
              <a:scrgbClr r="0" g="0" b="0"/>
            </a:fillRef>
            <a:effectRef idx="0">
              <a:scrgbClr r="0" g="0" b="0"/>
            </a:effectRef>
            <a:fontRef idx="minor">
              <a:schemeClr val="lt1"/>
            </a:fontRef>
          </p:style>
          <p:txBody>
            <a:bodyPr spcFirstLastPara="0" vert="horz" wrap="square" lIns="68580" tIns="68580" rIns="68580" bIns="68580" numCol="1" spcCol="1270" anchor="ctr" anchorCtr="0">
              <a:noAutofit/>
            </a:bodyPr>
            <a:lstStyle/>
            <a:p>
              <a:pPr marL="0" lvl="0" indent="0" algn="ctr" defTabSz="800100">
                <a:lnSpc>
                  <a:spcPct val="90000"/>
                </a:lnSpc>
                <a:spcBef>
                  <a:spcPct val="0"/>
                </a:spcBef>
                <a:spcAft>
                  <a:spcPct val="35000"/>
                </a:spcAft>
                <a:buNone/>
              </a:pPr>
              <a:r>
                <a:rPr lang="en-SG" sz="1600" kern="1200" dirty="0">
                  <a:solidFill>
                    <a:schemeClr val="bg1"/>
                  </a:solidFill>
                </a:rPr>
                <a:t>Host App on Google Cloud Run</a:t>
              </a:r>
            </a:p>
            <a:p>
              <a:pPr marL="0" lvl="0" indent="0" algn="ctr" defTabSz="800100">
                <a:lnSpc>
                  <a:spcPct val="90000"/>
                </a:lnSpc>
                <a:spcBef>
                  <a:spcPct val="0"/>
                </a:spcBef>
                <a:spcAft>
                  <a:spcPct val="35000"/>
                </a:spcAft>
                <a:buNone/>
              </a:pPr>
              <a:r>
                <a:rPr lang="en-SG" sz="1600" kern="1200" dirty="0">
                  <a:solidFill>
                    <a:schemeClr val="bg1"/>
                  </a:solidFill>
                </a:rPr>
                <a:t>(</a:t>
              </a:r>
              <a:r>
                <a:rPr lang="en-SG" sz="1600" dirty="0">
                  <a:solidFill>
                    <a:schemeClr val="bg1"/>
                  </a:solidFill>
                </a:rPr>
                <a:t>Deploy with Docker</a:t>
              </a:r>
              <a:r>
                <a:rPr lang="en-SG" sz="1600" kern="1200" dirty="0">
                  <a:solidFill>
                    <a:schemeClr val="bg1"/>
                  </a:solidFill>
                </a:rPr>
                <a:t>)</a:t>
              </a:r>
              <a:endParaRPr lang="en-SG" sz="1200" kern="1200" dirty="0">
                <a:solidFill>
                  <a:schemeClr val="bg1"/>
                </a:solidFill>
              </a:endParaRPr>
            </a:p>
          </p:txBody>
        </p:sp>
      </p:grpSp>
    </p:spTree>
    <p:extLst>
      <p:ext uri="{BB962C8B-B14F-4D97-AF65-F5344CB8AC3E}">
        <p14:creationId xmlns:p14="http://schemas.microsoft.com/office/powerpoint/2010/main" val="2600875269"/>
      </p:ext>
    </p:extLst>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B43D1BB-048E-5EA5-A1B4-2655EEDDEEF6}"/>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D1DDB220-4882-72FC-7196-24F49053E2AE}"/>
              </a:ext>
            </a:extLst>
          </p:cNvPr>
          <p:cNvSpPr>
            <a:spLocks noGrp="1"/>
          </p:cNvSpPr>
          <p:nvPr>
            <p:ph type="title"/>
          </p:nvPr>
        </p:nvSpPr>
        <p:spPr/>
        <p:txBody>
          <a:bodyPr/>
          <a:lstStyle/>
          <a:p>
            <a:r>
              <a:rPr lang="en-SG" dirty="0"/>
              <a:t>System Architecture</a:t>
            </a:r>
          </a:p>
        </p:txBody>
      </p:sp>
      <p:grpSp>
        <p:nvGrpSpPr>
          <p:cNvPr id="3" name="Group 2">
            <a:extLst>
              <a:ext uri="{FF2B5EF4-FFF2-40B4-BE49-F238E27FC236}">
                <a16:creationId xmlns:a16="http://schemas.microsoft.com/office/drawing/2014/main" id="{92A38914-4CA0-AE8B-F9BE-463696675B1B}"/>
              </a:ext>
            </a:extLst>
          </p:cNvPr>
          <p:cNvGrpSpPr/>
          <p:nvPr/>
        </p:nvGrpSpPr>
        <p:grpSpPr>
          <a:xfrm>
            <a:off x="9082353" y="2178682"/>
            <a:ext cx="383993" cy="200048"/>
            <a:chOff x="9272692" y="1547728"/>
            <a:chExt cx="370682" cy="433628"/>
          </a:xfrm>
        </p:grpSpPr>
        <p:sp>
          <p:nvSpPr>
            <p:cNvPr id="4" name="Arrow: Right 3">
              <a:extLst>
                <a:ext uri="{FF2B5EF4-FFF2-40B4-BE49-F238E27FC236}">
                  <a16:creationId xmlns:a16="http://schemas.microsoft.com/office/drawing/2014/main" id="{B1337678-AD9E-CE07-8FF6-5C68C12B3B48}"/>
                </a:ext>
              </a:extLst>
            </p:cNvPr>
            <p:cNvSpPr/>
            <p:nvPr/>
          </p:nvSpPr>
          <p:spPr>
            <a:xfrm>
              <a:off x="9272692" y="1547728"/>
              <a:ext cx="370682" cy="433628"/>
            </a:xfrm>
            <a:prstGeom prst="rightArrow">
              <a:avLst>
                <a:gd name="adj1" fmla="val 60000"/>
                <a:gd name="adj2" fmla="val 50000"/>
              </a:avLst>
            </a:prstGeom>
          </p:spPr>
          <p:style>
            <a:lnRef idx="0">
              <a:schemeClr val="accent1">
                <a:tint val="60000"/>
                <a:hueOff val="0"/>
                <a:satOff val="0"/>
                <a:lumOff val="0"/>
                <a:alphaOff val="0"/>
              </a:schemeClr>
            </a:lnRef>
            <a:fillRef idx="1">
              <a:schemeClr val="accent1">
                <a:tint val="60000"/>
                <a:hueOff val="0"/>
                <a:satOff val="0"/>
                <a:lumOff val="0"/>
                <a:alphaOff val="0"/>
              </a:schemeClr>
            </a:fillRef>
            <a:effectRef idx="0">
              <a:schemeClr val="accent1">
                <a:tint val="60000"/>
                <a:hueOff val="0"/>
                <a:satOff val="0"/>
                <a:lumOff val="0"/>
                <a:alphaOff val="0"/>
              </a:schemeClr>
            </a:effectRef>
            <a:fontRef idx="minor">
              <a:schemeClr val="lt1"/>
            </a:fontRef>
          </p:style>
          <p:txBody>
            <a:bodyPr/>
            <a:lstStyle/>
            <a:p>
              <a:endParaRPr lang="en-SG" dirty="0"/>
            </a:p>
          </p:txBody>
        </p:sp>
        <p:sp>
          <p:nvSpPr>
            <p:cNvPr id="5" name="Arrow: Right 4">
              <a:extLst>
                <a:ext uri="{FF2B5EF4-FFF2-40B4-BE49-F238E27FC236}">
                  <a16:creationId xmlns:a16="http://schemas.microsoft.com/office/drawing/2014/main" id="{9DD2B8D4-0376-5140-1242-3822D94D9A9E}"/>
                </a:ext>
              </a:extLst>
            </p:cNvPr>
            <p:cNvSpPr txBox="1"/>
            <p:nvPr/>
          </p:nvSpPr>
          <p:spPr>
            <a:xfrm>
              <a:off x="9272692" y="1634454"/>
              <a:ext cx="259477" cy="260176"/>
            </a:xfrm>
            <a:prstGeom prst="rect">
              <a:avLst/>
            </a:prstGeom>
          </p:spPr>
          <p:style>
            <a:lnRef idx="0">
              <a:scrgbClr r="0" g="0" b="0"/>
            </a:lnRef>
            <a:fillRef idx="0">
              <a:scrgbClr r="0" g="0" b="0"/>
            </a:fillRef>
            <a:effectRef idx="0">
              <a:scrgbClr r="0" g="0" b="0"/>
            </a:effectRef>
            <a:fontRef idx="minor">
              <a:schemeClr val="lt1"/>
            </a:fontRef>
          </p:style>
          <p:txBody>
            <a:bodyPr spcFirstLastPara="0" vert="horz" wrap="square" lIns="0" tIns="0" rIns="0" bIns="0" numCol="1" spcCol="1270" anchor="ctr" anchorCtr="0">
              <a:noAutofit/>
            </a:bodyPr>
            <a:lstStyle/>
            <a:p>
              <a:pPr marL="0" lvl="0" indent="0" algn="ctr" defTabSz="577850">
                <a:lnSpc>
                  <a:spcPct val="90000"/>
                </a:lnSpc>
                <a:spcBef>
                  <a:spcPct val="0"/>
                </a:spcBef>
                <a:spcAft>
                  <a:spcPct val="35000"/>
                </a:spcAft>
                <a:buNone/>
              </a:pPr>
              <a:endParaRPr lang="en-SG" sz="1300" kern="1200" dirty="0"/>
            </a:p>
          </p:txBody>
        </p:sp>
      </p:grpSp>
      <p:grpSp>
        <p:nvGrpSpPr>
          <p:cNvPr id="6" name="Group 5">
            <a:extLst>
              <a:ext uri="{FF2B5EF4-FFF2-40B4-BE49-F238E27FC236}">
                <a16:creationId xmlns:a16="http://schemas.microsoft.com/office/drawing/2014/main" id="{04BE4E3A-366E-BD6A-56EA-226F5B6B9211}"/>
              </a:ext>
            </a:extLst>
          </p:cNvPr>
          <p:cNvGrpSpPr/>
          <p:nvPr/>
        </p:nvGrpSpPr>
        <p:grpSpPr>
          <a:xfrm>
            <a:off x="6726060" y="5804487"/>
            <a:ext cx="3118062" cy="941210"/>
            <a:chOff x="0" y="0"/>
            <a:chExt cx="1153770" cy="692262"/>
          </a:xfrm>
        </p:grpSpPr>
        <p:sp>
          <p:nvSpPr>
            <p:cNvPr id="7" name="Rectangle: Rounded Corners 6">
              <a:extLst>
                <a:ext uri="{FF2B5EF4-FFF2-40B4-BE49-F238E27FC236}">
                  <a16:creationId xmlns:a16="http://schemas.microsoft.com/office/drawing/2014/main" id="{CE89F097-43FE-4B06-C0BD-0ADDE5610CEB}"/>
                </a:ext>
              </a:extLst>
            </p:cNvPr>
            <p:cNvSpPr/>
            <p:nvPr/>
          </p:nvSpPr>
          <p:spPr>
            <a:xfrm>
              <a:off x="0" y="0"/>
              <a:ext cx="1153770" cy="692262"/>
            </a:xfrm>
            <a:prstGeom prst="roundRect">
              <a:avLst>
                <a:gd name="adj" fmla="val 10000"/>
              </a:avLst>
            </a:prstGeom>
          </p:spPr>
          <p:style>
            <a:lnRef idx="2">
              <a:schemeClr val="lt1">
                <a:hueOff val="0"/>
                <a:satOff val="0"/>
                <a:lumOff val="0"/>
                <a:alphaOff val="0"/>
              </a:schemeClr>
            </a:lnRef>
            <a:fillRef idx="1">
              <a:schemeClr val="accent1">
                <a:hueOff val="0"/>
                <a:satOff val="0"/>
                <a:lumOff val="0"/>
                <a:alphaOff val="0"/>
              </a:schemeClr>
            </a:fillRef>
            <a:effectRef idx="0">
              <a:schemeClr val="accent1">
                <a:hueOff val="0"/>
                <a:satOff val="0"/>
                <a:lumOff val="0"/>
                <a:alphaOff val="0"/>
              </a:schemeClr>
            </a:effectRef>
            <a:fontRef idx="minor">
              <a:schemeClr val="lt1"/>
            </a:fontRef>
          </p:style>
          <p:txBody>
            <a:bodyPr/>
            <a:lstStyle/>
            <a:p>
              <a:endParaRPr lang="en-SG" dirty="0"/>
            </a:p>
          </p:txBody>
        </p:sp>
        <p:sp>
          <p:nvSpPr>
            <p:cNvPr id="8" name="Rectangle: Rounded Corners 4">
              <a:extLst>
                <a:ext uri="{FF2B5EF4-FFF2-40B4-BE49-F238E27FC236}">
                  <a16:creationId xmlns:a16="http://schemas.microsoft.com/office/drawing/2014/main" id="{F5F46178-A6EF-FF21-60EF-0C3A9B798F68}"/>
                </a:ext>
              </a:extLst>
            </p:cNvPr>
            <p:cNvSpPr txBox="1"/>
            <p:nvPr/>
          </p:nvSpPr>
          <p:spPr>
            <a:xfrm>
              <a:off x="20276" y="20276"/>
              <a:ext cx="1113218" cy="651710"/>
            </a:xfrm>
            <a:prstGeom prst="rect">
              <a:avLst/>
            </a:prstGeom>
          </p:spPr>
          <p:style>
            <a:lnRef idx="0">
              <a:scrgbClr r="0" g="0" b="0"/>
            </a:lnRef>
            <a:fillRef idx="0">
              <a:scrgbClr r="0" g="0" b="0"/>
            </a:fillRef>
            <a:effectRef idx="0">
              <a:scrgbClr r="0" g="0" b="0"/>
            </a:effectRef>
            <a:fontRef idx="minor">
              <a:schemeClr val="lt1"/>
            </a:fontRef>
          </p:style>
          <p:txBody>
            <a:bodyPr spcFirstLastPara="0" vert="horz" wrap="square" lIns="68580" tIns="68580" rIns="68580" bIns="68580" numCol="1" spcCol="1270" anchor="ctr" anchorCtr="0">
              <a:noAutofit/>
            </a:bodyPr>
            <a:lstStyle/>
            <a:p>
              <a:pPr marL="0" lvl="0" indent="0" defTabSz="800100">
                <a:lnSpc>
                  <a:spcPct val="90000"/>
                </a:lnSpc>
                <a:spcBef>
                  <a:spcPct val="0"/>
                </a:spcBef>
                <a:spcAft>
                  <a:spcPct val="35000"/>
                </a:spcAft>
                <a:buNone/>
              </a:pPr>
              <a:r>
                <a:rPr lang="en-SG" dirty="0"/>
                <a:t>User</a:t>
              </a:r>
            </a:p>
            <a:p>
              <a:pPr marL="171450" lvl="0" indent="-171450" defTabSz="800100">
                <a:lnSpc>
                  <a:spcPct val="90000"/>
                </a:lnSpc>
                <a:spcBef>
                  <a:spcPct val="0"/>
                </a:spcBef>
                <a:spcAft>
                  <a:spcPct val="35000"/>
                </a:spcAft>
                <a:buFont typeface="Arial" panose="020B0604020202020204" pitchFamily="34" charset="0"/>
                <a:buChar char="•"/>
              </a:pPr>
              <a:r>
                <a:rPr lang="en-SG" sz="1000" dirty="0"/>
                <a:t>API + UI</a:t>
              </a:r>
            </a:p>
            <a:p>
              <a:pPr marL="171450" lvl="0" indent="-171450" defTabSz="800100">
                <a:lnSpc>
                  <a:spcPct val="90000"/>
                </a:lnSpc>
                <a:spcBef>
                  <a:spcPct val="0"/>
                </a:spcBef>
                <a:spcAft>
                  <a:spcPct val="35000"/>
                </a:spcAft>
                <a:buFont typeface="Arial" panose="020B0604020202020204" pitchFamily="34" charset="0"/>
                <a:buChar char="•"/>
              </a:pPr>
              <a:r>
                <a:rPr lang="en-SG" sz="1000" dirty="0"/>
                <a:t>Lightweight security guardrails (prompt injection)</a:t>
              </a:r>
            </a:p>
            <a:p>
              <a:pPr marL="171450" lvl="0" indent="-171450" defTabSz="800100">
                <a:lnSpc>
                  <a:spcPct val="90000"/>
                </a:lnSpc>
                <a:spcBef>
                  <a:spcPct val="0"/>
                </a:spcBef>
                <a:spcAft>
                  <a:spcPct val="35000"/>
                </a:spcAft>
                <a:buFont typeface="Arial" panose="020B0604020202020204" pitchFamily="34" charset="0"/>
                <a:buChar char="•"/>
              </a:pPr>
              <a:r>
                <a:rPr lang="en-SG" sz="1000" dirty="0"/>
                <a:t>User can specify filter FY on UI (All or Multi-Select)</a:t>
              </a:r>
              <a:endParaRPr lang="en-SG" sz="1000" kern="1200" dirty="0"/>
            </a:p>
          </p:txBody>
        </p:sp>
      </p:grpSp>
      <p:grpSp>
        <p:nvGrpSpPr>
          <p:cNvPr id="13" name="Group 12">
            <a:extLst>
              <a:ext uri="{FF2B5EF4-FFF2-40B4-BE49-F238E27FC236}">
                <a16:creationId xmlns:a16="http://schemas.microsoft.com/office/drawing/2014/main" id="{E30FA5AC-0A5E-A7D0-02D7-1AE882AF25A9}"/>
              </a:ext>
            </a:extLst>
          </p:cNvPr>
          <p:cNvGrpSpPr/>
          <p:nvPr/>
        </p:nvGrpSpPr>
        <p:grpSpPr>
          <a:xfrm>
            <a:off x="9591675" y="1863968"/>
            <a:ext cx="2457449" cy="1473263"/>
            <a:chOff x="0" y="0"/>
            <a:chExt cx="1153770" cy="692262"/>
          </a:xfrm>
        </p:grpSpPr>
        <p:sp>
          <p:nvSpPr>
            <p:cNvPr id="15" name="Rectangle: Rounded Corners 14">
              <a:extLst>
                <a:ext uri="{FF2B5EF4-FFF2-40B4-BE49-F238E27FC236}">
                  <a16:creationId xmlns:a16="http://schemas.microsoft.com/office/drawing/2014/main" id="{9494732C-4783-DF68-7957-3396674C393D}"/>
                </a:ext>
              </a:extLst>
            </p:cNvPr>
            <p:cNvSpPr/>
            <p:nvPr/>
          </p:nvSpPr>
          <p:spPr>
            <a:xfrm>
              <a:off x="0" y="0"/>
              <a:ext cx="1153770" cy="692262"/>
            </a:xfrm>
            <a:prstGeom prst="roundRect">
              <a:avLst>
                <a:gd name="adj" fmla="val 10000"/>
              </a:avLst>
            </a:prstGeom>
          </p:spPr>
          <p:style>
            <a:lnRef idx="2">
              <a:schemeClr val="lt1">
                <a:hueOff val="0"/>
                <a:satOff val="0"/>
                <a:lumOff val="0"/>
                <a:alphaOff val="0"/>
              </a:schemeClr>
            </a:lnRef>
            <a:fillRef idx="1">
              <a:schemeClr val="accent1">
                <a:hueOff val="0"/>
                <a:satOff val="0"/>
                <a:lumOff val="0"/>
                <a:alphaOff val="0"/>
              </a:schemeClr>
            </a:fillRef>
            <a:effectRef idx="0">
              <a:schemeClr val="accent1">
                <a:hueOff val="0"/>
                <a:satOff val="0"/>
                <a:lumOff val="0"/>
                <a:alphaOff val="0"/>
              </a:schemeClr>
            </a:effectRef>
            <a:fontRef idx="minor">
              <a:schemeClr val="lt1"/>
            </a:fontRef>
          </p:style>
          <p:txBody>
            <a:bodyPr/>
            <a:lstStyle/>
            <a:p>
              <a:endParaRPr lang="en-SG" dirty="0"/>
            </a:p>
          </p:txBody>
        </p:sp>
        <p:sp>
          <p:nvSpPr>
            <p:cNvPr id="16" name="Rectangle: Rounded Corners 4">
              <a:extLst>
                <a:ext uri="{FF2B5EF4-FFF2-40B4-BE49-F238E27FC236}">
                  <a16:creationId xmlns:a16="http://schemas.microsoft.com/office/drawing/2014/main" id="{4ABE6940-D21F-FAC3-5ABC-C274021317D9}"/>
                </a:ext>
              </a:extLst>
            </p:cNvPr>
            <p:cNvSpPr txBox="1"/>
            <p:nvPr/>
          </p:nvSpPr>
          <p:spPr>
            <a:xfrm>
              <a:off x="20275" y="20276"/>
              <a:ext cx="1113218" cy="651710"/>
            </a:xfrm>
            <a:prstGeom prst="rect">
              <a:avLst/>
            </a:prstGeom>
          </p:spPr>
          <p:style>
            <a:lnRef idx="0">
              <a:scrgbClr r="0" g="0" b="0"/>
            </a:lnRef>
            <a:fillRef idx="0">
              <a:scrgbClr r="0" g="0" b="0"/>
            </a:fillRef>
            <a:effectRef idx="0">
              <a:scrgbClr r="0" g="0" b="0"/>
            </a:effectRef>
            <a:fontRef idx="minor">
              <a:schemeClr val="lt1"/>
            </a:fontRef>
          </p:style>
          <p:txBody>
            <a:bodyPr spcFirstLastPara="0" vert="horz" wrap="square" lIns="68580" tIns="68580" rIns="68580" bIns="68580" numCol="1" spcCol="1270" anchor="ctr" anchorCtr="0">
              <a:noAutofit/>
            </a:bodyPr>
            <a:lstStyle/>
            <a:p>
              <a:pPr marL="0" lvl="0" indent="0" defTabSz="800100">
                <a:lnSpc>
                  <a:spcPct val="90000"/>
                </a:lnSpc>
                <a:spcBef>
                  <a:spcPct val="0"/>
                </a:spcBef>
                <a:spcAft>
                  <a:spcPct val="35000"/>
                </a:spcAft>
                <a:buNone/>
              </a:pPr>
              <a:r>
                <a:rPr lang="en-SG" dirty="0"/>
                <a:t>Planner AI</a:t>
              </a:r>
            </a:p>
            <a:p>
              <a:pPr marL="171450" lvl="0" indent="-171450" defTabSz="800100">
                <a:lnSpc>
                  <a:spcPct val="90000"/>
                </a:lnSpc>
                <a:spcBef>
                  <a:spcPct val="0"/>
                </a:spcBef>
                <a:spcAft>
                  <a:spcPct val="35000"/>
                </a:spcAft>
                <a:buFont typeface="Arial" panose="020B0604020202020204" pitchFamily="34" charset="0"/>
                <a:buChar char="•"/>
              </a:pPr>
              <a:r>
                <a:rPr lang="en-SG" sz="1000" dirty="0"/>
                <a:t>Revise query for clarity</a:t>
              </a:r>
            </a:p>
            <a:p>
              <a:pPr marL="171450" lvl="0" indent="-171450" defTabSz="800100">
                <a:lnSpc>
                  <a:spcPct val="90000"/>
                </a:lnSpc>
                <a:spcBef>
                  <a:spcPct val="0"/>
                </a:spcBef>
                <a:spcAft>
                  <a:spcPct val="35000"/>
                </a:spcAft>
                <a:buFont typeface="Arial" panose="020B0604020202020204" pitchFamily="34" charset="0"/>
                <a:buChar char="•"/>
              </a:pPr>
              <a:r>
                <a:rPr lang="en-SG" sz="1000" dirty="0"/>
                <a:t>Assess coherence (classify + reason)</a:t>
              </a:r>
            </a:p>
            <a:p>
              <a:pPr marL="171450" lvl="0" indent="-171450" defTabSz="800100">
                <a:lnSpc>
                  <a:spcPct val="90000"/>
                </a:lnSpc>
                <a:spcBef>
                  <a:spcPct val="0"/>
                </a:spcBef>
                <a:spcAft>
                  <a:spcPct val="35000"/>
                </a:spcAft>
                <a:buFont typeface="Arial" panose="020B0604020202020204" pitchFamily="34" charset="0"/>
                <a:buChar char="•"/>
              </a:pPr>
              <a:r>
                <a:rPr lang="en-SG" sz="1000" kern="1200" dirty="0"/>
                <a:t>Forward original </a:t>
              </a:r>
              <a:r>
                <a:rPr lang="en-SG" sz="1000" dirty="0"/>
                <a:t>+ revised query</a:t>
              </a:r>
            </a:p>
            <a:p>
              <a:pPr marL="171450" lvl="0" indent="-171450" defTabSz="800100">
                <a:lnSpc>
                  <a:spcPct val="90000"/>
                </a:lnSpc>
                <a:spcBef>
                  <a:spcPct val="0"/>
                </a:spcBef>
                <a:spcAft>
                  <a:spcPct val="35000"/>
                </a:spcAft>
                <a:buFont typeface="Arial" panose="020B0604020202020204" pitchFamily="34" charset="0"/>
                <a:buChar char="•"/>
              </a:pPr>
              <a:r>
                <a:rPr lang="en-SG" sz="1000" dirty="0"/>
                <a:t>Forward plan steps (non-LLM)</a:t>
              </a:r>
              <a:endParaRPr lang="en-SG" sz="1000" kern="1200" dirty="0"/>
            </a:p>
          </p:txBody>
        </p:sp>
      </p:grpSp>
      <p:grpSp>
        <p:nvGrpSpPr>
          <p:cNvPr id="21" name="Group 20">
            <a:extLst>
              <a:ext uri="{FF2B5EF4-FFF2-40B4-BE49-F238E27FC236}">
                <a16:creationId xmlns:a16="http://schemas.microsoft.com/office/drawing/2014/main" id="{37BC9331-C8FB-7BC8-0B89-14152379F8B8}"/>
              </a:ext>
            </a:extLst>
          </p:cNvPr>
          <p:cNvGrpSpPr/>
          <p:nvPr/>
        </p:nvGrpSpPr>
        <p:grpSpPr>
          <a:xfrm>
            <a:off x="6960416" y="1881687"/>
            <a:ext cx="1632221" cy="2040234"/>
            <a:chOff x="0" y="0"/>
            <a:chExt cx="1153770" cy="692262"/>
          </a:xfrm>
        </p:grpSpPr>
        <p:sp>
          <p:nvSpPr>
            <p:cNvPr id="22" name="Rectangle: Rounded Corners 21">
              <a:extLst>
                <a:ext uri="{FF2B5EF4-FFF2-40B4-BE49-F238E27FC236}">
                  <a16:creationId xmlns:a16="http://schemas.microsoft.com/office/drawing/2014/main" id="{9DEE8EAA-618A-1AFD-A045-905C36A76B07}"/>
                </a:ext>
              </a:extLst>
            </p:cNvPr>
            <p:cNvSpPr/>
            <p:nvPr/>
          </p:nvSpPr>
          <p:spPr>
            <a:xfrm>
              <a:off x="0" y="0"/>
              <a:ext cx="1153770" cy="692262"/>
            </a:xfrm>
            <a:prstGeom prst="roundRect">
              <a:avLst>
                <a:gd name="adj" fmla="val 10000"/>
              </a:avLst>
            </a:prstGeom>
          </p:spPr>
          <p:style>
            <a:lnRef idx="2">
              <a:schemeClr val="lt1">
                <a:hueOff val="0"/>
                <a:satOff val="0"/>
                <a:lumOff val="0"/>
                <a:alphaOff val="0"/>
              </a:schemeClr>
            </a:lnRef>
            <a:fillRef idx="1">
              <a:schemeClr val="accent1">
                <a:hueOff val="0"/>
                <a:satOff val="0"/>
                <a:lumOff val="0"/>
                <a:alphaOff val="0"/>
              </a:schemeClr>
            </a:fillRef>
            <a:effectRef idx="0">
              <a:schemeClr val="accent1">
                <a:hueOff val="0"/>
                <a:satOff val="0"/>
                <a:lumOff val="0"/>
                <a:alphaOff val="0"/>
              </a:schemeClr>
            </a:effectRef>
            <a:fontRef idx="minor">
              <a:schemeClr val="lt1"/>
            </a:fontRef>
          </p:style>
          <p:txBody>
            <a:bodyPr/>
            <a:lstStyle/>
            <a:p>
              <a:endParaRPr lang="en-SG" dirty="0"/>
            </a:p>
          </p:txBody>
        </p:sp>
        <p:sp>
          <p:nvSpPr>
            <p:cNvPr id="23" name="Rectangle: Rounded Corners 4">
              <a:extLst>
                <a:ext uri="{FF2B5EF4-FFF2-40B4-BE49-F238E27FC236}">
                  <a16:creationId xmlns:a16="http://schemas.microsoft.com/office/drawing/2014/main" id="{6FDF4DF7-6362-1331-AB24-9B650936D5AE}"/>
                </a:ext>
              </a:extLst>
            </p:cNvPr>
            <p:cNvSpPr txBox="1"/>
            <p:nvPr/>
          </p:nvSpPr>
          <p:spPr>
            <a:xfrm>
              <a:off x="20275" y="20276"/>
              <a:ext cx="1113218" cy="651710"/>
            </a:xfrm>
            <a:prstGeom prst="rect">
              <a:avLst/>
            </a:prstGeom>
          </p:spPr>
          <p:style>
            <a:lnRef idx="0">
              <a:scrgbClr r="0" g="0" b="0"/>
            </a:lnRef>
            <a:fillRef idx="0">
              <a:scrgbClr r="0" g="0" b="0"/>
            </a:fillRef>
            <a:effectRef idx="0">
              <a:scrgbClr r="0" g="0" b="0"/>
            </a:effectRef>
            <a:fontRef idx="minor">
              <a:schemeClr val="lt1"/>
            </a:fontRef>
          </p:style>
          <p:txBody>
            <a:bodyPr spcFirstLastPara="0" vert="horz" wrap="square" lIns="68580" tIns="68580" rIns="68580" bIns="68580" numCol="1" spcCol="1270" anchor="ctr" anchorCtr="0">
              <a:noAutofit/>
            </a:bodyPr>
            <a:lstStyle/>
            <a:p>
              <a:pPr defTabSz="800100">
                <a:lnSpc>
                  <a:spcPct val="90000"/>
                </a:lnSpc>
                <a:spcBef>
                  <a:spcPct val="0"/>
                </a:spcBef>
                <a:spcAft>
                  <a:spcPct val="35000"/>
                </a:spcAft>
              </a:pPr>
              <a:r>
                <a:rPr lang="en-SG" dirty="0"/>
                <a:t>Manager</a:t>
              </a:r>
              <a:endParaRPr lang="en-SG" dirty="0">
                <a:solidFill>
                  <a:schemeClr val="tx1"/>
                </a:solidFill>
              </a:endParaRPr>
            </a:p>
            <a:p>
              <a:pPr marL="171450" lvl="0" indent="-171450" defTabSz="800100">
                <a:lnSpc>
                  <a:spcPct val="90000"/>
                </a:lnSpc>
                <a:spcBef>
                  <a:spcPct val="0"/>
                </a:spcBef>
                <a:spcAft>
                  <a:spcPct val="35000"/>
                </a:spcAft>
                <a:buFont typeface="Arial" panose="020B0604020202020204" pitchFamily="34" charset="0"/>
                <a:buChar char="•"/>
              </a:pPr>
              <a:r>
                <a:rPr lang="en-SG" sz="1000" dirty="0">
                  <a:solidFill>
                    <a:schemeClr val="bg1"/>
                  </a:solidFill>
                </a:rPr>
                <a:t>Orchestrate via states</a:t>
              </a:r>
            </a:p>
            <a:p>
              <a:pPr marL="171450" lvl="0" indent="-171450" defTabSz="800100">
                <a:lnSpc>
                  <a:spcPct val="90000"/>
                </a:lnSpc>
                <a:spcBef>
                  <a:spcPct val="0"/>
                </a:spcBef>
                <a:spcAft>
                  <a:spcPct val="35000"/>
                </a:spcAft>
                <a:buFont typeface="Arial" panose="020B0604020202020204" pitchFamily="34" charset="0"/>
                <a:buChar char="•"/>
              </a:pPr>
              <a:r>
                <a:rPr lang="en-SG" sz="1000" dirty="0"/>
                <a:t>Reject incoherent query</a:t>
              </a:r>
            </a:p>
            <a:p>
              <a:pPr marL="171450" lvl="0" indent="-171450" defTabSz="800100">
                <a:lnSpc>
                  <a:spcPct val="90000"/>
                </a:lnSpc>
                <a:spcBef>
                  <a:spcPct val="0"/>
                </a:spcBef>
                <a:spcAft>
                  <a:spcPct val="35000"/>
                </a:spcAft>
                <a:buFont typeface="Arial" panose="020B0604020202020204" pitchFamily="34" charset="0"/>
                <a:buChar char="•"/>
              </a:pPr>
              <a:r>
                <a:rPr lang="en-SG" sz="1000" dirty="0"/>
                <a:t>Fixed confidence threshold</a:t>
              </a:r>
            </a:p>
            <a:p>
              <a:pPr marL="171450" lvl="0" indent="-171450" defTabSz="800100">
                <a:lnSpc>
                  <a:spcPct val="90000"/>
                </a:lnSpc>
                <a:spcBef>
                  <a:spcPct val="0"/>
                </a:spcBef>
                <a:spcAft>
                  <a:spcPct val="35000"/>
                </a:spcAft>
                <a:buFont typeface="Arial" panose="020B0604020202020204" pitchFamily="34" charset="0"/>
                <a:buChar char="•"/>
              </a:pPr>
              <a:r>
                <a:rPr lang="en-SG" sz="1000" dirty="0"/>
                <a:t>Fixed top_k and top_n</a:t>
              </a:r>
            </a:p>
          </p:txBody>
        </p:sp>
      </p:grpSp>
      <p:grpSp>
        <p:nvGrpSpPr>
          <p:cNvPr id="35" name="Group 34">
            <a:extLst>
              <a:ext uri="{FF2B5EF4-FFF2-40B4-BE49-F238E27FC236}">
                <a16:creationId xmlns:a16="http://schemas.microsoft.com/office/drawing/2014/main" id="{2AF7160C-BE2D-D445-5190-9FCB1D41538E}"/>
              </a:ext>
            </a:extLst>
          </p:cNvPr>
          <p:cNvGrpSpPr/>
          <p:nvPr/>
        </p:nvGrpSpPr>
        <p:grpSpPr>
          <a:xfrm rot="10800000">
            <a:off x="9075159" y="2461124"/>
            <a:ext cx="383993" cy="200048"/>
            <a:chOff x="9272692" y="1547728"/>
            <a:chExt cx="370682" cy="433628"/>
          </a:xfrm>
        </p:grpSpPr>
        <p:sp>
          <p:nvSpPr>
            <p:cNvPr id="36" name="Arrow: Right 35">
              <a:extLst>
                <a:ext uri="{FF2B5EF4-FFF2-40B4-BE49-F238E27FC236}">
                  <a16:creationId xmlns:a16="http://schemas.microsoft.com/office/drawing/2014/main" id="{0B5B0A02-19F2-85B2-1884-5E9810B94D6D}"/>
                </a:ext>
              </a:extLst>
            </p:cNvPr>
            <p:cNvSpPr/>
            <p:nvPr/>
          </p:nvSpPr>
          <p:spPr>
            <a:xfrm>
              <a:off x="9272692" y="1547728"/>
              <a:ext cx="370682" cy="433628"/>
            </a:xfrm>
            <a:prstGeom prst="rightArrow">
              <a:avLst>
                <a:gd name="adj1" fmla="val 60000"/>
                <a:gd name="adj2" fmla="val 50000"/>
              </a:avLst>
            </a:prstGeom>
          </p:spPr>
          <p:style>
            <a:lnRef idx="0">
              <a:schemeClr val="accent1">
                <a:tint val="60000"/>
                <a:hueOff val="0"/>
                <a:satOff val="0"/>
                <a:lumOff val="0"/>
                <a:alphaOff val="0"/>
              </a:schemeClr>
            </a:lnRef>
            <a:fillRef idx="1">
              <a:schemeClr val="accent1">
                <a:tint val="60000"/>
                <a:hueOff val="0"/>
                <a:satOff val="0"/>
                <a:lumOff val="0"/>
                <a:alphaOff val="0"/>
              </a:schemeClr>
            </a:fillRef>
            <a:effectRef idx="0">
              <a:schemeClr val="accent1">
                <a:tint val="60000"/>
                <a:hueOff val="0"/>
                <a:satOff val="0"/>
                <a:lumOff val="0"/>
                <a:alphaOff val="0"/>
              </a:schemeClr>
            </a:effectRef>
            <a:fontRef idx="minor">
              <a:schemeClr val="lt1"/>
            </a:fontRef>
          </p:style>
          <p:txBody>
            <a:bodyPr/>
            <a:lstStyle/>
            <a:p>
              <a:endParaRPr lang="en-SG" dirty="0"/>
            </a:p>
          </p:txBody>
        </p:sp>
        <p:sp>
          <p:nvSpPr>
            <p:cNvPr id="37" name="Arrow: Right 4">
              <a:extLst>
                <a:ext uri="{FF2B5EF4-FFF2-40B4-BE49-F238E27FC236}">
                  <a16:creationId xmlns:a16="http://schemas.microsoft.com/office/drawing/2014/main" id="{0EA93302-8F68-370A-CD83-3E84B5A2CD77}"/>
                </a:ext>
              </a:extLst>
            </p:cNvPr>
            <p:cNvSpPr txBox="1"/>
            <p:nvPr/>
          </p:nvSpPr>
          <p:spPr>
            <a:xfrm>
              <a:off x="9272692" y="1634454"/>
              <a:ext cx="259477" cy="260176"/>
            </a:xfrm>
            <a:prstGeom prst="rect">
              <a:avLst/>
            </a:prstGeom>
          </p:spPr>
          <p:style>
            <a:lnRef idx="0">
              <a:scrgbClr r="0" g="0" b="0"/>
            </a:lnRef>
            <a:fillRef idx="0">
              <a:scrgbClr r="0" g="0" b="0"/>
            </a:fillRef>
            <a:effectRef idx="0">
              <a:scrgbClr r="0" g="0" b="0"/>
            </a:effectRef>
            <a:fontRef idx="minor">
              <a:schemeClr val="lt1"/>
            </a:fontRef>
          </p:style>
          <p:txBody>
            <a:bodyPr spcFirstLastPara="0" vert="horz" wrap="square" lIns="0" tIns="0" rIns="0" bIns="0" numCol="1" spcCol="1270" anchor="ctr" anchorCtr="0">
              <a:noAutofit/>
            </a:bodyPr>
            <a:lstStyle/>
            <a:p>
              <a:pPr marL="0" lvl="0" indent="0" algn="ctr" defTabSz="577850">
                <a:lnSpc>
                  <a:spcPct val="90000"/>
                </a:lnSpc>
                <a:spcBef>
                  <a:spcPct val="0"/>
                </a:spcBef>
                <a:spcAft>
                  <a:spcPct val="35000"/>
                </a:spcAft>
                <a:buNone/>
              </a:pPr>
              <a:endParaRPr lang="en-SG" sz="1300" kern="1200" dirty="0">
                <a:solidFill>
                  <a:schemeClr val="tx1"/>
                </a:solidFill>
              </a:endParaRPr>
            </a:p>
          </p:txBody>
        </p:sp>
      </p:grpSp>
      <p:grpSp>
        <p:nvGrpSpPr>
          <p:cNvPr id="48" name="Group 47">
            <a:extLst>
              <a:ext uri="{FF2B5EF4-FFF2-40B4-BE49-F238E27FC236}">
                <a16:creationId xmlns:a16="http://schemas.microsoft.com/office/drawing/2014/main" id="{5D20758D-45D1-FE03-63CA-E40E90BE2F01}"/>
              </a:ext>
            </a:extLst>
          </p:cNvPr>
          <p:cNvGrpSpPr/>
          <p:nvPr/>
        </p:nvGrpSpPr>
        <p:grpSpPr>
          <a:xfrm rot="10800000">
            <a:off x="5448457" y="2588842"/>
            <a:ext cx="878101" cy="236637"/>
            <a:chOff x="9272692" y="1547728"/>
            <a:chExt cx="370682" cy="433628"/>
          </a:xfrm>
        </p:grpSpPr>
        <p:sp>
          <p:nvSpPr>
            <p:cNvPr id="49" name="Arrow: Right 48">
              <a:extLst>
                <a:ext uri="{FF2B5EF4-FFF2-40B4-BE49-F238E27FC236}">
                  <a16:creationId xmlns:a16="http://schemas.microsoft.com/office/drawing/2014/main" id="{E21DAFA5-5844-BA22-D986-12490B7E0A99}"/>
                </a:ext>
              </a:extLst>
            </p:cNvPr>
            <p:cNvSpPr/>
            <p:nvPr/>
          </p:nvSpPr>
          <p:spPr>
            <a:xfrm>
              <a:off x="9272692" y="1547728"/>
              <a:ext cx="370682" cy="433628"/>
            </a:xfrm>
            <a:prstGeom prst="rightArrow">
              <a:avLst>
                <a:gd name="adj1" fmla="val 60000"/>
                <a:gd name="adj2" fmla="val 50000"/>
              </a:avLst>
            </a:prstGeom>
          </p:spPr>
          <p:style>
            <a:lnRef idx="0">
              <a:schemeClr val="accent1">
                <a:tint val="60000"/>
                <a:hueOff val="0"/>
                <a:satOff val="0"/>
                <a:lumOff val="0"/>
                <a:alphaOff val="0"/>
              </a:schemeClr>
            </a:lnRef>
            <a:fillRef idx="1">
              <a:schemeClr val="accent1">
                <a:tint val="60000"/>
                <a:hueOff val="0"/>
                <a:satOff val="0"/>
                <a:lumOff val="0"/>
                <a:alphaOff val="0"/>
              </a:schemeClr>
            </a:fillRef>
            <a:effectRef idx="0">
              <a:schemeClr val="accent1">
                <a:tint val="60000"/>
                <a:hueOff val="0"/>
                <a:satOff val="0"/>
                <a:lumOff val="0"/>
                <a:alphaOff val="0"/>
              </a:schemeClr>
            </a:effectRef>
            <a:fontRef idx="minor">
              <a:schemeClr val="lt1"/>
            </a:fontRef>
          </p:style>
          <p:txBody>
            <a:bodyPr/>
            <a:lstStyle/>
            <a:p>
              <a:endParaRPr lang="en-SG" dirty="0"/>
            </a:p>
          </p:txBody>
        </p:sp>
        <p:sp>
          <p:nvSpPr>
            <p:cNvPr id="50" name="Arrow: Right 4">
              <a:extLst>
                <a:ext uri="{FF2B5EF4-FFF2-40B4-BE49-F238E27FC236}">
                  <a16:creationId xmlns:a16="http://schemas.microsoft.com/office/drawing/2014/main" id="{82F373F8-2C94-9AF2-ADC1-DB2D10EF644C}"/>
                </a:ext>
              </a:extLst>
            </p:cNvPr>
            <p:cNvSpPr txBox="1"/>
            <p:nvPr/>
          </p:nvSpPr>
          <p:spPr>
            <a:xfrm>
              <a:off x="9272692" y="1634454"/>
              <a:ext cx="259477" cy="260176"/>
            </a:xfrm>
            <a:prstGeom prst="rect">
              <a:avLst/>
            </a:prstGeom>
          </p:spPr>
          <p:style>
            <a:lnRef idx="0">
              <a:scrgbClr r="0" g="0" b="0"/>
            </a:lnRef>
            <a:fillRef idx="0">
              <a:scrgbClr r="0" g="0" b="0"/>
            </a:fillRef>
            <a:effectRef idx="0">
              <a:scrgbClr r="0" g="0" b="0"/>
            </a:effectRef>
            <a:fontRef idx="minor">
              <a:schemeClr val="lt1"/>
            </a:fontRef>
          </p:style>
          <p:txBody>
            <a:bodyPr spcFirstLastPara="0" vert="horz" wrap="square" lIns="0" tIns="0" rIns="0" bIns="0" numCol="1" spcCol="1270" anchor="ctr" anchorCtr="0">
              <a:noAutofit/>
            </a:bodyPr>
            <a:lstStyle/>
            <a:p>
              <a:pPr marL="0" lvl="0" indent="0" algn="ctr" defTabSz="577850">
                <a:lnSpc>
                  <a:spcPct val="90000"/>
                </a:lnSpc>
                <a:spcBef>
                  <a:spcPct val="0"/>
                </a:spcBef>
                <a:spcAft>
                  <a:spcPct val="35000"/>
                </a:spcAft>
                <a:buNone/>
              </a:pPr>
              <a:endParaRPr lang="en-SG" sz="1300" kern="1200" dirty="0"/>
            </a:p>
          </p:txBody>
        </p:sp>
      </p:grpSp>
      <p:sp>
        <p:nvSpPr>
          <p:cNvPr id="54" name="Rectangle: Rounded Corners 53">
            <a:extLst>
              <a:ext uri="{FF2B5EF4-FFF2-40B4-BE49-F238E27FC236}">
                <a16:creationId xmlns:a16="http://schemas.microsoft.com/office/drawing/2014/main" id="{0E4E659F-6A99-F156-27C1-A1C47E04326C}"/>
              </a:ext>
            </a:extLst>
          </p:cNvPr>
          <p:cNvSpPr/>
          <p:nvPr/>
        </p:nvSpPr>
        <p:spPr>
          <a:xfrm>
            <a:off x="1641992" y="2532320"/>
            <a:ext cx="3437522" cy="3521161"/>
          </a:xfrm>
          <a:prstGeom prst="roundRect">
            <a:avLst/>
          </a:prstGeom>
          <a:noFill/>
          <a:ln>
            <a:prstDash val="lgDash"/>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SG" dirty="0"/>
          </a:p>
        </p:txBody>
      </p:sp>
      <p:grpSp>
        <p:nvGrpSpPr>
          <p:cNvPr id="55" name="Group 54">
            <a:extLst>
              <a:ext uri="{FF2B5EF4-FFF2-40B4-BE49-F238E27FC236}">
                <a16:creationId xmlns:a16="http://schemas.microsoft.com/office/drawing/2014/main" id="{B0D98E74-D3A2-AA22-5FCD-52AF02374656}"/>
              </a:ext>
            </a:extLst>
          </p:cNvPr>
          <p:cNvGrpSpPr/>
          <p:nvPr/>
        </p:nvGrpSpPr>
        <p:grpSpPr>
          <a:xfrm>
            <a:off x="1862855" y="2678879"/>
            <a:ext cx="2953787" cy="965586"/>
            <a:chOff x="0" y="0"/>
            <a:chExt cx="1153770" cy="692262"/>
          </a:xfrm>
        </p:grpSpPr>
        <p:sp>
          <p:nvSpPr>
            <p:cNvPr id="56" name="Rectangle: Rounded Corners 55">
              <a:extLst>
                <a:ext uri="{FF2B5EF4-FFF2-40B4-BE49-F238E27FC236}">
                  <a16:creationId xmlns:a16="http://schemas.microsoft.com/office/drawing/2014/main" id="{5DEA24C5-9F7E-02C5-6861-37512E378685}"/>
                </a:ext>
              </a:extLst>
            </p:cNvPr>
            <p:cNvSpPr/>
            <p:nvPr/>
          </p:nvSpPr>
          <p:spPr>
            <a:xfrm>
              <a:off x="0" y="0"/>
              <a:ext cx="1153770" cy="692262"/>
            </a:xfrm>
            <a:prstGeom prst="roundRect">
              <a:avLst>
                <a:gd name="adj" fmla="val 10000"/>
              </a:avLst>
            </a:prstGeom>
          </p:spPr>
          <p:style>
            <a:lnRef idx="2">
              <a:schemeClr val="lt1">
                <a:hueOff val="0"/>
                <a:satOff val="0"/>
                <a:lumOff val="0"/>
                <a:alphaOff val="0"/>
              </a:schemeClr>
            </a:lnRef>
            <a:fillRef idx="1">
              <a:schemeClr val="accent1">
                <a:hueOff val="0"/>
                <a:satOff val="0"/>
                <a:lumOff val="0"/>
                <a:alphaOff val="0"/>
              </a:schemeClr>
            </a:fillRef>
            <a:effectRef idx="0">
              <a:schemeClr val="accent1">
                <a:hueOff val="0"/>
                <a:satOff val="0"/>
                <a:lumOff val="0"/>
                <a:alphaOff val="0"/>
              </a:schemeClr>
            </a:effectRef>
            <a:fontRef idx="minor">
              <a:schemeClr val="lt1"/>
            </a:fontRef>
          </p:style>
          <p:txBody>
            <a:bodyPr/>
            <a:lstStyle/>
            <a:p>
              <a:endParaRPr lang="en-SG" dirty="0"/>
            </a:p>
          </p:txBody>
        </p:sp>
        <p:sp>
          <p:nvSpPr>
            <p:cNvPr id="57" name="Rectangle: Rounded Corners 4">
              <a:extLst>
                <a:ext uri="{FF2B5EF4-FFF2-40B4-BE49-F238E27FC236}">
                  <a16:creationId xmlns:a16="http://schemas.microsoft.com/office/drawing/2014/main" id="{B5CEAB89-285A-8DAA-12F4-5387D6191CF3}"/>
                </a:ext>
              </a:extLst>
            </p:cNvPr>
            <p:cNvSpPr txBox="1"/>
            <p:nvPr/>
          </p:nvSpPr>
          <p:spPr>
            <a:xfrm>
              <a:off x="20275" y="20276"/>
              <a:ext cx="1113218" cy="651710"/>
            </a:xfrm>
            <a:prstGeom prst="rect">
              <a:avLst/>
            </a:prstGeom>
          </p:spPr>
          <p:style>
            <a:lnRef idx="0">
              <a:scrgbClr r="0" g="0" b="0"/>
            </a:lnRef>
            <a:fillRef idx="0">
              <a:scrgbClr r="0" g="0" b="0"/>
            </a:fillRef>
            <a:effectRef idx="0">
              <a:scrgbClr r="0" g="0" b="0"/>
            </a:effectRef>
            <a:fontRef idx="minor">
              <a:schemeClr val="lt1"/>
            </a:fontRef>
          </p:style>
          <p:txBody>
            <a:bodyPr spcFirstLastPara="0" vert="horz" wrap="square" lIns="68580" tIns="68580" rIns="68580" bIns="68580" numCol="1" spcCol="1270" anchor="ctr" anchorCtr="0">
              <a:noAutofit/>
            </a:bodyPr>
            <a:lstStyle/>
            <a:p>
              <a:pPr lvl="0"/>
              <a:r>
                <a:rPr lang="en-SG" dirty="0"/>
                <a:t>Retrieval (Tool)</a:t>
              </a:r>
            </a:p>
            <a:p>
              <a:pPr marL="171450" lvl="0" indent="-171450">
                <a:buFont typeface="Arial" panose="020B0604020202020204" pitchFamily="34" charset="0"/>
                <a:buChar char="•"/>
              </a:pPr>
              <a:r>
                <a:rPr lang="en-SG" sz="1000" dirty="0"/>
                <a:t>Hybrid retrieval merged score (dense + sparse) + tiered recency boost and return top_k candidates from each list</a:t>
              </a:r>
              <a:endParaRPr lang="en-SG" sz="1000" b="1" dirty="0"/>
            </a:p>
          </p:txBody>
        </p:sp>
      </p:grpSp>
      <p:grpSp>
        <p:nvGrpSpPr>
          <p:cNvPr id="58" name="Group 57">
            <a:extLst>
              <a:ext uri="{FF2B5EF4-FFF2-40B4-BE49-F238E27FC236}">
                <a16:creationId xmlns:a16="http://schemas.microsoft.com/office/drawing/2014/main" id="{17D419B6-A5BF-2521-FF5A-03B11706283F}"/>
              </a:ext>
            </a:extLst>
          </p:cNvPr>
          <p:cNvGrpSpPr/>
          <p:nvPr/>
        </p:nvGrpSpPr>
        <p:grpSpPr>
          <a:xfrm>
            <a:off x="1863986" y="3717464"/>
            <a:ext cx="2953787" cy="871177"/>
            <a:chOff x="0" y="0"/>
            <a:chExt cx="1153770" cy="692262"/>
          </a:xfrm>
        </p:grpSpPr>
        <p:sp>
          <p:nvSpPr>
            <p:cNvPr id="59" name="Rectangle: Rounded Corners 58">
              <a:extLst>
                <a:ext uri="{FF2B5EF4-FFF2-40B4-BE49-F238E27FC236}">
                  <a16:creationId xmlns:a16="http://schemas.microsoft.com/office/drawing/2014/main" id="{67C575E6-A7D5-F350-5A47-BCAB93E73DE6}"/>
                </a:ext>
              </a:extLst>
            </p:cNvPr>
            <p:cNvSpPr/>
            <p:nvPr/>
          </p:nvSpPr>
          <p:spPr>
            <a:xfrm>
              <a:off x="0" y="0"/>
              <a:ext cx="1153770" cy="692262"/>
            </a:xfrm>
            <a:prstGeom prst="roundRect">
              <a:avLst>
                <a:gd name="adj" fmla="val 10000"/>
              </a:avLst>
            </a:prstGeom>
          </p:spPr>
          <p:style>
            <a:lnRef idx="2">
              <a:schemeClr val="lt1">
                <a:hueOff val="0"/>
                <a:satOff val="0"/>
                <a:lumOff val="0"/>
                <a:alphaOff val="0"/>
              </a:schemeClr>
            </a:lnRef>
            <a:fillRef idx="1">
              <a:schemeClr val="accent1">
                <a:hueOff val="0"/>
                <a:satOff val="0"/>
                <a:lumOff val="0"/>
                <a:alphaOff val="0"/>
              </a:schemeClr>
            </a:fillRef>
            <a:effectRef idx="0">
              <a:schemeClr val="accent1">
                <a:hueOff val="0"/>
                <a:satOff val="0"/>
                <a:lumOff val="0"/>
                <a:alphaOff val="0"/>
              </a:schemeClr>
            </a:effectRef>
            <a:fontRef idx="minor">
              <a:schemeClr val="lt1"/>
            </a:fontRef>
          </p:style>
          <p:txBody>
            <a:bodyPr/>
            <a:lstStyle/>
            <a:p>
              <a:endParaRPr lang="en-SG" dirty="0"/>
            </a:p>
          </p:txBody>
        </p:sp>
        <p:sp>
          <p:nvSpPr>
            <p:cNvPr id="60" name="Rectangle: Rounded Corners 4">
              <a:extLst>
                <a:ext uri="{FF2B5EF4-FFF2-40B4-BE49-F238E27FC236}">
                  <a16:creationId xmlns:a16="http://schemas.microsoft.com/office/drawing/2014/main" id="{6AC878FA-CEDB-5BC1-BC90-DDF23C73C185}"/>
                </a:ext>
              </a:extLst>
            </p:cNvPr>
            <p:cNvSpPr txBox="1"/>
            <p:nvPr/>
          </p:nvSpPr>
          <p:spPr>
            <a:xfrm>
              <a:off x="20275" y="20275"/>
              <a:ext cx="1113218" cy="651710"/>
            </a:xfrm>
            <a:prstGeom prst="rect">
              <a:avLst/>
            </a:prstGeom>
          </p:spPr>
          <p:style>
            <a:lnRef idx="0">
              <a:scrgbClr r="0" g="0" b="0"/>
            </a:lnRef>
            <a:fillRef idx="0">
              <a:scrgbClr r="0" g="0" b="0"/>
            </a:fillRef>
            <a:effectRef idx="0">
              <a:scrgbClr r="0" g="0" b="0"/>
            </a:effectRef>
            <a:fontRef idx="minor">
              <a:schemeClr val="lt1"/>
            </a:fontRef>
          </p:style>
          <p:txBody>
            <a:bodyPr spcFirstLastPara="0" vert="horz" wrap="square" lIns="68580" tIns="68580" rIns="68580" bIns="68580" numCol="1" spcCol="1270" anchor="ctr" anchorCtr="0">
              <a:noAutofit/>
            </a:bodyPr>
            <a:lstStyle/>
            <a:p>
              <a:pPr lvl="0"/>
              <a:r>
                <a:rPr lang="en-SG" dirty="0"/>
                <a:t>Re-ranking (Tool)</a:t>
              </a:r>
            </a:p>
            <a:p>
              <a:pPr marL="171450" lvl="0" indent="-171450">
                <a:buFont typeface="Arial" panose="020B0604020202020204" pitchFamily="34" charset="0"/>
                <a:buChar char="•"/>
              </a:pPr>
              <a:r>
                <a:rPr lang="en-SG" sz="1000" dirty="0"/>
                <a:t>Re-ranking retrieval (cross-encoder transformers) + tiered recency boost and return shorter top_n from combined lists</a:t>
              </a:r>
              <a:endParaRPr lang="en-SG" sz="1000" b="1" dirty="0"/>
            </a:p>
          </p:txBody>
        </p:sp>
      </p:grpSp>
      <p:grpSp>
        <p:nvGrpSpPr>
          <p:cNvPr id="67" name="Group 66">
            <a:extLst>
              <a:ext uri="{FF2B5EF4-FFF2-40B4-BE49-F238E27FC236}">
                <a16:creationId xmlns:a16="http://schemas.microsoft.com/office/drawing/2014/main" id="{E6B1093C-B3B4-2D50-A11D-916E77F898B2}"/>
              </a:ext>
            </a:extLst>
          </p:cNvPr>
          <p:cNvGrpSpPr/>
          <p:nvPr/>
        </p:nvGrpSpPr>
        <p:grpSpPr>
          <a:xfrm>
            <a:off x="1862855" y="4609750"/>
            <a:ext cx="2953787" cy="590273"/>
            <a:chOff x="0" y="0"/>
            <a:chExt cx="1153770" cy="692262"/>
          </a:xfrm>
        </p:grpSpPr>
        <p:sp>
          <p:nvSpPr>
            <p:cNvPr id="68" name="Rectangle: Rounded Corners 67">
              <a:extLst>
                <a:ext uri="{FF2B5EF4-FFF2-40B4-BE49-F238E27FC236}">
                  <a16:creationId xmlns:a16="http://schemas.microsoft.com/office/drawing/2014/main" id="{7FCF1A8E-6119-5546-081F-DE3B97154948}"/>
                </a:ext>
              </a:extLst>
            </p:cNvPr>
            <p:cNvSpPr/>
            <p:nvPr/>
          </p:nvSpPr>
          <p:spPr>
            <a:xfrm>
              <a:off x="0" y="0"/>
              <a:ext cx="1153770" cy="692262"/>
            </a:xfrm>
            <a:prstGeom prst="roundRect">
              <a:avLst>
                <a:gd name="adj" fmla="val 10000"/>
              </a:avLst>
            </a:prstGeom>
          </p:spPr>
          <p:style>
            <a:lnRef idx="2">
              <a:schemeClr val="lt1">
                <a:hueOff val="0"/>
                <a:satOff val="0"/>
                <a:lumOff val="0"/>
                <a:alphaOff val="0"/>
              </a:schemeClr>
            </a:lnRef>
            <a:fillRef idx="1">
              <a:schemeClr val="accent1">
                <a:hueOff val="0"/>
                <a:satOff val="0"/>
                <a:lumOff val="0"/>
                <a:alphaOff val="0"/>
              </a:schemeClr>
            </a:fillRef>
            <a:effectRef idx="0">
              <a:schemeClr val="accent1">
                <a:hueOff val="0"/>
                <a:satOff val="0"/>
                <a:lumOff val="0"/>
                <a:alphaOff val="0"/>
              </a:schemeClr>
            </a:effectRef>
            <a:fontRef idx="minor">
              <a:schemeClr val="lt1"/>
            </a:fontRef>
          </p:style>
          <p:txBody>
            <a:bodyPr/>
            <a:lstStyle/>
            <a:p>
              <a:endParaRPr lang="en-SG" dirty="0"/>
            </a:p>
          </p:txBody>
        </p:sp>
        <p:sp>
          <p:nvSpPr>
            <p:cNvPr id="69" name="Rectangle: Rounded Corners 4">
              <a:extLst>
                <a:ext uri="{FF2B5EF4-FFF2-40B4-BE49-F238E27FC236}">
                  <a16:creationId xmlns:a16="http://schemas.microsoft.com/office/drawing/2014/main" id="{599EF950-3E98-6E1D-70DE-ED6DB07FD9F3}"/>
                </a:ext>
              </a:extLst>
            </p:cNvPr>
            <p:cNvSpPr txBox="1"/>
            <p:nvPr/>
          </p:nvSpPr>
          <p:spPr>
            <a:xfrm>
              <a:off x="20275" y="20276"/>
              <a:ext cx="1113218" cy="651710"/>
            </a:xfrm>
            <a:prstGeom prst="rect">
              <a:avLst/>
            </a:prstGeom>
          </p:spPr>
          <p:style>
            <a:lnRef idx="0">
              <a:scrgbClr r="0" g="0" b="0"/>
            </a:lnRef>
            <a:fillRef idx="0">
              <a:scrgbClr r="0" g="0" b="0"/>
            </a:fillRef>
            <a:effectRef idx="0">
              <a:scrgbClr r="0" g="0" b="0"/>
            </a:effectRef>
            <a:fontRef idx="minor">
              <a:schemeClr val="lt1"/>
            </a:fontRef>
          </p:style>
          <p:txBody>
            <a:bodyPr spcFirstLastPara="0" vert="horz" wrap="square" lIns="68580" tIns="68580" rIns="68580" bIns="68580" numCol="1" spcCol="1270" anchor="ctr" anchorCtr="0">
              <a:noAutofit/>
            </a:bodyPr>
            <a:lstStyle/>
            <a:p>
              <a:pPr lvl="0"/>
              <a:r>
                <a:rPr lang="en-SG" dirty="0"/>
                <a:t>Synthesis (AI)</a:t>
              </a:r>
            </a:p>
            <a:p>
              <a:pPr marL="171450" lvl="0" indent="-171450">
                <a:buFont typeface="Arial" panose="020B0604020202020204" pitchFamily="34" charset="0"/>
                <a:buChar char="•"/>
              </a:pPr>
              <a:r>
                <a:rPr lang="en-SG" sz="1000" dirty="0"/>
                <a:t>Generate response</a:t>
              </a:r>
              <a:endParaRPr lang="en-SG" sz="1000" b="1" dirty="0"/>
            </a:p>
          </p:txBody>
        </p:sp>
      </p:grpSp>
      <p:grpSp>
        <p:nvGrpSpPr>
          <p:cNvPr id="70" name="Group 69">
            <a:extLst>
              <a:ext uri="{FF2B5EF4-FFF2-40B4-BE49-F238E27FC236}">
                <a16:creationId xmlns:a16="http://schemas.microsoft.com/office/drawing/2014/main" id="{36F8DEBA-2ED9-93BA-6BB5-259334A56ED5}"/>
              </a:ext>
            </a:extLst>
          </p:cNvPr>
          <p:cNvGrpSpPr/>
          <p:nvPr/>
        </p:nvGrpSpPr>
        <p:grpSpPr>
          <a:xfrm>
            <a:off x="1862855" y="5298537"/>
            <a:ext cx="2939765" cy="666672"/>
            <a:chOff x="0" y="0"/>
            <a:chExt cx="1153770" cy="692262"/>
          </a:xfrm>
        </p:grpSpPr>
        <p:sp>
          <p:nvSpPr>
            <p:cNvPr id="71" name="Rectangle: Rounded Corners 70">
              <a:extLst>
                <a:ext uri="{FF2B5EF4-FFF2-40B4-BE49-F238E27FC236}">
                  <a16:creationId xmlns:a16="http://schemas.microsoft.com/office/drawing/2014/main" id="{BF6D5FC1-82E3-377B-7D88-100AF3CAF217}"/>
                </a:ext>
              </a:extLst>
            </p:cNvPr>
            <p:cNvSpPr/>
            <p:nvPr/>
          </p:nvSpPr>
          <p:spPr>
            <a:xfrm>
              <a:off x="0" y="0"/>
              <a:ext cx="1153770" cy="692262"/>
            </a:xfrm>
            <a:prstGeom prst="roundRect">
              <a:avLst>
                <a:gd name="adj" fmla="val 10000"/>
              </a:avLst>
            </a:prstGeom>
          </p:spPr>
          <p:style>
            <a:lnRef idx="2">
              <a:schemeClr val="lt1">
                <a:hueOff val="0"/>
                <a:satOff val="0"/>
                <a:lumOff val="0"/>
                <a:alphaOff val="0"/>
              </a:schemeClr>
            </a:lnRef>
            <a:fillRef idx="1">
              <a:schemeClr val="accent1">
                <a:hueOff val="0"/>
                <a:satOff val="0"/>
                <a:lumOff val="0"/>
                <a:alphaOff val="0"/>
              </a:schemeClr>
            </a:fillRef>
            <a:effectRef idx="0">
              <a:schemeClr val="accent1">
                <a:hueOff val="0"/>
                <a:satOff val="0"/>
                <a:lumOff val="0"/>
                <a:alphaOff val="0"/>
              </a:schemeClr>
            </a:effectRef>
            <a:fontRef idx="minor">
              <a:schemeClr val="lt1"/>
            </a:fontRef>
          </p:style>
          <p:txBody>
            <a:bodyPr/>
            <a:lstStyle/>
            <a:p>
              <a:endParaRPr lang="en-SG" dirty="0"/>
            </a:p>
          </p:txBody>
        </p:sp>
        <p:sp>
          <p:nvSpPr>
            <p:cNvPr id="72" name="Rectangle: Rounded Corners 4">
              <a:extLst>
                <a:ext uri="{FF2B5EF4-FFF2-40B4-BE49-F238E27FC236}">
                  <a16:creationId xmlns:a16="http://schemas.microsoft.com/office/drawing/2014/main" id="{7B7FA9F8-D9DA-C870-0240-BD3A294C3509}"/>
                </a:ext>
              </a:extLst>
            </p:cNvPr>
            <p:cNvSpPr txBox="1"/>
            <p:nvPr/>
          </p:nvSpPr>
          <p:spPr>
            <a:xfrm>
              <a:off x="20275" y="20276"/>
              <a:ext cx="1113218" cy="651710"/>
            </a:xfrm>
            <a:prstGeom prst="rect">
              <a:avLst/>
            </a:prstGeom>
          </p:spPr>
          <p:style>
            <a:lnRef idx="0">
              <a:scrgbClr r="0" g="0" b="0"/>
            </a:lnRef>
            <a:fillRef idx="0">
              <a:scrgbClr r="0" g="0" b="0"/>
            </a:fillRef>
            <a:effectRef idx="0">
              <a:scrgbClr r="0" g="0" b="0"/>
            </a:effectRef>
            <a:fontRef idx="minor">
              <a:schemeClr val="lt1"/>
            </a:fontRef>
          </p:style>
          <p:txBody>
            <a:bodyPr spcFirstLastPara="0" vert="horz" wrap="square" lIns="68580" tIns="68580" rIns="68580" bIns="68580" numCol="1" spcCol="1270" anchor="ctr" anchorCtr="0">
              <a:noAutofit/>
            </a:bodyPr>
            <a:lstStyle/>
            <a:p>
              <a:pPr lvl="0"/>
              <a:r>
                <a:rPr lang="en-SG" dirty="0"/>
                <a:t>Reflection (AI)</a:t>
              </a:r>
            </a:p>
            <a:p>
              <a:pPr marL="171450" lvl="0" indent="-171450">
                <a:buFont typeface="Arial" panose="020B0604020202020204" pitchFamily="34" charset="0"/>
                <a:buChar char="•"/>
              </a:pPr>
              <a:r>
                <a:rPr lang="en-SG" sz="1000" dirty="0"/>
                <a:t>Assess evidence coverage, applicability, and confidence</a:t>
              </a:r>
              <a:endParaRPr lang="en-SG" sz="1000" b="1" dirty="0"/>
            </a:p>
          </p:txBody>
        </p:sp>
      </p:grpSp>
      <p:sp>
        <p:nvSpPr>
          <p:cNvPr id="80" name="TextBox 79">
            <a:extLst>
              <a:ext uri="{FF2B5EF4-FFF2-40B4-BE49-F238E27FC236}">
                <a16:creationId xmlns:a16="http://schemas.microsoft.com/office/drawing/2014/main" id="{597A62CD-FA85-7981-B4D7-E48AA5D0F00D}"/>
              </a:ext>
            </a:extLst>
          </p:cNvPr>
          <p:cNvSpPr txBox="1"/>
          <p:nvPr/>
        </p:nvSpPr>
        <p:spPr>
          <a:xfrm>
            <a:off x="118577" y="1951778"/>
            <a:ext cx="4486131" cy="480131"/>
          </a:xfrm>
          <a:prstGeom prst="rect">
            <a:avLst/>
          </a:prstGeom>
          <a:noFill/>
        </p:spPr>
        <p:txBody>
          <a:bodyPr wrap="square">
            <a:spAutoFit/>
          </a:bodyPr>
          <a:lstStyle/>
          <a:p>
            <a:pPr marL="0" lvl="0" indent="0" defTabSz="800100">
              <a:lnSpc>
                <a:spcPct val="90000"/>
              </a:lnSpc>
              <a:spcBef>
                <a:spcPct val="0"/>
              </a:spcBef>
              <a:spcAft>
                <a:spcPct val="35000"/>
              </a:spcAft>
              <a:buNone/>
            </a:pPr>
            <a:r>
              <a:rPr lang="en-SG" sz="1400" i="1" dirty="0"/>
              <a:t>Specialist AIs and Tools exposed as a local MCP-style interface to standardize structure and keep traces visually consistent.</a:t>
            </a:r>
          </a:p>
        </p:txBody>
      </p:sp>
      <p:grpSp>
        <p:nvGrpSpPr>
          <p:cNvPr id="81" name="Group 80">
            <a:extLst>
              <a:ext uri="{FF2B5EF4-FFF2-40B4-BE49-F238E27FC236}">
                <a16:creationId xmlns:a16="http://schemas.microsoft.com/office/drawing/2014/main" id="{A4575C4C-5CA1-8066-91FD-B0079618861F}"/>
              </a:ext>
            </a:extLst>
          </p:cNvPr>
          <p:cNvGrpSpPr/>
          <p:nvPr/>
        </p:nvGrpSpPr>
        <p:grpSpPr>
          <a:xfrm rot="5400000">
            <a:off x="6973126" y="4774560"/>
            <a:ext cx="1503211" cy="250602"/>
            <a:chOff x="9272692" y="1547728"/>
            <a:chExt cx="370682" cy="433628"/>
          </a:xfrm>
        </p:grpSpPr>
        <p:sp>
          <p:nvSpPr>
            <p:cNvPr id="82" name="Arrow: Right 81">
              <a:extLst>
                <a:ext uri="{FF2B5EF4-FFF2-40B4-BE49-F238E27FC236}">
                  <a16:creationId xmlns:a16="http://schemas.microsoft.com/office/drawing/2014/main" id="{7A11667C-3FE4-3D78-87FF-54E4E7B55A3F}"/>
                </a:ext>
              </a:extLst>
            </p:cNvPr>
            <p:cNvSpPr/>
            <p:nvPr/>
          </p:nvSpPr>
          <p:spPr>
            <a:xfrm>
              <a:off x="9272692" y="1547728"/>
              <a:ext cx="370682" cy="433628"/>
            </a:xfrm>
            <a:prstGeom prst="rightArrow">
              <a:avLst>
                <a:gd name="adj1" fmla="val 60000"/>
                <a:gd name="adj2" fmla="val 50000"/>
              </a:avLst>
            </a:prstGeom>
          </p:spPr>
          <p:style>
            <a:lnRef idx="0">
              <a:schemeClr val="accent1">
                <a:tint val="60000"/>
                <a:hueOff val="0"/>
                <a:satOff val="0"/>
                <a:lumOff val="0"/>
                <a:alphaOff val="0"/>
              </a:schemeClr>
            </a:lnRef>
            <a:fillRef idx="1">
              <a:schemeClr val="accent1">
                <a:tint val="60000"/>
                <a:hueOff val="0"/>
                <a:satOff val="0"/>
                <a:lumOff val="0"/>
                <a:alphaOff val="0"/>
              </a:schemeClr>
            </a:fillRef>
            <a:effectRef idx="0">
              <a:schemeClr val="accent1">
                <a:tint val="60000"/>
                <a:hueOff val="0"/>
                <a:satOff val="0"/>
                <a:lumOff val="0"/>
                <a:alphaOff val="0"/>
              </a:schemeClr>
            </a:effectRef>
            <a:fontRef idx="minor">
              <a:schemeClr val="lt1"/>
            </a:fontRef>
          </p:style>
          <p:txBody>
            <a:bodyPr/>
            <a:lstStyle/>
            <a:p>
              <a:endParaRPr lang="en-SG" dirty="0"/>
            </a:p>
          </p:txBody>
        </p:sp>
        <p:sp>
          <p:nvSpPr>
            <p:cNvPr id="83" name="Arrow: Right 4">
              <a:extLst>
                <a:ext uri="{FF2B5EF4-FFF2-40B4-BE49-F238E27FC236}">
                  <a16:creationId xmlns:a16="http://schemas.microsoft.com/office/drawing/2014/main" id="{F034C5D6-3F78-230F-BA5A-AEA0C58CE8EA}"/>
                </a:ext>
              </a:extLst>
            </p:cNvPr>
            <p:cNvSpPr txBox="1"/>
            <p:nvPr/>
          </p:nvSpPr>
          <p:spPr>
            <a:xfrm>
              <a:off x="9272692" y="1634454"/>
              <a:ext cx="259477" cy="260176"/>
            </a:xfrm>
            <a:prstGeom prst="rect">
              <a:avLst/>
            </a:prstGeom>
          </p:spPr>
          <p:style>
            <a:lnRef idx="0">
              <a:scrgbClr r="0" g="0" b="0"/>
            </a:lnRef>
            <a:fillRef idx="0">
              <a:scrgbClr r="0" g="0" b="0"/>
            </a:fillRef>
            <a:effectRef idx="0">
              <a:scrgbClr r="0" g="0" b="0"/>
            </a:effectRef>
            <a:fontRef idx="minor">
              <a:schemeClr val="lt1"/>
            </a:fontRef>
          </p:style>
          <p:txBody>
            <a:bodyPr spcFirstLastPara="0" vert="horz" wrap="square" lIns="0" tIns="0" rIns="0" bIns="0" numCol="1" spcCol="1270" anchor="ctr" anchorCtr="0">
              <a:noAutofit/>
            </a:bodyPr>
            <a:lstStyle/>
            <a:p>
              <a:pPr marL="0" lvl="0" indent="0" algn="ctr" defTabSz="577850">
                <a:lnSpc>
                  <a:spcPct val="90000"/>
                </a:lnSpc>
                <a:spcBef>
                  <a:spcPct val="0"/>
                </a:spcBef>
                <a:spcAft>
                  <a:spcPct val="35000"/>
                </a:spcAft>
                <a:buNone/>
              </a:pPr>
              <a:endParaRPr lang="en-SG" sz="1300" kern="1200" dirty="0"/>
            </a:p>
          </p:txBody>
        </p:sp>
      </p:grpSp>
      <p:sp>
        <p:nvSpPr>
          <p:cNvPr id="98" name="TextBox 97">
            <a:extLst>
              <a:ext uri="{FF2B5EF4-FFF2-40B4-BE49-F238E27FC236}">
                <a16:creationId xmlns:a16="http://schemas.microsoft.com/office/drawing/2014/main" id="{44905841-C993-BBDB-2ABA-C64BBEE20FA1}"/>
              </a:ext>
            </a:extLst>
          </p:cNvPr>
          <p:cNvSpPr txBox="1"/>
          <p:nvPr/>
        </p:nvSpPr>
        <p:spPr>
          <a:xfrm>
            <a:off x="8195758" y="4130763"/>
            <a:ext cx="1859905" cy="666336"/>
          </a:xfrm>
          <a:prstGeom prst="rect">
            <a:avLst/>
          </a:prstGeom>
          <a:noFill/>
        </p:spPr>
        <p:txBody>
          <a:bodyPr wrap="square">
            <a:spAutoFit/>
          </a:bodyPr>
          <a:lstStyle/>
          <a:p>
            <a:pPr marL="0" lvl="0" indent="0" defTabSz="800100">
              <a:lnSpc>
                <a:spcPct val="90000"/>
              </a:lnSpc>
              <a:spcBef>
                <a:spcPct val="0"/>
              </a:spcBef>
              <a:spcAft>
                <a:spcPct val="35000"/>
              </a:spcAft>
              <a:buNone/>
            </a:pPr>
            <a:r>
              <a:rPr lang="en-SG" sz="1400" b="1" i="1" dirty="0"/>
              <a:t>Success</a:t>
            </a:r>
          </a:p>
          <a:p>
            <a:pPr marL="0" lvl="0" indent="0" defTabSz="800100">
              <a:lnSpc>
                <a:spcPct val="90000"/>
              </a:lnSpc>
              <a:spcBef>
                <a:spcPct val="0"/>
              </a:spcBef>
              <a:spcAft>
                <a:spcPct val="35000"/>
              </a:spcAft>
              <a:buNone/>
            </a:pPr>
            <a:r>
              <a:rPr lang="en-SG" sz="1100" i="1" dirty="0"/>
              <a:t>(includes response, confidence, clarifying comments)</a:t>
            </a:r>
          </a:p>
        </p:txBody>
      </p:sp>
      <p:sp>
        <p:nvSpPr>
          <p:cNvPr id="99" name="TextBox 98">
            <a:extLst>
              <a:ext uri="{FF2B5EF4-FFF2-40B4-BE49-F238E27FC236}">
                <a16:creationId xmlns:a16="http://schemas.microsoft.com/office/drawing/2014/main" id="{17AE04E0-8D19-6F67-C11E-DDA02CD80D6B}"/>
              </a:ext>
            </a:extLst>
          </p:cNvPr>
          <p:cNvSpPr txBox="1"/>
          <p:nvPr/>
        </p:nvSpPr>
        <p:spPr>
          <a:xfrm>
            <a:off x="6770587" y="5121084"/>
            <a:ext cx="707184" cy="286232"/>
          </a:xfrm>
          <a:prstGeom prst="rect">
            <a:avLst/>
          </a:prstGeom>
          <a:noFill/>
        </p:spPr>
        <p:txBody>
          <a:bodyPr wrap="square">
            <a:spAutoFit/>
          </a:bodyPr>
          <a:lstStyle/>
          <a:p>
            <a:pPr marL="0" lvl="0" indent="0" defTabSz="800100">
              <a:lnSpc>
                <a:spcPct val="90000"/>
              </a:lnSpc>
              <a:spcBef>
                <a:spcPct val="0"/>
              </a:spcBef>
              <a:spcAft>
                <a:spcPct val="35000"/>
              </a:spcAft>
              <a:buNone/>
            </a:pPr>
            <a:r>
              <a:rPr lang="en-SG" sz="1400" b="1" i="1" dirty="0"/>
              <a:t>Query</a:t>
            </a:r>
          </a:p>
        </p:txBody>
      </p:sp>
      <p:sp>
        <p:nvSpPr>
          <p:cNvPr id="100" name="TextBox 99">
            <a:extLst>
              <a:ext uri="{FF2B5EF4-FFF2-40B4-BE49-F238E27FC236}">
                <a16:creationId xmlns:a16="http://schemas.microsoft.com/office/drawing/2014/main" id="{EAAAFFAF-3500-458E-D607-C73D2AF5F9A9}"/>
              </a:ext>
            </a:extLst>
          </p:cNvPr>
          <p:cNvSpPr txBox="1"/>
          <p:nvPr/>
        </p:nvSpPr>
        <p:spPr>
          <a:xfrm>
            <a:off x="8581702" y="1259702"/>
            <a:ext cx="3467421" cy="456279"/>
          </a:xfrm>
          <a:prstGeom prst="rect">
            <a:avLst/>
          </a:prstGeom>
          <a:noFill/>
        </p:spPr>
        <p:txBody>
          <a:bodyPr wrap="square">
            <a:spAutoFit/>
          </a:bodyPr>
          <a:lstStyle/>
          <a:p>
            <a:pPr lvl="0" defTabSz="800100">
              <a:lnSpc>
                <a:spcPct val="90000"/>
              </a:lnSpc>
              <a:spcBef>
                <a:spcPct val="0"/>
              </a:spcBef>
              <a:spcAft>
                <a:spcPct val="35000"/>
              </a:spcAft>
            </a:pPr>
            <a:r>
              <a:rPr lang="en-SG" sz="1100" b="1" i="1" dirty="0"/>
              <a:t>Deterministic plan steps for state “execute_plan”</a:t>
            </a:r>
          </a:p>
          <a:p>
            <a:pPr lvl="0" defTabSz="800100">
              <a:lnSpc>
                <a:spcPct val="90000"/>
              </a:lnSpc>
              <a:spcBef>
                <a:spcPct val="0"/>
              </a:spcBef>
              <a:spcAft>
                <a:spcPct val="35000"/>
              </a:spcAft>
            </a:pPr>
            <a:r>
              <a:rPr lang="en-SG" sz="1100" i="1" dirty="0"/>
              <a:t>["retrieve", "rerank", "synthesize”, “reflect”]</a:t>
            </a:r>
          </a:p>
        </p:txBody>
      </p:sp>
      <p:grpSp>
        <p:nvGrpSpPr>
          <p:cNvPr id="108" name="Group 107">
            <a:extLst>
              <a:ext uri="{FF2B5EF4-FFF2-40B4-BE49-F238E27FC236}">
                <a16:creationId xmlns:a16="http://schemas.microsoft.com/office/drawing/2014/main" id="{08A540BE-6284-6664-D900-85D581AA754B}"/>
              </a:ext>
            </a:extLst>
          </p:cNvPr>
          <p:cNvGrpSpPr/>
          <p:nvPr/>
        </p:nvGrpSpPr>
        <p:grpSpPr>
          <a:xfrm>
            <a:off x="5452946" y="2812148"/>
            <a:ext cx="878101" cy="236637"/>
            <a:chOff x="9272692" y="1547728"/>
            <a:chExt cx="370682" cy="433628"/>
          </a:xfrm>
        </p:grpSpPr>
        <p:sp>
          <p:nvSpPr>
            <p:cNvPr id="109" name="Arrow: Right 108">
              <a:extLst>
                <a:ext uri="{FF2B5EF4-FFF2-40B4-BE49-F238E27FC236}">
                  <a16:creationId xmlns:a16="http://schemas.microsoft.com/office/drawing/2014/main" id="{2CF36FEA-C4CA-2DB1-EE4F-DFD542921FA2}"/>
                </a:ext>
              </a:extLst>
            </p:cNvPr>
            <p:cNvSpPr/>
            <p:nvPr/>
          </p:nvSpPr>
          <p:spPr>
            <a:xfrm>
              <a:off x="9272692" y="1547728"/>
              <a:ext cx="370682" cy="433628"/>
            </a:xfrm>
            <a:prstGeom prst="rightArrow">
              <a:avLst>
                <a:gd name="adj1" fmla="val 60000"/>
                <a:gd name="adj2" fmla="val 50000"/>
              </a:avLst>
            </a:prstGeom>
          </p:spPr>
          <p:style>
            <a:lnRef idx="0">
              <a:schemeClr val="accent1">
                <a:tint val="60000"/>
                <a:hueOff val="0"/>
                <a:satOff val="0"/>
                <a:lumOff val="0"/>
                <a:alphaOff val="0"/>
              </a:schemeClr>
            </a:lnRef>
            <a:fillRef idx="1">
              <a:schemeClr val="accent1">
                <a:tint val="60000"/>
                <a:hueOff val="0"/>
                <a:satOff val="0"/>
                <a:lumOff val="0"/>
                <a:alphaOff val="0"/>
              </a:schemeClr>
            </a:fillRef>
            <a:effectRef idx="0">
              <a:schemeClr val="accent1">
                <a:tint val="60000"/>
                <a:hueOff val="0"/>
                <a:satOff val="0"/>
                <a:lumOff val="0"/>
                <a:alphaOff val="0"/>
              </a:schemeClr>
            </a:effectRef>
            <a:fontRef idx="minor">
              <a:schemeClr val="lt1"/>
            </a:fontRef>
          </p:style>
          <p:txBody>
            <a:bodyPr/>
            <a:lstStyle/>
            <a:p>
              <a:endParaRPr lang="en-SG" dirty="0"/>
            </a:p>
          </p:txBody>
        </p:sp>
        <p:sp>
          <p:nvSpPr>
            <p:cNvPr id="110" name="Arrow: Right 4">
              <a:extLst>
                <a:ext uri="{FF2B5EF4-FFF2-40B4-BE49-F238E27FC236}">
                  <a16:creationId xmlns:a16="http://schemas.microsoft.com/office/drawing/2014/main" id="{355301E8-F8CB-A5D1-19D7-363C06B05761}"/>
                </a:ext>
              </a:extLst>
            </p:cNvPr>
            <p:cNvSpPr txBox="1"/>
            <p:nvPr/>
          </p:nvSpPr>
          <p:spPr>
            <a:xfrm>
              <a:off x="9272692" y="1634454"/>
              <a:ext cx="259477" cy="260176"/>
            </a:xfrm>
            <a:prstGeom prst="rect">
              <a:avLst/>
            </a:prstGeom>
          </p:spPr>
          <p:style>
            <a:lnRef idx="0">
              <a:scrgbClr r="0" g="0" b="0"/>
            </a:lnRef>
            <a:fillRef idx="0">
              <a:scrgbClr r="0" g="0" b="0"/>
            </a:fillRef>
            <a:effectRef idx="0">
              <a:scrgbClr r="0" g="0" b="0"/>
            </a:effectRef>
            <a:fontRef idx="minor">
              <a:schemeClr val="lt1"/>
            </a:fontRef>
          </p:style>
          <p:txBody>
            <a:bodyPr spcFirstLastPara="0" vert="horz" wrap="square" lIns="0" tIns="0" rIns="0" bIns="0" numCol="1" spcCol="1270" anchor="ctr" anchorCtr="0">
              <a:noAutofit/>
            </a:bodyPr>
            <a:lstStyle/>
            <a:p>
              <a:pPr marL="0" lvl="0" indent="0" algn="ctr" defTabSz="577850">
                <a:lnSpc>
                  <a:spcPct val="90000"/>
                </a:lnSpc>
                <a:spcBef>
                  <a:spcPct val="0"/>
                </a:spcBef>
                <a:spcAft>
                  <a:spcPct val="35000"/>
                </a:spcAft>
                <a:buNone/>
              </a:pPr>
              <a:endParaRPr lang="en-SG" sz="1300" kern="1200" dirty="0"/>
            </a:p>
          </p:txBody>
        </p:sp>
      </p:grpSp>
      <p:sp>
        <p:nvSpPr>
          <p:cNvPr id="111" name="TextBox 110">
            <a:extLst>
              <a:ext uri="{FF2B5EF4-FFF2-40B4-BE49-F238E27FC236}">
                <a16:creationId xmlns:a16="http://schemas.microsoft.com/office/drawing/2014/main" id="{2237068E-0D26-3E25-D238-49D21F341594}"/>
              </a:ext>
            </a:extLst>
          </p:cNvPr>
          <p:cNvSpPr txBox="1"/>
          <p:nvPr/>
        </p:nvSpPr>
        <p:spPr>
          <a:xfrm>
            <a:off x="8596352" y="886389"/>
            <a:ext cx="1990645" cy="397032"/>
          </a:xfrm>
          <a:prstGeom prst="rect">
            <a:avLst/>
          </a:prstGeom>
          <a:noFill/>
        </p:spPr>
        <p:txBody>
          <a:bodyPr wrap="square">
            <a:spAutoFit/>
          </a:bodyPr>
          <a:lstStyle/>
          <a:p>
            <a:pPr marL="0" lvl="0" indent="0" defTabSz="800100">
              <a:lnSpc>
                <a:spcPct val="90000"/>
              </a:lnSpc>
              <a:spcBef>
                <a:spcPct val="0"/>
              </a:spcBef>
              <a:spcAft>
                <a:spcPct val="35000"/>
              </a:spcAft>
              <a:buNone/>
            </a:pPr>
            <a:r>
              <a:rPr lang="en-SG" sz="1100" b="1" i="1" dirty="0"/>
              <a:t>Manager States History</a:t>
            </a:r>
            <a:br>
              <a:rPr lang="en-SG" sz="1100" b="1" i="1" dirty="0"/>
            </a:br>
            <a:r>
              <a:rPr lang="en-SG" sz="1100" i="1" dirty="0"/>
              <a:t>[“execute_plan”, “success | fail"]</a:t>
            </a:r>
          </a:p>
        </p:txBody>
      </p:sp>
      <p:sp>
        <p:nvSpPr>
          <p:cNvPr id="112" name="TextBox 111">
            <a:extLst>
              <a:ext uri="{FF2B5EF4-FFF2-40B4-BE49-F238E27FC236}">
                <a16:creationId xmlns:a16="http://schemas.microsoft.com/office/drawing/2014/main" id="{C6E5852F-E5F5-8C72-F6BB-F938271F884B}"/>
              </a:ext>
            </a:extLst>
          </p:cNvPr>
          <p:cNvSpPr txBox="1"/>
          <p:nvPr/>
        </p:nvSpPr>
        <p:spPr>
          <a:xfrm>
            <a:off x="1451579" y="1469398"/>
            <a:ext cx="4329878" cy="369332"/>
          </a:xfrm>
          <a:prstGeom prst="rect">
            <a:avLst/>
          </a:prstGeom>
          <a:noFill/>
        </p:spPr>
        <p:txBody>
          <a:bodyPr wrap="square" rtlCol="0">
            <a:spAutoFit/>
          </a:bodyPr>
          <a:lstStyle/>
          <a:p>
            <a:r>
              <a:rPr lang="en-SG" dirty="0"/>
              <a:t>RAG &amp; Agentic AI Orchestration</a:t>
            </a:r>
          </a:p>
        </p:txBody>
      </p:sp>
      <p:sp>
        <p:nvSpPr>
          <p:cNvPr id="113" name="TextBox 112">
            <a:extLst>
              <a:ext uri="{FF2B5EF4-FFF2-40B4-BE49-F238E27FC236}">
                <a16:creationId xmlns:a16="http://schemas.microsoft.com/office/drawing/2014/main" id="{1BA866B9-7866-1796-4614-E8591FD25DA7}"/>
              </a:ext>
            </a:extLst>
          </p:cNvPr>
          <p:cNvSpPr txBox="1"/>
          <p:nvPr/>
        </p:nvSpPr>
        <p:spPr>
          <a:xfrm>
            <a:off x="9270" y="2841988"/>
            <a:ext cx="1688459" cy="1759712"/>
          </a:xfrm>
          <a:prstGeom prst="rect">
            <a:avLst/>
          </a:prstGeom>
          <a:noFill/>
        </p:spPr>
        <p:txBody>
          <a:bodyPr wrap="square">
            <a:spAutoFit/>
          </a:bodyPr>
          <a:lstStyle/>
          <a:p>
            <a:pPr marL="0" lvl="0" indent="0" defTabSz="800100">
              <a:lnSpc>
                <a:spcPct val="90000"/>
              </a:lnSpc>
              <a:spcBef>
                <a:spcPct val="0"/>
              </a:spcBef>
              <a:spcAft>
                <a:spcPct val="35000"/>
              </a:spcAft>
              <a:buNone/>
            </a:pPr>
            <a:r>
              <a:rPr lang="en-SG" sz="1100" b="1" i="1" dirty="0"/>
              <a:t>Evaluation Approach</a:t>
            </a:r>
          </a:p>
          <a:p>
            <a:pPr marL="228600" lvl="0" indent="-228600" defTabSz="800100">
              <a:lnSpc>
                <a:spcPct val="90000"/>
              </a:lnSpc>
              <a:spcBef>
                <a:spcPct val="0"/>
              </a:spcBef>
              <a:spcAft>
                <a:spcPct val="35000"/>
              </a:spcAft>
              <a:buAutoNum type="arabicPeriod"/>
            </a:pPr>
            <a:r>
              <a:rPr lang="en-SG" sz="1100" b="1" i="1" dirty="0"/>
              <a:t>LLM-as-judge</a:t>
            </a:r>
          </a:p>
          <a:p>
            <a:pPr marL="685800" lvl="1" indent="-228600" defTabSz="800100">
              <a:lnSpc>
                <a:spcPct val="90000"/>
              </a:lnSpc>
              <a:spcBef>
                <a:spcPct val="0"/>
              </a:spcBef>
              <a:spcAft>
                <a:spcPct val="35000"/>
              </a:spcAft>
              <a:buFont typeface="+mj-lt"/>
              <a:buAutoNum type="arabicPeriod"/>
            </a:pPr>
            <a:r>
              <a:rPr lang="en-SG" sz="1100" i="1" dirty="0"/>
              <a:t>Confidence score</a:t>
            </a:r>
          </a:p>
          <a:p>
            <a:pPr marL="685800" lvl="1" indent="-228600" defTabSz="800100">
              <a:lnSpc>
                <a:spcPct val="90000"/>
              </a:lnSpc>
              <a:spcBef>
                <a:spcPct val="0"/>
              </a:spcBef>
              <a:spcAft>
                <a:spcPct val="35000"/>
              </a:spcAft>
              <a:buFont typeface="+mj-lt"/>
              <a:buAutoNum type="arabicPeriod"/>
            </a:pPr>
            <a:r>
              <a:rPr lang="en-SG" sz="1100" i="1" dirty="0"/>
              <a:t>Comments on Relevance</a:t>
            </a:r>
          </a:p>
          <a:p>
            <a:pPr marL="685800" lvl="1" indent="-228600" defTabSz="800100">
              <a:lnSpc>
                <a:spcPct val="90000"/>
              </a:lnSpc>
              <a:spcBef>
                <a:spcPct val="0"/>
              </a:spcBef>
              <a:spcAft>
                <a:spcPct val="35000"/>
              </a:spcAft>
              <a:buFont typeface="+mj-lt"/>
              <a:buAutoNum type="arabicPeriod"/>
            </a:pPr>
            <a:r>
              <a:rPr lang="en-SG" sz="1100" i="1" dirty="0"/>
              <a:t>Comments on Evidence</a:t>
            </a:r>
          </a:p>
          <a:p>
            <a:pPr marL="228600" indent="-228600" defTabSz="800100">
              <a:lnSpc>
                <a:spcPct val="90000"/>
              </a:lnSpc>
              <a:spcBef>
                <a:spcPct val="0"/>
              </a:spcBef>
              <a:spcAft>
                <a:spcPct val="35000"/>
              </a:spcAft>
              <a:buFont typeface="+mj-lt"/>
              <a:buAutoNum type="arabicPeriod"/>
            </a:pPr>
            <a:r>
              <a:rPr lang="en-SG" sz="1100" b="1" i="1" dirty="0"/>
              <a:t>Human-in-the-loop</a:t>
            </a:r>
          </a:p>
        </p:txBody>
      </p:sp>
      <p:sp>
        <p:nvSpPr>
          <p:cNvPr id="10" name="TextBox 9">
            <a:extLst>
              <a:ext uri="{FF2B5EF4-FFF2-40B4-BE49-F238E27FC236}">
                <a16:creationId xmlns:a16="http://schemas.microsoft.com/office/drawing/2014/main" id="{E23462E0-5DCD-B12D-DE47-C3B057C2B698}"/>
              </a:ext>
            </a:extLst>
          </p:cNvPr>
          <p:cNvSpPr txBox="1"/>
          <p:nvPr/>
        </p:nvSpPr>
        <p:spPr>
          <a:xfrm>
            <a:off x="8191657" y="4854426"/>
            <a:ext cx="1571807" cy="590931"/>
          </a:xfrm>
          <a:prstGeom prst="rect">
            <a:avLst/>
          </a:prstGeom>
          <a:noFill/>
        </p:spPr>
        <p:txBody>
          <a:bodyPr wrap="square">
            <a:spAutoFit/>
          </a:bodyPr>
          <a:lstStyle/>
          <a:p>
            <a:pPr marL="0" lvl="0" indent="0" defTabSz="800100">
              <a:lnSpc>
                <a:spcPct val="90000"/>
              </a:lnSpc>
              <a:spcBef>
                <a:spcPct val="0"/>
              </a:spcBef>
              <a:spcAft>
                <a:spcPct val="35000"/>
              </a:spcAft>
              <a:buNone/>
            </a:pPr>
            <a:r>
              <a:rPr lang="en-SG" sz="1400" b="1" i="1" dirty="0"/>
              <a:t>or Fail (defensive)</a:t>
            </a:r>
            <a:br>
              <a:rPr lang="en-SG" sz="1400" i="1" dirty="0"/>
            </a:br>
            <a:r>
              <a:rPr lang="en-SG" sz="1100" i="1" dirty="0"/>
              <a:t>(incoherent_query, guardrail_block …)</a:t>
            </a:r>
          </a:p>
        </p:txBody>
      </p:sp>
      <p:grpSp>
        <p:nvGrpSpPr>
          <p:cNvPr id="19" name="Group 18">
            <a:extLst>
              <a:ext uri="{FF2B5EF4-FFF2-40B4-BE49-F238E27FC236}">
                <a16:creationId xmlns:a16="http://schemas.microsoft.com/office/drawing/2014/main" id="{153E9D57-4CA5-68CE-DD14-9D6B6283ACF9}"/>
              </a:ext>
            </a:extLst>
          </p:cNvPr>
          <p:cNvGrpSpPr/>
          <p:nvPr/>
        </p:nvGrpSpPr>
        <p:grpSpPr>
          <a:xfrm rot="16200000">
            <a:off x="6697464" y="4763981"/>
            <a:ext cx="1503211" cy="250602"/>
            <a:chOff x="9272692" y="1547728"/>
            <a:chExt cx="370682" cy="433628"/>
          </a:xfrm>
        </p:grpSpPr>
        <p:sp>
          <p:nvSpPr>
            <p:cNvPr id="20" name="Arrow: Right 19">
              <a:extLst>
                <a:ext uri="{FF2B5EF4-FFF2-40B4-BE49-F238E27FC236}">
                  <a16:creationId xmlns:a16="http://schemas.microsoft.com/office/drawing/2014/main" id="{7E4533F2-DB46-C289-F345-6B5D40E73EEE}"/>
                </a:ext>
              </a:extLst>
            </p:cNvPr>
            <p:cNvSpPr/>
            <p:nvPr/>
          </p:nvSpPr>
          <p:spPr>
            <a:xfrm>
              <a:off x="9272692" y="1547728"/>
              <a:ext cx="370682" cy="433628"/>
            </a:xfrm>
            <a:prstGeom prst="rightArrow">
              <a:avLst>
                <a:gd name="adj1" fmla="val 60000"/>
                <a:gd name="adj2" fmla="val 50000"/>
              </a:avLst>
            </a:prstGeom>
          </p:spPr>
          <p:style>
            <a:lnRef idx="0">
              <a:schemeClr val="accent1">
                <a:tint val="60000"/>
                <a:hueOff val="0"/>
                <a:satOff val="0"/>
                <a:lumOff val="0"/>
                <a:alphaOff val="0"/>
              </a:schemeClr>
            </a:lnRef>
            <a:fillRef idx="1">
              <a:schemeClr val="accent1">
                <a:tint val="60000"/>
                <a:hueOff val="0"/>
                <a:satOff val="0"/>
                <a:lumOff val="0"/>
                <a:alphaOff val="0"/>
              </a:schemeClr>
            </a:fillRef>
            <a:effectRef idx="0">
              <a:schemeClr val="accent1">
                <a:tint val="60000"/>
                <a:hueOff val="0"/>
                <a:satOff val="0"/>
                <a:lumOff val="0"/>
                <a:alphaOff val="0"/>
              </a:schemeClr>
            </a:effectRef>
            <a:fontRef idx="minor">
              <a:schemeClr val="lt1"/>
            </a:fontRef>
          </p:style>
          <p:txBody>
            <a:bodyPr/>
            <a:lstStyle/>
            <a:p>
              <a:endParaRPr lang="en-SG" dirty="0"/>
            </a:p>
          </p:txBody>
        </p:sp>
        <p:sp>
          <p:nvSpPr>
            <p:cNvPr id="24" name="Arrow: Right 4">
              <a:extLst>
                <a:ext uri="{FF2B5EF4-FFF2-40B4-BE49-F238E27FC236}">
                  <a16:creationId xmlns:a16="http://schemas.microsoft.com/office/drawing/2014/main" id="{2CA80236-F093-7F12-AE10-1184EDB059A5}"/>
                </a:ext>
              </a:extLst>
            </p:cNvPr>
            <p:cNvSpPr txBox="1"/>
            <p:nvPr/>
          </p:nvSpPr>
          <p:spPr>
            <a:xfrm>
              <a:off x="9272692" y="1634454"/>
              <a:ext cx="259477" cy="260176"/>
            </a:xfrm>
            <a:prstGeom prst="rect">
              <a:avLst/>
            </a:prstGeom>
          </p:spPr>
          <p:style>
            <a:lnRef idx="0">
              <a:scrgbClr r="0" g="0" b="0"/>
            </a:lnRef>
            <a:fillRef idx="0">
              <a:scrgbClr r="0" g="0" b="0"/>
            </a:fillRef>
            <a:effectRef idx="0">
              <a:scrgbClr r="0" g="0" b="0"/>
            </a:effectRef>
            <a:fontRef idx="minor">
              <a:schemeClr val="lt1"/>
            </a:fontRef>
          </p:style>
          <p:txBody>
            <a:bodyPr spcFirstLastPara="0" vert="horz" wrap="square" lIns="0" tIns="0" rIns="0" bIns="0" numCol="1" spcCol="1270" anchor="ctr" anchorCtr="0">
              <a:noAutofit/>
            </a:bodyPr>
            <a:lstStyle/>
            <a:p>
              <a:pPr marL="0" lvl="0" indent="0" algn="ctr" defTabSz="577850">
                <a:lnSpc>
                  <a:spcPct val="90000"/>
                </a:lnSpc>
                <a:spcBef>
                  <a:spcPct val="0"/>
                </a:spcBef>
                <a:spcAft>
                  <a:spcPct val="35000"/>
                </a:spcAft>
                <a:buNone/>
              </a:pPr>
              <a:endParaRPr lang="en-SG" sz="1300" kern="1200" dirty="0"/>
            </a:p>
          </p:txBody>
        </p:sp>
      </p:grpSp>
      <p:sp>
        <p:nvSpPr>
          <p:cNvPr id="25" name="Flowchart: Connector 24">
            <a:extLst>
              <a:ext uri="{FF2B5EF4-FFF2-40B4-BE49-F238E27FC236}">
                <a16:creationId xmlns:a16="http://schemas.microsoft.com/office/drawing/2014/main" id="{5323C58B-1605-649D-5677-C6ED87FDC8C1}"/>
              </a:ext>
            </a:extLst>
          </p:cNvPr>
          <p:cNvSpPr/>
          <p:nvPr/>
        </p:nvSpPr>
        <p:spPr>
          <a:xfrm>
            <a:off x="6944597" y="5407316"/>
            <a:ext cx="341581" cy="233572"/>
          </a:xfrm>
          <a:prstGeom prst="flowChartConnector">
            <a:avLst/>
          </a:prstGeom>
          <a:solidFill>
            <a:srgbClr val="FFC000"/>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SG" sz="1200" dirty="0">
                <a:solidFill>
                  <a:schemeClr val="tx1"/>
                </a:solidFill>
              </a:rPr>
              <a:t>1</a:t>
            </a:r>
          </a:p>
        </p:txBody>
      </p:sp>
      <p:sp>
        <p:nvSpPr>
          <p:cNvPr id="26" name="Flowchart: Connector 25">
            <a:extLst>
              <a:ext uri="{FF2B5EF4-FFF2-40B4-BE49-F238E27FC236}">
                <a16:creationId xmlns:a16="http://schemas.microsoft.com/office/drawing/2014/main" id="{7F48CA32-E56A-D01A-5C9C-BC013D7E177A}"/>
              </a:ext>
            </a:extLst>
          </p:cNvPr>
          <p:cNvSpPr/>
          <p:nvPr/>
        </p:nvSpPr>
        <p:spPr>
          <a:xfrm>
            <a:off x="8732392" y="2283425"/>
            <a:ext cx="341581" cy="233572"/>
          </a:xfrm>
          <a:prstGeom prst="flowChartConnector">
            <a:avLst/>
          </a:prstGeom>
          <a:solidFill>
            <a:srgbClr val="FFC000"/>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SG" sz="1200" dirty="0">
                <a:solidFill>
                  <a:schemeClr val="tx1"/>
                </a:solidFill>
              </a:rPr>
              <a:t>2</a:t>
            </a:r>
          </a:p>
        </p:txBody>
      </p:sp>
      <p:sp>
        <p:nvSpPr>
          <p:cNvPr id="28" name="Flowchart: Connector 27">
            <a:extLst>
              <a:ext uri="{FF2B5EF4-FFF2-40B4-BE49-F238E27FC236}">
                <a16:creationId xmlns:a16="http://schemas.microsoft.com/office/drawing/2014/main" id="{665216FE-39CF-1A56-70BD-1C961579F31B}"/>
              </a:ext>
            </a:extLst>
          </p:cNvPr>
          <p:cNvSpPr/>
          <p:nvPr/>
        </p:nvSpPr>
        <p:spPr>
          <a:xfrm>
            <a:off x="6396436" y="2711658"/>
            <a:ext cx="341581" cy="233572"/>
          </a:xfrm>
          <a:prstGeom prst="flowChartConnector">
            <a:avLst/>
          </a:prstGeom>
          <a:solidFill>
            <a:srgbClr val="FFC000"/>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SG" sz="1200" dirty="0">
                <a:solidFill>
                  <a:schemeClr val="tx1"/>
                </a:solidFill>
              </a:rPr>
              <a:t>3</a:t>
            </a:r>
          </a:p>
        </p:txBody>
      </p:sp>
      <p:sp>
        <p:nvSpPr>
          <p:cNvPr id="30" name="Flowchart: Connector 29">
            <a:extLst>
              <a:ext uri="{FF2B5EF4-FFF2-40B4-BE49-F238E27FC236}">
                <a16:creationId xmlns:a16="http://schemas.microsoft.com/office/drawing/2014/main" id="{A677A806-DFA6-24FA-4CA9-27CD0E893455}"/>
              </a:ext>
            </a:extLst>
          </p:cNvPr>
          <p:cNvSpPr/>
          <p:nvPr/>
        </p:nvSpPr>
        <p:spPr>
          <a:xfrm>
            <a:off x="7887193" y="4053720"/>
            <a:ext cx="341581" cy="233572"/>
          </a:xfrm>
          <a:prstGeom prst="flowChartConnector">
            <a:avLst/>
          </a:prstGeom>
          <a:solidFill>
            <a:srgbClr val="FFC000"/>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SG" sz="1200" dirty="0">
                <a:solidFill>
                  <a:schemeClr val="tx1"/>
                </a:solidFill>
              </a:rPr>
              <a:t>4</a:t>
            </a:r>
          </a:p>
        </p:txBody>
      </p:sp>
      <p:sp>
        <p:nvSpPr>
          <p:cNvPr id="9" name="TextBox 8">
            <a:extLst>
              <a:ext uri="{FF2B5EF4-FFF2-40B4-BE49-F238E27FC236}">
                <a16:creationId xmlns:a16="http://schemas.microsoft.com/office/drawing/2014/main" id="{F10B3D9A-5A5D-45AA-427C-ED7AD5D96E45}"/>
              </a:ext>
            </a:extLst>
          </p:cNvPr>
          <p:cNvSpPr txBox="1"/>
          <p:nvPr/>
        </p:nvSpPr>
        <p:spPr>
          <a:xfrm>
            <a:off x="4744463" y="1942218"/>
            <a:ext cx="2187268" cy="477054"/>
          </a:xfrm>
          <a:prstGeom prst="rect">
            <a:avLst/>
          </a:prstGeom>
          <a:noFill/>
        </p:spPr>
        <p:txBody>
          <a:bodyPr wrap="square" rtlCol="0">
            <a:spAutoFit/>
          </a:bodyPr>
          <a:lstStyle/>
          <a:p>
            <a:r>
              <a:rPr lang="en-SG" sz="1400" b="1" i="1" dirty="0"/>
              <a:t>Input / Output Guardrails</a:t>
            </a:r>
            <a:br>
              <a:rPr lang="en-SG" sz="1100" i="1" dirty="0"/>
            </a:br>
            <a:r>
              <a:rPr lang="en-SG" sz="1100" i="1" dirty="0"/>
              <a:t>(Specialists, Manager)</a:t>
            </a:r>
          </a:p>
        </p:txBody>
      </p:sp>
      <p:sp>
        <p:nvSpPr>
          <p:cNvPr id="11" name="TextBox 10">
            <a:extLst>
              <a:ext uri="{FF2B5EF4-FFF2-40B4-BE49-F238E27FC236}">
                <a16:creationId xmlns:a16="http://schemas.microsoft.com/office/drawing/2014/main" id="{566B57B7-D5BC-5A5E-D45E-8D48516E2D0B}"/>
              </a:ext>
            </a:extLst>
          </p:cNvPr>
          <p:cNvSpPr txBox="1"/>
          <p:nvPr/>
        </p:nvSpPr>
        <p:spPr>
          <a:xfrm>
            <a:off x="8592637" y="82260"/>
            <a:ext cx="3547695" cy="760978"/>
          </a:xfrm>
          <a:prstGeom prst="rect">
            <a:avLst/>
          </a:prstGeom>
          <a:noFill/>
        </p:spPr>
        <p:txBody>
          <a:bodyPr wrap="square">
            <a:spAutoFit/>
          </a:bodyPr>
          <a:lstStyle/>
          <a:p>
            <a:pPr marL="0" lvl="0" indent="0" defTabSz="800100">
              <a:lnSpc>
                <a:spcPct val="90000"/>
              </a:lnSpc>
              <a:spcBef>
                <a:spcPct val="0"/>
              </a:spcBef>
              <a:spcAft>
                <a:spcPct val="35000"/>
              </a:spcAft>
              <a:buNone/>
            </a:pPr>
            <a:r>
              <a:rPr lang="en-SG" sz="1100" b="1" i="1" dirty="0"/>
              <a:t>Note:</a:t>
            </a:r>
          </a:p>
          <a:p>
            <a:pPr lvl="0" defTabSz="800100">
              <a:lnSpc>
                <a:spcPct val="90000"/>
              </a:lnSpc>
              <a:spcBef>
                <a:spcPct val="0"/>
              </a:spcBef>
              <a:spcAft>
                <a:spcPct val="35000"/>
              </a:spcAft>
            </a:pPr>
            <a:r>
              <a:rPr lang="en-SG" sz="1100" b="1" i="1" dirty="0"/>
              <a:t>“Manager States”</a:t>
            </a:r>
            <a:r>
              <a:rPr lang="en-SG" sz="1100" i="1" dirty="0"/>
              <a:t> and </a:t>
            </a:r>
            <a:r>
              <a:rPr lang="en-SG" sz="1100" b="1" i="1" dirty="0"/>
              <a:t>“Plan Steps” </a:t>
            </a:r>
            <a:r>
              <a:rPr lang="en-SG" sz="1100" i="1" dirty="0"/>
              <a:t>are separated to allow experiments with different states and plans configurations, while the current control flow is the default.</a:t>
            </a:r>
          </a:p>
        </p:txBody>
      </p:sp>
      <p:sp>
        <p:nvSpPr>
          <p:cNvPr id="12" name="Flowchart: Connector 11">
            <a:extLst>
              <a:ext uri="{FF2B5EF4-FFF2-40B4-BE49-F238E27FC236}">
                <a16:creationId xmlns:a16="http://schemas.microsoft.com/office/drawing/2014/main" id="{BC480591-C1E5-AC7D-7D5B-F0D0D1E7F4F2}"/>
              </a:ext>
            </a:extLst>
          </p:cNvPr>
          <p:cNvSpPr/>
          <p:nvPr/>
        </p:nvSpPr>
        <p:spPr>
          <a:xfrm>
            <a:off x="8222371" y="328793"/>
            <a:ext cx="341581" cy="233572"/>
          </a:xfrm>
          <a:prstGeom prst="flowChartConnector">
            <a:avLst/>
          </a:prstGeom>
          <a:solidFill>
            <a:srgbClr val="FFC000"/>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SG" sz="1200" dirty="0">
                <a:solidFill>
                  <a:schemeClr val="tx1"/>
                </a:solidFill>
              </a:rPr>
              <a:t>3</a:t>
            </a:r>
          </a:p>
        </p:txBody>
      </p:sp>
    </p:spTree>
    <p:extLst>
      <p:ext uri="{BB962C8B-B14F-4D97-AF65-F5344CB8AC3E}">
        <p14:creationId xmlns:p14="http://schemas.microsoft.com/office/powerpoint/2010/main" val="2542888934"/>
      </p:ext>
    </p:extLst>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23ACA510-FE56-1FCC-3426-F549BE9489EB}"/>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62076918-BDA9-9384-774A-97EF8C3A5297}"/>
              </a:ext>
            </a:extLst>
          </p:cNvPr>
          <p:cNvSpPr>
            <a:spLocks noGrp="1"/>
          </p:cNvSpPr>
          <p:nvPr>
            <p:ph type="title"/>
          </p:nvPr>
        </p:nvSpPr>
        <p:spPr/>
        <p:txBody>
          <a:bodyPr/>
          <a:lstStyle/>
          <a:p>
            <a:r>
              <a:rPr lang="en-SG" dirty="0"/>
              <a:t>System Architecture</a:t>
            </a:r>
          </a:p>
        </p:txBody>
      </p:sp>
      <p:sp>
        <p:nvSpPr>
          <p:cNvPr id="112" name="TextBox 111">
            <a:extLst>
              <a:ext uri="{FF2B5EF4-FFF2-40B4-BE49-F238E27FC236}">
                <a16:creationId xmlns:a16="http://schemas.microsoft.com/office/drawing/2014/main" id="{25B7D740-0C6B-7A4E-6947-D4082878E098}"/>
              </a:ext>
            </a:extLst>
          </p:cNvPr>
          <p:cNvSpPr txBox="1"/>
          <p:nvPr/>
        </p:nvSpPr>
        <p:spPr>
          <a:xfrm>
            <a:off x="1451579" y="1469398"/>
            <a:ext cx="8463946" cy="369332"/>
          </a:xfrm>
          <a:prstGeom prst="rect">
            <a:avLst/>
          </a:prstGeom>
          <a:noFill/>
        </p:spPr>
        <p:txBody>
          <a:bodyPr wrap="square" rtlCol="0">
            <a:spAutoFit/>
          </a:bodyPr>
          <a:lstStyle/>
          <a:p>
            <a:r>
              <a:rPr lang="en-SG" dirty="0"/>
              <a:t>Hybrid Retrieval: Semantic Understanding + Keyword Grounding</a:t>
            </a:r>
          </a:p>
        </p:txBody>
      </p:sp>
      <p:sp>
        <p:nvSpPr>
          <p:cNvPr id="14" name="TextBox 13">
            <a:extLst>
              <a:ext uri="{FF2B5EF4-FFF2-40B4-BE49-F238E27FC236}">
                <a16:creationId xmlns:a16="http://schemas.microsoft.com/office/drawing/2014/main" id="{E1461253-D18C-ABFA-A0DB-41FCDA60BACA}"/>
              </a:ext>
            </a:extLst>
          </p:cNvPr>
          <p:cNvSpPr txBox="1"/>
          <p:nvPr/>
        </p:nvSpPr>
        <p:spPr>
          <a:xfrm>
            <a:off x="228600" y="1904867"/>
            <a:ext cx="3676650" cy="3600986"/>
          </a:xfrm>
          <a:prstGeom prst="rect">
            <a:avLst/>
          </a:prstGeom>
          <a:solidFill>
            <a:schemeClr val="accent6">
              <a:lumMod val="40000"/>
              <a:lumOff val="60000"/>
            </a:schemeClr>
          </a:solidFill>
        </p:spPr>
        <p:txBody>
          <a:bodyPr wrap="square">
            <a:spAutoFit/>
          </a:bodyPr>
          <a:lstStyle/>
          <a:p>
            <a:r>
              <a:rPr lang="en-SG" sz="1200" b="1" dirty="0"/>
              <a:t>Dense semantic embedding</a:t>
            </a:r>
          </a:p>
          <a:p>
            <a:pPr marL="285750" indent="-285750">
              <a:buFont typeface="Wingdings" panose="05000000000000000000" pitchFamily="2" charset="2"/>
              <a:buChar char="Ø"/>
            </a:pPr>
            <a:r>
              <a:rPr lang="en-SG" sz="1200" b="1" dirty="0"/>
              <a:t>Purpose:</a:t>
            </a:r>
            <a:r>
              <a:rPr lang="en-SG" sz="1200" dirty="0"/>
              <a:t> Natural language understanding for encoding and retrieval</a:t>
            </a:r>
          </a:p>
          <a:p>
            <a:pPr marL="285750" indent="-285750">
              <a:buFont typeface="Wingdings" panose="05000000000000000000" pitchFamily="2" charset="2"/>
              <a:buChar char="Ø"/>
            </a:pPr>
            <a:endParaRPr lang="en-SG" sz="1200" dirty="0"/>
          </a:p>
          <a:p>
            <a:pPr marL="285750" indent="-285750">
              <a:buFont typeface="Wingdings" panose="05000000000000000000" pitchFamily="2" charset="2"/>
              <a:buChar char="Ø"/>
            </a:pPr>
            <a:r>
              <a:rPr lang="en-SG" sz="1200" b="1" dirty="0"/>
              <a:t>Model choice:</a:t>
            </a:r>
            <a:r>
              <a:rPr lang="en-SG" sz="1200" dirty="0"/>
              <a:t> </a:t>
            </a:r>
            <a:r>
              <a:rPr lang="en-SG" sz="1200" i="1" dirty="0"/>
              <a:t>SentenceTransformer </a:t>
            </a:r>
            <a:r>
              <a:rPr lang="en-SG" sz="1200" dirty="0"/>
              <a:t>python library</a:t>
            </a:r>
            <a:endParaRPr lang="en-SG" sz="1200" i="1" dirty="0"/>
          </a:p>
          <a:p>
            <a:pPr marL="285750" indent="-285750">
              <a:buFont typeface="Wingdings" panose="05000000000000000000" pitchFamily="2" charset="2"/>
              <a:buChar char="Ø"/>
            </a:pPr>
            <a:endParaRPr lang="en-SG" sz="1200" dirty="0"/>
          </a:p>
          <a:p>
            <a:pPr marL="285750" indent="-285750">
              <a:buFont typeface="Wingdings" panose="05000000000000000000" pitchFamily="2" charset="2"/>
              <a:buChar char="Ø"/>
            </a:pPr>
            <a:r>
              <a:rPr lang="en-SG" sz="1200" b="1" dirty="0"/>
              <a:t>How:</a:t>
            </a:r>
          </a:p>
          <a:p>
            <a:pPr marL="742950" lvl="1" indent="-285750">
              <a:buFont typeface="Wingdings" panose="05000000000000000000" pitchFamily="2" charset="2"/>
              <a:buChar char="Ø"/>
            </a:pPr>
            <a:r>
              <a:rPr lang="en-SG" sz="1200" b="1" dirty="0"/>
              <a:t>Offline encoding:</a:t>
            </a:r>
            <a:r>
              <a:rPr lang="en-SG" sz="1200" dirty="0"/>
              <a:t> dense vector embedding into Vector DB</a:t>
            </a:r>
          </a:p>
          <a:p>
            <a:pPr marL="742950" lvl="1" indent="-285750">
              <a:buFont typeface="Wingdings" panose="05000000000000000000" pitchFamily="2" charset="2"/>
              <a:buChar char="Ø"/>
            </a:pPr>
            <a:r>
              <a:rPr lang="en-SG" sz="1200" b="1" dirty="0"/>
              <a:t>Online</a:t>
            </a:r>
            <a:r>
              <a:rPr lang="en-SG" sz="1200" dirty="0"/>
              <a:t> </a:t>
            </a:r>
            <a:r>
              <a:rPr lang="en-SG" sz="1200" b="1" dirty="0"/>
              <a:t>retrieval: </a:t>
            </a:r>
            <a:r>
              <a:rPr lang="en-SG" sz="1200" dirty="0"/>
              <a:t>relevant document chunks based on similarity with one-shot query (cosine similarity: dense dot-product on normalized vectors; directional interpretation)</a:t>
            </a:r>
          </a:p>
          <a:p>
            <a:pPr marL="742950" lvl="1" indent="-285750">
              <a:buFont typeface="Wingdings" panose="05000000000000000000" pitchFamily="2" charset="2"/>
              <a:buChar char="Ø"/>
            </a:pPr>
            <a:endParaRPr lang="en-SG" sz="1200" dirty="0"/>
          </a:p>
          <a:p>
            <a:pPr lvl="1"/>
            <a:endParaRPr lang="en-SG" sz="1200" dirty="0"/>
          </a:p>
          <a:p>
            <a:pPr marL="742950" lvl="1" indent="-285750">
              <a:buFont typeface="Wingdings" panose="05000000000000000000" pitchFamily="2" charset="2"/>
              <a:buChar char="Ø"/>
            </a:pPr>
            <a:endParaRPr lang="en-SG" sz="1200" dirty="0"/>
          </a:p>
          <a:p>
            <a:pPr marL="742950" lvl="1" indent="-285750">
              <a:buFont typeface="Wingdings" panose="05000000000000000000" pitchFamily="2" charset="2"/>
              <a:buChar char="Ø"/>
            </a:pPr>
            <a:endParaRPr lang="en-SG" sz="1200" dirty="0"/>
          </a:p>
          <a:p>
            <a:pPr marL="742950" lvl="1" indent="-285750">
              <a:buFont typeface="Wingdings" panose="05000000000000000000" pitchFamily="2" charset="2"/>
              <a:buChar char="Ø"/>
            </a:pPr>
            <a:endParaRPr lang="en-SG" sz="1200" dirty="0"/>
          </a:p>
        </p:txBody>
      </p:sp>
      <p:sp>
        <p:nvSpPr>
          <p:cNvPr id="27" name="TextBox 26">
            <a:extLst>
              <a:ext uri="{FF2B5EF4-FFF2-40B4-BE49-F238E27FC236}">
                <a16:creationId xmlns:a16="http://schemas.microsoft.com/office/drawing/2014/main" id="{951840A5-A14E-0B5B-F216-9E182E2BDD60}"/>
              </a:ext>
            </a:extLst>
          </p:cNvPr>
          <p:cNvSpPr txBox="1"/>
          <p:nvPr/>
        </p:nvSpPr>
        <p:spPr>
          <a:xfrm>
            <a:off x="3905250" y="1904867"/>
            <a:ext cx="5435848" cy="3600986"/>
          </a:xfrm>
          <a:prstGeom prst="rect">
            <a:avLst/>
          </a:prstGeom>
          <a:solidFill>
            <a:schemeClr val="accent6">
              <a:lumMod val="20000"/>
              <a:lumOff val="80000"/>
            </a:schemeClr>
          </a:solidFill>
        </p:spPr>
        <p:txBody>
          <a:bodyPr wrap="square">
            <a:spAutoFit/>
          </a:bodyPr>
          <a:lstStyle/>
          <a:p>
            <a:r>
              <a:rPr lang="en-SG" sz="1200" b="1" dirty="0"/>
              <a:t>Sparse lexical retrieval (BM25-style; Not True BM25)</a:t>
            </a:r>
          </a:p>
          <a:p>
            <a:pPr marL="285750" indent="-285750">
              <a:buFont typeface="Wingdings" panose="05000000000000000000" pitchFamily="2" charset="2"/>
              <a:buChar char="Ø"/>
            </a:pPr>
            <a:r>
              <a:rPr lang="en-SG" sz="1200" b="1" dirty="0"/>
              <a:t>Purpose: </a:t>
            </a:r>
            <a:r>
              <a:rPr lang="en-SG" sz="1200" dirty="0"/>
              <a:t>Keyword grounding in encoding and retrieval</a:t>
            </a:r>
          </a:p>
          <a:p>
            <a:endParaRPr lang="en-SG" sz="1200" dirty="0"/>
          </a:p>
          <a:p>
            <a:pPr marL="285750" indent="-285750">
              <a:buFont typeface="Wingdings" panose="05000000000000000000" pitchFamily="2" charset="2"/>
              <a:buChar char="Ø"/>
            </a:pPr>
            <a:r>
              <a:rPr lang="en-SG" sz="1200" b="1" dirty="0"/>
              <a:t>Key design choice and why:</a:t>
            </a:r>
          </a:p>
          <a:p>
            <a:pPr marL="742950" lvl="1" indent="-285750">
              <a:buFont typeface="Wingdings" panose="05000000000000000000" pitchFamily="2" charset="2"/>
              <a:buChar char="Ø"/>
            </a:pPr>
            <a:r>
              <a:rPr lang="en-SG" sz="1200" b="1" dirty="0"/>
              <a:t>Offline document encoding (why BM25-style):  </a:t>
            </a:r>
            <a:r>
              <a:rPr lang="en-SG" sz="1200" dirty="0"/>
              <a:t>Addresses repeated terms (TF saturation) and uneven chunk sizes (document length normalization)</a:t>
            </a:r>
          </a:p>
          <a:p>
            <a:pPr marL="742950" lvl="1" indent="-285750">
              <a:buFont typeface="Wingdings" panose="05000000000000000000" pitchFamily="2" charset="2"/>
              <a:buChar char="Ø"/>
            </a:pPr>
            <a:r>
              <a:rPr lang="en-SG" sz="1200" b="1" dirty="0"/>
              <a:t>Online query encoding (TF-IDF):  </a:t>
            </a:r>
            <a:r>
              <a:rPr lang="en-SG" sz="1200" dirty="0"/>
              <a:t>Preserve intent signals from query (no extra weights unlike document encoding)</a:t>
            </a:r>
          </a:p>
          <a:p>
            <a:pPr marL="742950" lvl="1" indent="-285750">
              <a:buFont typeface="Wingdings" panose="05000000000000000000" pitchFamily="2" charset="2"/>
              <a:buChar char="Ø"/>
            </a:pPr>
            <a:r>
              <a:rPr lang="en-SG" sz="1200" b="1" dirty="0"/>
              <a:t>Online retrieval: </a:t>
            </a:r>
            <a:r>
              <a:rPr lang="en-SG" sz="1200" dirty="0"/>
              <a:t>relevant document chunks based on similarity with one-shot query (sparse dot-product; vectors not normalized; weighted-overlap magnitude interpretation)</a:t>
            </a:r>
          </a:p>
          <a:p>
            <a:pPr marL="742950" lvl="1" indent="-285750">
              <a:buFont typeface="Wingdings" panose="05000000000000000000" pitchFamily="2" charset="2"/>
              <a:buChar char="Ø"/>
            </a:pPr>
            <a:r>
              <a:rPr lang="en-SG" sz="1200" b="1" dirty="0"/>
              <a:t>Why not True BM25: </a:t>
            </a:r>
            <a:r>
              <a:rPr lang="en-SG" sz="1200" dirty="0"/>
              <a:t>In textbook BM25, document and query weights are computed for full score refresh at query time. In this implementation, we pre-compute document weights and load into vector DB to approximate BM25-style for a practical implementation.</a:t>
            </a:r>
          </a:p>
          <a:p>
            <a:pPr marL="742950" lvl="1" indent="-285750">
              <a:buFont typeface="Wingdings" panose="05000000000000000000" pitchFamily="2" charset="2"/>
              <a:buChar char="Ø"/>
            </a:pPr>
            <a:endParaRPr lang="en-SG" sz="1200" dirty="0"/>
          </a:p>
          <a:p>
            <a:pPr marL="285750" indent="-285750">
              <a:buFont typeface="Wingdings" panose="05000000000000000000" pitchFamily="2" charset="2"/>
              <a:buChar char="Ø"/>
            </a:pPr>
            <a:r>
              <a:rPr lang="en-SG" sz="1200" dirty="0"/>
              <a:t>Refer </a:t>
            </a:r>
            <a:r>
              <a:rPr lang="en-SG" sz="1200" i="1" dirty="0">
                <a:solidFill>
                  <a:srgbClr val="0070C0"/>
                </a:solidFill>
              </a:rPr>
              <a:t>docs/vector_db/math.md</a:t>
            </a:r>
            <a:r>
              <a:rPr lang="en-SG" sz="1200" i="1" dirty="0"/>
              <a:t> </a:t>
            </a:r>
            <a:r>
              <a:rPr lang="en-SG" sz="1200" dirty="0"/>
              <a:t>for key formulas and details</a:t>
            </a:r>
          </a:p>
          <a:p>
            <a:r>
              <a:rPr lang="en-SG" sz="1200" i="1" dirty="0">
                <a:hlinkClick r:id="rId3"/>
              </a:rPr>
              <a:t>Reference:  What is BM25 (Best Matching 25) Algorithm – GeeksforGeeks</a:t>
            </a:r>
            <a:endParaRPr lang="en-SG" sz="1200" dirty="0"/>
          </a:p>
        </p:txBody>
      </p:sp>
      <p:sp>
        <p:nvSpPr>
          <p:cNvPr id="6" name="TextBox 5">
            <a:extLst>
              <a:ext uri="{FF2B5EF4-FFF2-40B4-BE49-F238E27FC236}">
                <a16:creationId xmlns:a16="http://schemas.microsoft.com/office/drawing/2014/main" id="{2B7C61AE-A819-EBAD-8964-3217C70AD38C}"/>
              </a:ext>
            </a:extLst>
          </p:cNvPr>
          <p:cNvSpPr txBox="1"/>
          <p:nvPr/>
        </p:nvSpPr>
        <p:spPr>
          <a:xfrm>
            <a:off x="9341098" y="1904867"/>
            <a:ext cx="2622301" cy="3600986"/>
          </a:xfrm>
          <a:prstGeom prst="rect">
            <a:avLst/>
          </a:prstGeom>
          <a:solidFill>
            <a:schemeClr val="accent6">
              <a:lumMod val="40000"/>
              <a:lumOff val="60000"/>
            </a:schemeClr>
          </a:solidFill>
        </p:spPr>
        <p:txBody>
          <a:bodyPr wrap="square">
            <a:spAutoFit/>
          </a:bodyPr>
          <a:lstStyle/>
          <a:p>
            <a:r>
              <a:rPr lang="en-SG" sz="1200" b="1" dirty="0"/>
              <a:t>RAG Scoring Algorithm (downstream)</a:t>
            </a:r>
          </a:p>
          <a:p>
            <a:pPr marL="285750" indent="-285750">
              <a:buFont typeface="Wingdings" panose="05000000000000000000" pitchFamily="2" charset="2"/>
              <a:buChar char="Ø"/>
            </a:pPr>
            <a:r>
              <a:rPr lang="en-SG" sz="1200" dirty="0"/>
              <a:t>Further downstream scoring using the 2 components (dense + sparse) is further described in separate slide</a:t>
            </a:r>
          </a:p>
          <a:p>
            <a:pPr marL="285750" indent="-285750">
              <a:buFont typeface="Wingdings" panose="05000000000000000000" pitchFamily="2" charset="2"/>
              <a:buChar char="Ø"/>
            </a:pPr>
            <a:endParaRPr lang="en-SG" sz="1200" dirty="0"/>
          </a:p>
          <a:p>
            <a:pPr marL="285750" indent="-285750">
              <a:buFont typeface="Wingdings" panose="05000000000000000000" pitchFamily="2" charset="2"/>
              <a:buChar char="Ø"/>
            </a:pPr>
            <a:endParaRPr lang="en-SG" sz="1200" dirty="0"/>
          </a:p>
          <a:p>
            <a:pPr marL="285750" indent="-285750">
              <a:buFont typeface="Wingdings" panose="05000000000000000000" pitchFamily="2" charset="2"/>
              <a:buChar char="Ø"/>
            </a:pPr>
            <a:endParaRPr lang="en-SG" sz="1200" dirty="0"/>
          </a:p>
          <a:p>
            <a:pPr marL="285750" indent="-285750">
              <a:buFont typeface="Wingdings" panose="05000000000000000000" pitchFamily="2" charset="2"/>
              <a:buChar char="Ø"/>
            </a:pPr>
            <a:endParaRPr lang="en-SG" sz="1200" dirty="0"/>
          </a:p>
          <a:p>
            <a:pPr marL="285750" indent="-285750">
              <a:buFont typeface="Wingdings" panose="05000000000000000000" pitchFamily="2" charset="2"/>
              <a:buChar char="Ø"/>
            </a:pPr>
            <a:endParaRPr lang="en-SG" sz="1200" dirty="0"/>
          </a:p>
          <a:p>
            <a:pPr marL="285750" indent="-285750">
              <a:buFont typeface="Wingdings" panose="05000000000000000000" pitchFamily="2" charset="2"/>
              <a:buChar char="Ø"/>
            </a:pPr>
            <a:endParaRPr lang="en-SG" sz="1200" dirty="0"/>
          </a:p>
          <a:p>
            <a:pPr marL="285750" indent="-285750">
              <a:buFont typeface="Wingdings" panose="05000000000000000000" pitchFamily="2" charset="2"/>
              <a:buChar char="Ø"/>
            </a:pPr>
            <a:endParaRPr lang="en-SG" sz="1200" dirty="0"/>
          </a:p>
          <a:p>
            <a:pPr marL="285750" indent="-285750">
              <a:buFont typeface="Wingdings" panose="05000000000000000000" pitchFamily="2" charset="2"/>
              <a:buChar char="Ø"/>
            </a:pPr>
            <a:endParaRPr lang="en-SG" sz="1200" dirty="0"/>
          </a:p>
          <a:p>
            <a:pPr marL="285750" indent="-285750">
              <a:buFont typeface="Wingdings" panose="05000000000000000000" pitchFamily="2" charset="2"/>
              <a:buChar char="Ø"/>
            </a:pPr>
            <a:endParaRPr lang="en-SG" sz="1200" dirty="0"/>
          </a:p>
          <a:p>
            <a:pPr marL="285750" indent="-285750">
              <a:buFont typeface="Wingdings" panose="05000000000000000000" pitchFamily="2" charset="2"/>
              <a:buChar char="Ø"/>
            </a:pPr>
            <a:endParaRPr lang="en-SG" sz="1200" dirty="0"/>
          </a:p>
          <a:p>
            <a:endParaRPr lang="en-SG" sz="1200" dirty="0"/>
          </a:p>
          <a:p>
            <a:pPr marL="285750" indent="-285750">
              <a:buFont typeface="Wingdings" panose="05000000000000000000" pitchFamily="2" charset="2"/>
              <a:buChar char="Ø"/>
            </a:pPr>
            <a:endParaRPr lang="en-SG" sz="1200" dirty="0"/>
          </a:p>
          <a:p>
            <a:pPr marL="285750" indent="-285750">
              <a:buFont typeface="Wingdings" panose="05000000000000000000" pitchFamily="2" charset="2"/>
              <a:buChar char="Ø"/>
            </a:pPr>
            <a:endParaRPr lang="en-SG" sz="1200" dirty="0"/>
          </a:p>
        </p:txBody>
      </p:sp>
    </p:spTree>
    <p:extLst>
      <p:ext uri="{BB962C8B-B14F-4D97-AF65-F5344CB8AC3E}">
        <p14:creationId xmlns:p14="http://schemas.microsoft.com/office/powerpoint/2010/main" val="674919487"/>
      </p:ext>
    </p:extLst>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971C759E-F857-2A8A-F8A4-B3A7D0134121}"/>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CF326FE4-12B7-A0B5-AE37-7D82181532D8}"/>
              </a:ext>
            </a:extLst>
          </p:cNvPr>
          <p:cNvSpPr>
            <a:spLocks noGrp="1"/>
          </p:cNvSpPr>
          <p:nvPr>
            <p:ph type="title"/>
          </p:nvPr>
        </p:nvSpPr>
        <p:spPr/>
        <p:txBody>
          <a:bodyPr/>
          <a:lstStyle/>
          <a:p>
            <a:r>
              <a:rPr lang="en-SG" dirty="0"/>
              <a:t>System Architecture</a:t>
            </a:r>
          </a:p>
        </p:txBody>
      </p:sp>
      <p:sp>
        <p:nvSpPr>
          <p:cNvPr id="112" name="TextBox 111">
            <a:extLst>
              <a:ext uri="{FF2B5EF4-FFF2-40B4-BE49-F238E27FC236}">
                <a16:creationId xmlns:a16="http://schemas.microsoft.com/office/drawing/2014/main" id="{97A5608C-5B79-B70F-37AB-29B3CC0326E5}"/>
              </a:ext>
            </a:extLst>
          </p:cNvPr>
          <p:cNvSpPr txBox="1"/>
          <p:nvPr/>
        </p:nvSpPr>
        <p:spPr>
          <a:xfrm>
            <a:off x="1451579" y="1469398"/>
            <a:ext cx="4329878" cy="369332"/>
          </a:xfrm>
          <a:prstGeom prst="rect">
            <a:avLst/>
          </a:prstGeom>
          <a:noFill/>
        </p:spPr>
        <p:txBody>
          <a:bodyPr wrap="square" rtlCol="0">
            <a:spAutoFit/>
          </a:bodyPr>
          <a:lstStyle/>
          <a:p>
            <a:r>
              <a:rPr lang="en-SG" dirty="0"/>
              <a:t>RAG Scoring Algorithm</a:t>
            </a:r>
          </a:p>
        </p:txBody>
      </p:sp>
      <p:sp>
        <p:nvSpPr>
          <p:cNvPr id="14" name="TextBox 13">
            <a:extLst>
              <a:ext uri="{FF2B5EF4-FFF2-40B4-BE49-F238E27FC236}">
                <a16:creationId xmlns:a16="http://schemas.microsoft.com/office/drawing/2014/main" id="{ABB07CA1-E503-3353-826C-7F79398D9DC9}"/>
              </a:ext>
            </a:extLst>
          </p:cNvPr>
          <p:cNvSpPr txBox="1"/>
          <p:nvPr/>
        </p:nvSpPr>
        <p:spPr>
          <a:xfrm>
            <a:off x="150581" y="1841889"/>
            <a:ext cx="3503553" cy="1569660"/>
          </a:xfrm>
          <a:prstGeom prst="rect">
            <a:avLst/>
          </a:prstGeom>
          <a:noFill/>
        </p:spPr>
        <p:txBody>
          <a:bodyPr wrap="square">
            <a:spAutoFit/>
          </a:bodyPr>
          <a:lstStyle/>
          <a:p>
            <a:r>
              <a:rPr lang="en-SG" sz="1600" b="1" dirty="0"/>
              <a:t>Retrieval from separate ranked list</a:t>
            </a:r>
          </a:p>
          <a:p>
            <a:pPr marL="285750" indent="-285750">
              <a:buFont typeface="Wingdings" panose="05000000000000000000" pitchFamily="2" charset="2"/>
              <a:buChar char="Ø"/>
            </a:pPr>
            <a:r>
              <a:rPr lang="en-SG" sz="1600" dirty="0"/>
              <a:t>Keep </a:t>
            </a:r>
            <a:r>
              <a:rPr lang="en-SG" sz="1600" i="1" dirty="0"/>
              <a:t>top_k</a:t>
            </a:r>
            <a:r>
              <a:rPr lang="en-SG" sz="1600" dirty="0"/>
              <a:t> from each ranked list </a:t>
            </a:r>
            <a:r>
              <a:rPr lang="en-SG" sz="1600" i="1" dirty="0"/>
              <a:t>(Total = 2*top_k)</a:t>
            </a:r>
          </a:p>
          <a:p>
            <a:pPr marL="742950" lvl="1" indent="-285750">
              <a:buFont typeface="Wingdings" panose="05000000000000000000" pitchFamily="2" charset="2"/>
              <a:buChar char="Ø"/>
            </a:pPr>
            <a:r>
              <a:rPr lang="en-SG" sz="1600" dirty="0"/>
              <a:t>Dense search (semantic)</a:t>
            </a:r>
          </a:p>
          <a:p>
            <a:pPr marL="742950" lvl="1" indent="-285750">
              <a:buFont typeface="Wingdings" panose="05000000000000000000" pitchFamily="2" charset="2"/>
              <a:buChar char="Ø"/>
            </a:pPr>
            <a:r>
              <a:rPr lang="en-SG" sz="1600" dirty="0"/>
              <a:t>Sparse search (BM25-style, lexical)</a:t>
            </a:r>
          </a:p>
        </p:txBody>
      </p:sp>
      <p:sp>
        <p:nvSpPr>
          <p:cNvPr id="27" name="TextBox 26">
            <a:extLst>
              <a:ext uri="{FF2B5EF4-FFF2-40B4-BE49-F238E27FC236}">
                <a16:creationId xmlns:a16="http://schemas.microsoft.com/office/drawing/2014/main" id="{9D90EC47-D8AD-718E-CA31-BB2581371739}"/>
              </a:ext>
            </a:extLst>
          </p:cNvPr>
          <p:cNvSpPr txBox="1"/>
          <p:nvPr/>
        </p:nvSpPr>
        <p:spPr>
          <a:xfrm>
            <a:off x="7896224" y="1853754"/>
            <a:ext cx="4058601" cy="1846659"/>
          </a:xfrm>
          <a:prstGeom prst="rect">
            <a:avLst/>
          </a:prstGeom>
          <a:noFill/>
        </p:spPr>
        <p:txBody>
          <a:bodyPr wrap="square">
            <a:spAutoFit/>
          </a:bodyPr>
          <a:lstStyle/>
          <a:p>
            <a:r>
              <a:rPr lang="en-SG" sz="1600" b="1" dirty="0"/>
              <a:t>Re-ranking after merged</a:t>
            </a:r>
          </a:p>
          <a:p>
            <a:pPr marL="285750" indent="-285750">
              <a:buFont typeface="Wingdings" panose="05000000000000000000" pitchFamily="2" charset="2"/>
              <a:buChar char="Ø"/>
            </a:pPr>
            <a:r>
              <a:rPr lang="en-SG" sz="1600" dirty="0"/>
              <a:t>Re-rank merged list with cross-encoder transformer</a:t>
            </a:r>
          </a:p>
          <a:p>
            <a:pPr marL="285750" indent="-285750">
              <a:buFont typeface="Wingdings" panose="05000000000000000000" pitchFamily="2" charset="2"/>
              <a:buChar char="Ø"/>
            </a:pPr>
            <a:r>
              <a:rPr lang="en-SG" sz="1600" dirty="0"/>
              <a:t>Normalize score</a:t>
            </a:r>
            <a:endParaRPr lang="en-SG" sz="1600" i="1" dirty="0"/>
          </a:p>
          <a:p>
            <a:pPr marL="285750" indent="-285750">
              <a:buFont typeface="Wingdings" panose="05000000000000000000" pitchFamily="2" charset="2"/>
              <a:buChar char="Ø"/>
            </a:pPr>
            <a:r>
              <a:rPr lang="en-SG" sz="1600" dirty="0"/>
              <a:t>Tiered recency boost (multiplicative), consistent on normalized score</a:t>
            </a:r>
          </a:p>
          <a:p>
            <a:pPr marL="285750" indent="-285750">
              <a:buFont typeface="Wingdings" panose="05000000000000000000" pitchFamily="2" charset="2"/>
              <a:buChar char="Ø"/>
            </a:pPr>
            <a:r>
              <a:rPr lang="en-SG" sz="1600" dirty="0"/>
              <a:t>Keep </a:t>
            </a:r>
            <a:r>
              <a:rPr lang="en-SG" sz="1600" i="1" dirty="0"/>
              <a:t>rerank_candidate_limit</a:t>
            </a:r>
          </a:p>
        </p:txBody>
      </p:sp>
      <p:sp>
        <p:nvSpPr>
          <p:cNvPr id="31" name="TextBox 30">
            <a:extLst>
              <a:ext uri="{FF2B5EF4-FFF2-40B4-BE49-F238E27FC236}">
                <a16:creationId xmlns:a16="http://schemas.microsoft.com/office/drawing/2014/main" id="{5C7DB90E-7027-E0DE-996E-AE611B00081B}"/>
              </a:ext>
            </a:extLst>
          </p:cNvPr>
          <p:cNvSpPr txBox="1"/>
          <p:nvPr/>
        </p:nvSpPr>
        <p:spPr>
          <a:xfrm>
            <a:off x="3616518" y="3626338"/>
            <a:ext cx="3832032" cy="769441"/>
          </a:xfrm>
          <a:prstGeom prst="rect">
            <a:avLst/>
          </a:prstGeom>
          <a:solidFill>
            <a:schemeClr val="accent6">
              <a:lumMod val="20000"/>
              <a:lumOff val="80000"/>
            </a:schemeClr>
          </a:solidFill>
        </p:spPr>
        <p:txBody>
          <a:bodyPr wrap="square">
            <a:spAutoFit/>
          </a:bodyPr>
          <a:lstStyle/>
          <a:p>
            <a:r>
              <a:rPr lang="en-SG" sz="1100" b="1" i="1" dirty="0"/>
              <a:t>Key Formulas:</a:t>
            </a:r>
            <a:endParaRPr lang="en-SG" sz="1100" i="1" dirty="0"/>
          </a:p>
          <a:p>
            <a:r>
              <a:rPr lang="en-SG" sz="1100" i="1" dirty="0"/>
              <a:t>score_rrf = sum(1 / (k + rank))</a:t>
            </a:r>
          </a:p>
          <a:p>
            <a:endParaRPr lang="en-SG" sz="1100" i="1" dirty="0"/>
          </a:p>
          <a:p>
            <a:r>
              <a:rPr lang="en-SG" sz="1100" i="1" dirty="0"/>
              <a:t>score_rrf = score_rrf * (1 + retrieve_recency_boost * </a:t>
            </a:r>
            <a:r>
              <a:rPr lang="en-SG" sz="1100" b="1" i="1" dirty="0">
                <a:solidFill>
                  <a:srgbClr val="0070C0"/>
                </a:solidFill>
              </a:rPr>
              <a:t>boost_tier</a:t>
            </a:r>
            <a:r>
              <a:rPr lang="en-SG" sz="1100" i="1" dirty="0"/>
              <a:t>)</a:t>
            </a:r>
          </a:p>
        </p:txBody>
      </p:sp>
      <p:sp>
        <p:nvSpPr>
          <p:cNvPr id="32" name="TextBox 31">
            <a:extLst>
              <a:ext uri="{FF2B5EF4-FFF2-40B4-BE49-F238E27FC236}">
                <a16:creationId xmlns:a16="http://schemas.microsoft.com/office/drawing/2014/main" id="{66185B77-498E-A08D-71E4-B988F1BEEA43}"/>
              </a:ext>
            </a:extLst>
          </p:cNvPr>
          <p:cNvSpPr txBox="1"/>
          <p:nvPr/>
        </p:nvSpPr>
        <p:spPr>
          <a:xfrm>
            <a:off x="7766326" y="3615638"/>
            <a:ext cx="4311373" cy="1277273"/>
          </a:xfrm>
          <a:prstGeom prst="rect">
            <a:avLst/>
          </a:prstGeom>
          <a:solidFill>
            <a:schemeClr val="accent6">
              <a:lumMod val="20000"/>
              <a:lumOff val="80000"/>
            </a:schemeClr>
          </a:solidFill>
        </p:spPr>
        <p:txBody>
          <a:bodyPr wrap="square">
            <a:spAutoFit/>
          </a:bodyPr>
          <a:lstStyle/>
          <a:p>
            <a:r>
              <a:rPr lang="en-SG" sz="1100" b="1" i="1" dirty="0"/>
              <a:t>Key Formulas:</a:t>
            </a:r>
            <a:endParaRPr lang="en-SG" sz="1100" i="1" dirty="0"/>
          </a:p>
          <a:p>
            <a:r>
              <a:rPr lang="en-SG" sz="1100" i="1" dirty="0"/>
              <a:t>score_ce = cross_encoder.predict(query, hit.text)</a:t>
            </a:r>
          </a:p>
          <a:p>
            <a:endParaRPr lang="en-SG" sz="1100" i="1" dirty="0"/>
          </a:p>
          <a:p>
            <a:r>
              <a:rPr lang="en-SG" sz="1100" i="1" dirty="0"/>
              <a:t>score_norm = (score_ce - min) / (max - min)</a:t>
            </a:r>
          </a:p>
          <a:p>
            <a:endParaRPr lang="en-SG" sz="1100" i="1" dirty="0"/>
          </a:p>
          <a:p>
            <a:r>
              <a:rPr lang="en-SG" sz="1100" i="1" dirty="0"/>
              <a:t>score_final = score_norm * (1 + rerank_recency_boost * </a:t>
            </a:r>
            <a:r>
              <a:rPr lang="en-SG" sz="1100" b="1" i="1" dirty="0">
                <a:solidFill>
                  <a:srgbClr val="0070C0"/>
                </a:solidFill>
              </a:rPr>
              <a:t>boost_tier</a:t>
            </a:r>
            <a:r>
              <a:rPr lang="en-SG" sz="1100" i="1" dirty="0"/>
              <a:t>)     (if hit is in recent window)</a:t>
            </a:r>
          </a:p>
        </p:txBody>
      </p:sp>
      <p:sp>
        <p:nvSpPr>
          <p:cNvPr id="34" name="TextBox 33">
            <a:extLst>
              <a:ext uri="{FF2B5EF4-FFF2-40B4-BE49-F238E27FC236}">
                <a16:creationId xmlns:a16="http://schemas.microsoft.com/office/drawing/2014/main" id="{3F0FCB23-BA9B-E25C-CB7D-724B342406BA}"/>
              </a:ext>
            </a:extLst>
          </p:cNvPr>
          <p:cNvSpPr txBox="1"/>
          <p:nvPr/>
        </p:nvSpPr>
        <p:spPr>
          <a:xfrm>
            <a:off x="3616516" y="4395779"/>
            <a:ext cx="3852703" cy="1277273"/>
          </a:xfrm>
          <a:prstGeom prst="rect">
            <a:avLst/>
          </a:prstGeom>
          <a:solidFill>
            <a:schemeClr val="accent6">
              <a:lumMod val="40000"/>
              <a:lumOff val="60000"/>
            </a:schemeClr>
          </a:solidFill>
        </p:spPr>
        <p:txBody>
          <a:bodyPr wrap="square">
            <a:spAutoFit/>
          </a:bodyPr>
          <a:lstStyle/>
          <a:p>
            <a:r>
              <a:rPr lang="en-SG" sz="1400" b="1" i="1" dirty="0"/>
              <a:t>Illustrative Example – RRF (w recency boost) </a:t>
            </a:r>
          </a:p>
          <a:p>
            <a:r>
              <a:rPr lang="en-SG" sz="1050" i="1" dirty="0"/>
              <a:t>Dense rank = 3 → 1/(60+3) = 0.0159</a:t>
            </a:r>
          </a:p>
          <a:p>
            <a:r>
              <a:rPr lang="en-SG" sz="1050" i="1" dirty="0"/>
              <a:t>Sparse rank = 9 → 1/(60+9) = 0.0145</a:t>
            </a:r>
          </a:p>
          <a:p>
            <a:r>
              <a:rPr lang="en-SG" sz="1050" i="1" dirty="0"/>
              <a:t>Merged RRF score = 0.0159 + 0.0145 = 0.0304</a:t>
            </a:r>
          </a:p>
          <a:p>
            <a:endParaRPr lang="en-SG" sz="1050" i="1" dirty="0"/>
          </a:p>
          <a:p>
            <a:r>
              <a:rPr lang="en-SG" sz="1050" i="1" dirty="0"/>
              <a:t>If FY2025 with boost_tier=1.0 and retrieve_recency_boost=0.80: </a:t>
            </a:r>
          </a:p>
          <a:p>
            <a:r>
              <a:rPr lang="en-SG" sz="1050" b="1" i="1" dirty="0"/>
              <a:t>score_rrf = 0.0304 * (1 + 0.80) = 0.0547</a:t>
            </a:r>
          </a:p>
        </p:txBody>
      </p:sp>
      <p:sp>
        <p:nvSpPr>
          <p:cNvPr id="38" name="TextBox 37">
            <a:extLst>
              <a:ext uri="{FF2B5EF4-FFF2-40B4-BE49-F238E27FC236}">
                <a16:creationId xmlns:a16="http://schemas.microsoft.com/office/drawing/2014/main" id="{20F3FFC3-0E20-CFEA-D386-7DDED5FA112D}"/>
              </a:ext>
            </a:extLst>
          </p:cNvPr>
          <p:cNvSpPr txBox="1"/>
          <p:nvPr/>
        </p:nvSpPr>
        <p:spPr>
          <a:xfrm>
            <a:off x="7766326" y="4892911"/>
            <a:ext cx="4311373" cy="1115690"/>
          </a:xfrm>
          <a:prstGeom prst="rect">
            <a:avLst/>
          </a:prstGeom>
          <a:solidFill>
            <a:schemeClr val="accent6">
              <a:lumMod val="40000"/>
              <a:lumOff val="60000"/>
            </a:schemeClr>
          </a:solidFill>
        </p:spPr>
        <p:txBody>
          <a:bodyPr wrap="square">
            <a:spAutoFit/>
          </a:bodyPr>
          <a:lstStyle/>
          <a:p>
            <a:r>
              <a:rPr lang="en-SG" sz="1400" b="1" i="1" dirty="0"/>
              <a:t>Illustrative Example – Re-ranking (w recency boost)</a:t>
            </a:r>
          </a:p>
          <a:p>
            <a:r>
              <a:rPr lang="en-SG" sz="1050" i="1" dirty="0"/>
              <a:t>Raw cross-encoder scores for a query: min= -2.0, max= 3.0</a:t>
            </a:r>
          </a:p>
          <a:p>
            <a:r>
              <a:rPr lang="en-SG" sz="1050" i="1" dirty="0"/>
              <a:t>A hit with score=1.0 → score_norm = (1 - (-2)) / (3 - (-2)) = 0.6</a:t>
            </a:r>
          </a:p>
          <a:p>
            <a:endParaRPr lang="en-SG" sz="1050" i="1" dirty="0"/>
          </a:p>
          <a:p>
            <a:r>
              <a:rPr lang="en-SG" sz="1050" i="1" dirty="0"/>
              <a:t>If FY2025 and boost_tier=1.0 with boost=0.80: </a:t>
            </a:r>
          </a:p>
          <a:p>
            <a:r>
              <a:rPr lang="en-SG" sz="1050" b="1" i="1" dirty="0"/>
              <a:t>score_final = 0.6 * (1 + 0.80) = 1.08</a:t>
            </a:r>
          </a:p>
        </p:txBody>
      </p:sp>
      <p:sp>
        <p:nvSpPr>
          <p:cNvPr id="39" name="TextBox 38">
            <a:extLst>
              <a:ext uri="{FF2B5EF4-FFF2-40B4-BE49-F238E27FC236}">
                <a16:creationId xmlns:a16="http://schemas.microsoft.com/office/drawing/2014/main" id="{8A528881-0ADD-DDB8-B326-DAA96FFFC21D}"/>
              </a:ext>
            </a:extLst>
          </p:cNvPr>
          <p:cNvSpPr txBox="1"/>
          <p:nvPr/>
        </p:nvSpPr>
        <p:spPr>
          <a:xfrm>
            <a:off x="3792815" y="1853754"/>
            <a:ext cx="3390900" cy="1815882"/>
          </a:xfrm>
          <a:prstGeom prst="rect">
            <a:avLst/>
          </a:prstGeom>
          <a:noFill/>
        </p:spPr>
        <p:txBody>
          <a:bodyPr wrap="square">
            <a:spAutoFit/>
          </a:bodyPr>
          <a:lstStyle/>
          <a:p>
            <a:r>
              <a:rPr lang="en-SG" sz="1600" b="1" dirty="0"/>
              <a:t>Retrieval-merge with Reciprocal Rank Fusion (RRF)</a:t>
            </a:r>
          </a:p>
          <a:p>
            <a:pPr marL="285750" indent="-285750">
              <a:buFont typeface="Wingdings" panose="05000000000000000000" pitchFamily="2" charset="2"/>
              <a:buChar char="Ø"/>
            </a:pPr>
            <a:r>
              <a:rPr lang="en-SG" sz="1600" dirty="0"/>
              <a:t>Apply RRF to merge the lists</a:t>
            </a:r>
          </a:p>
          <a:p>
            <a:pPr marL="285750" indent="-285750">
              <a:buFont typeface="Wingdings" panose="05000000000000000000" pitchFamily="2" charset="2"/>
              <a:buChar char="Ø"/>
            </a:pPr>
            <a:r>
              <a:rPr lang="en-SG" sz="1600" dirty="0"/>
              <a:t>Tiered recency boost (multiplicative), consistent on RRF scores (bounded rank-based)</a:t>
            </a:r>
          </a:p>
          <a:p>
            <a:pPr marL="285750" indent="-285750">
              <a:buFont typeface="Wingdings" panose="05000000000000000000" pitchFamily="2" charset="2"/>
              <a:buChar char="Ø"/>
            </a:pPr>
            <a:r>
              <a:rPr lang="en-SG" sz="1600" dirty="0"/>
              <a:t>Keep </a:t>
            </a:r>
            <a:r>
              <a:rPr lang="en-SG" sz="1600" i="1" dirty="0"/>
              <a:t>top_n</a:t>
            </a:r>
            <a:endParaRPr lang="en-SG" sz="1600" dirty="0"/>
          </a:p>
        </p:txBody>
      </p:sp>
      <p:sp>
        <p:nvSpPr>
          <p:cNvPr id="40" name="TextBox 39">
            <a:extLst>
              <a:ext uri="{FF2B5EF4-FFF2-40B4-BE49-F238E27FC236}">
                <a16:creationId xmlns:a16="http://schemas.microsoft.com/office/drawing/2014/main" id="{6EB3541F-6034-A520-50F6-27798B5FCEDE}"/>
              </a:ext>
            </a:extLst>
          </p:cNvPr>
          <p:cNvSpPr txBox="1"/>
          <p:nvPr/>
        </p:nvSpPr>
        <p:spPr>
          <a:xfrm>
            <a:off x="284668" y="4259028"/>
            <a:ext cx="2975912" cy="1654299"/>
          </a:xfrm>
          <a:prstGeom prst="rect">
            <a:avLst/>
          </a:prstGeom>
          <a:solidFill>
            <a:schemeClr val="accent6">
              <a:lumMod val="40000"/>
              <a:lumOff val="60000"/>
            </a:schemeClr>
          </a:solidFill>
        </p:spPr>
        <p:txBody>
          <a:bodyPr wrap="square">
            <a:spAutoFit/>
          </a:bodyPr>
          <a:lstStyle/>
          <a:p>
            <a:r>
              <a:rPr lang="en-SG" sz="1400" b="1" i="1" dirty="0"/>
              <a:t>Illustrative Example - </a:t>
            </a:r>
            <a:r>
              <a:rPr lang="en-SG" sz="1400" b="1" i="1" dirty="0">
                <a:solidFill>
                  <a:srgbClr val="0070C0"/>
                </a:solidFill>
              </a:rPr>
              <a:t>Boost Tier</a:t>
            </a:r>
          </a:p>
          <a:p>
            <a:endParaRPr lang="en-SG" sz="1400" i="1" dirty="0"/>
          </a:p>
          <a:p>
            <a:r>
              <a:rPr lang="en-SG" sz="1050" b="1" i="1" dirty="0"/>
              <a:t>Example (window = 5, base boost = 0.80, latest FY = 2025, delta = latest FY – doc FY):</a:t>
            </a:r>
          </a:p>
          <a:p>
            <a:r>
              <a:rPr lang="en-SG" sz="1050" i="1" dirty="0"/>
              <a:t>FY2025: delta=0 → tier=1.0 → boost=0.80</a:t>
            </a:r>
          </a:p>
          <a:p>
            <a:r>
              <a:rPr lang="en-SG" sz="1050" i="1" dirty="0"/>
              <a:t>FY2024: delta=1 → tier=0.8 → boost=0.64</a:t>
            </a:r>
          </a:p>
          <a:p>
            <a:r>
              <a:rPr lang="en-SG" sz="1050" i="1" dirty="0"/>
              <a:t>FY2023: delta=2 → tier=0.6 → boost=0.48</a:t>
            </a:r>
          </a:p>
          <a:p>
            <a:r>
              <a:rPr lang="en-SG" sz="1050" i="1" dirty="0"/>
              <a:t>FY2022: delta=3 → tier=0.4 → boost=0.32</a:t>
            </a:r>
          </a:p>
          <a:p>
            <a:r>
              <a:rPr lang="en-SG" sz="1050" i="1" dirty="0"/>
              <a:t>FY2021: delta=4 → tier=0.2 → boost=0.16</a:t>
            </a:r>
          </a:p>
        </p:txBody>
      </p:sp>
      <p:sp>
        <p:nvSpPr>
          <p:cNvPr id="41" name="TextBox 40">
            <a:extLst>
              <a:ext uri="{FF2B5EF4-FFF2-40B4-BE49-F238E27FC236}">
                <a16:creationId xmlns:a16="http://schemas.microsoft.com/office/drawing/2014/main" id="{388449DB-549E-6DA7-B91F-FB70F39842F5}"/>
              </a:ext>
            </a:extLst>
          </p:cNvPr>
          <p:cNvSpPr txBox="1"/>
          <p:nvPr/>
        </p:nvSpPr>
        <p:spPr>
          <a:xfrm>
            <a:off x="284668" y="3641969"/>
            <a:ext cx="2975913" cy="600164"/>
          </a:xfrm>
          <a:prstGeom prst="rect">
            <a:avLst/>
          </a:prstGeom>
          <a:solidFill>
            <a:schemeClr val="accent6">
              <a:lumMod val="20000"/>
              <a:lumOff val="80000"/>
            </a:schemeClr>
          </a:solidFill>
        </p:spPr>
        <p:txBody>
          <a:bodyPr wrap="square">
            <a:spAutoFit/>
          </a:bodyPr>
          <a:lstStyle/>
          <a:p>
            <a:r>
              <a:rPr lang="en-SG" sz="1100" b="1" i="1" dirty="0"/>
              <a:t>Key Formulas:</a:t>
            </a:r>
            <a:endParaRPr lang="en-SG" sz="1100" i="1" dirty="0"/>
          </a:p>
          <a:p>
            <a:r>
              <a:rPr lang="en-SG" sz="1100" b="1" i="1" dirty="0">
                <a:solidFill>
                  <a:srgbClr val="0070C0"/>
                </a:solidFill>
              </a:rPr>
              <a:t>boost_tier </a:t>
            </a:r>
            <a:r>
              <a:rPr lang="en-SG" sz="1100" i="1" dirty="0"/>
              <a:t>= (window - (latest_year – doc_fy)) / window</a:t>
            </a:r>
          </a:p>
        </p:txBody>
      </p:sp>
    </p:spTree>
    <p:extLst>
      <p:ext uri="{BB962C8B-B14F-4D97-AF65-F5344CB8AC3E}">
        <p14:creationId xmlns:p14="http://schemas.microsoft.com/office/powerpoint/2010/main" val="8661333"/>
      </p:ext>
    </p:extLst>
  </p:cSld>
  <p:clrMapOvr>
    <a:masterClrMapping/>
  </p:clrMapOvr>
</p:sld>
</file>

<file path=ppt/theme/theme1.xml><?xml version="1.0" encoding="utf-8"?>
<a:theme xmlns:a="http://schemas.openxmlformats.org/drawingml/2006/main" name="Gallery">
  <a:themeElements>
    <a:clrScheme name="Gallery">
      <a:dk1>
        <a:sysClr val="windowText" lastClr="000000"/>
      </a:dk1>
      <a:lt1>
        <a:sysClr val="window" lastClr="FFFFFF"/>
      </a:lt1>
      <a:dk2>
        <a:srgbClr val="454545"/>
      </a:dk2>
      <a:lt2>
        <a:srgbClr val="DFDBD5"/>
      </a:lt2>
      <a:accent1>
        <a:srgbClr val="B71E42"/>
      </a:accent1>
      <a:accent2>
        <a:srgbClr val="DE478E"/>
      </a:accent2>
      <a:accent3>
        <a:srgbClr val="BC72F0"/>
      </a:accent3>
      <a:accent4>
        <a:srgbClr val="795FAF"/>
      </a:accent4>
      <a:accent5>
        <a:srgbClr val="586EA6"/>
      </a:accent5>
      <a:accent6>
        <a:srgbClr val="6892A0"/>
      </a:accent6>
      <a:hlink>
        <a:srgbClr val="FA2B5C"/>
      </a:hlink>
      <a:folHlink>
        <a:srgbClr val="BC658E"/>
      </a:folHlink>
    </a:clrScheme>
    <a:fontScheme name="Gallery">
      <a:majorFont>
        <a:latin typeface="Gill Sans MT" panose="020B0502020104020203"/>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Gill Sans MT" panose="020B0502020104020203"/>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Gallery">
      <a:fillStyleLst>
        <a:solidFill>
          <a:schemeClr val="phClr"/>
        </a:solidFill>
        <a:gradFill rotWithShape="1">
          <a:gsLst>
            <a:gs pos="0">
              <a:schemeClr val="phClr">
                <a:tint val="54000"/>
                <a:alpha val="100000"/>
                <a:satMod val="105000"/>
                <a:lumMod val="110000"/>
              </a:schemeClr>
            </a:gs>
            <a:gs pos="100000">
              <a:schemeClr val="phClr">
                <a:tint val="78000"/>
                <a:alpha val="92000"/>
                <a:satMod val="109000"/>
                <a:lumMod val="100000"/>
              </a:schemeClr>
            </a:gs>
          </a:gsLst>
          <a:lin ang="5400000" scaled="0"/>
        </a:gradFill>
        <a:gradFill rotWithShape="1">
          <a:gsLst>
            <a:gs pos="0">
              <a:schemeClr val="phClr">
                <a:tint val="98000"/>
                <a:satMod val="110000"/>
                <a:lumMod val="104000"/>
              </a:schemeClr>
            </a:gs>
            <a:gs pos="69000">
              <a:schemeClr val="phClr">
                <a:shade val="88000"/>
                <a:satMod val="130000"/>
                <a:lumMod val="92000"/>
              </a:schemeClr>
            </a:gs>
            <a:gs pos="100000">
              <a:schemeClr val="phClr">
                <a:shade val="78000"/>
                <a:satMod val="130000"/>
                <a:lumMod val="92000"/>
              </a:schemeClr>
            </a:gs>
          </a:gsLst>
          <a:lin ang="5400000" scaled="0"/>
        </a:gradFill>
      </a:fillStyleLst>
      <a:lnStyleLst>
        <a:ln w="9525" cap="flat" cmpd="sng" algn="ctr">
          <a:solidFill>
            <a:schemeClr val="phClr"/>
          </a:solidFill>
          <a:prstDash val="solid"/>
        </a:ln>
        <a:ln w="15875" cap="flat" cmpd="sng" algn="ctr">
          <a:solidFill>
            <a:schemeClr val="phClr"/>
          </a:solidFill>
          <a:prstDash val="solid"/>
        </a:ln>
        <a:ln w="22225" cap="flat" cmpd="sng" algn="ctr">
          <a:solidFill>
            <a:schemeClr val="phClr"/>
          </a:solidFill>
          <a:prstDash val="solid"/>
        </a:ln>
      </a:lnStyleLst>
      <a:effectStyleLst>
        <a:effectStyle>
          <a:effectLst/>
        </a:effectStyle>
        <a:effectStyle>
          <a:effectLst/>
        </a:effectStyle>
        <a:effectStyle>
          <a:effectLst>
            <a:outerShdw blurRad="50800" dist="50800" dir="5400000" sx="96000" sy="96000" rotWithShape="0">
              <a:srgbClr val="000000">
                <a:alpha val="48000"/>
              </a:srgbClr>
            </a:outerShdw>
          </a:effectLst>
          <a:scene3d>
            <a:camera prst="orthographicFront">
              <a:rot lat="0" lon="0" rev="0"/>
            </a:camera>
            <a:lightRig rig="balanced" dir="t">
              <a:rot lat="0" lon="0" rev="1080000"/>
            </a:lightRig>
          </a:scene3d>
          <a:sp3d>
            <a:bevelT w="38100" h="12700" prst="softRound"/>
          </a:sp3d>
        </a:effectStyle>
      </a:effectStyleLst>
      <a:bgFillStyleLst>
        <a:solidFill>
          <a:schemeClr val="phClr"/>
        </a:solidFill>
        <a:solidFill>
          <a:schemeClr val="phClr"/>
        </a:solidFill>
        <a:gradFill rotWithShape="1">
          <a:gsLst>
            <a:gs pos="0">
              <a:schemeClr val="phClr">
                <a:tint val="94000"/>
                <a:satMod val="80000"/>
                <a:lumMod val="106000"/>
              </a:schemeClr>
            </a:gs>
            <a:gs pos="100000">
              <a:schemeClr val="phClr">
                <a:shade val="80000"/>
              </a:schemeClr>
            </a:gs>
          </a:gsLst>
          <a:path path="circle">
            <a:fillToRect l="43000" r="43000" b="100000"/>
          </a:path>
        </a:gradFill>
      </a:bgFillStyleLst>
    </a:fmtScheme>
  </a:themeElements>
  <a:objectDefaults/>
  <a:extraClrSchemeLst/>
  <a:extLst>
    <a:ext uri="{05A4C25C-085E-4340-85A3-A5531E510DB2}">
      <thm15:themeFamily xmlns:thm15="http://schemas.microsoft.com/office/thememl/2012/main" name="Gallery" id="{BBFCD31E-59A1-489D-B089-A3EAD7CAE12E}" vid="{F5E91637-A7B6-4E27-B710-77DA7014EE1E}"/>
    </a:ext>
  </a:ext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Aptos Display" panose="0211000402020202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ptos" panose="0211000402020202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12700" cap="flat" cmpd="sng" algn="ctr">
          <a:solidFill>
            <a:schemeClr val="phClr"/>
          </a:solidFill>
          <a:prstDash val="solid"/>
          <a:miter lim="800000"/>
        </a:ln>
        <a:ln w="19050" cap="flat" cmpd="sng" algn="ctr">
          <a:solidFill>
            <a:schemeClr val="phClr"/>
          </a:solidFill>
          <a:prstDash val="solid"/>
          <a:miter lim="800000"/>
        </a:ln>
        <a:ln w="2540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lnDef>
      <a:spPr/>
      <a:bodyPr/>
      <a:lstStyle/>
      <a:style>
        <a:lnRef idx="2">
          <a:schemeClr val="accent1"/>
        </a:lnRef>
        <a:fillRef idx="0">
          <a:schemeClr val="accent1"/>
        </a:fillRef>
        <a:effectRef idx="1">
          <a:schemeClr val="accent1"/>
        </a:effectRef>
        <a:fontRef idx="minor">
          <a:schemeClr val="tx1"/>
        </a:fontRef>
      </a:style>
    </a:lnDef>
  </a:objectDefaults>
  <a:extraClrSchemeLst/>
  <a:extLst>
    <a:ext uri="{05A4C25C-085E-4340-85A3-A5531E510DB2}">
      <thm15:themeFamily xmlns:thm15="http://schemas.microsoft.com/office/thememl/2012/main" name="Office Theme" id="{2E142A2C-CD16-42D6-873A-C26D2A0506FA}" vid="{1BDDFF52-6CD6-40A5-AB3C-68EB2F1E4D0A}"/>
    </a:ext>
  </a:extLst>
</a:theme>
</file>

<file path=docProps/app.xml><?xml version="1.0" encoding="utf-8"?>
<Properties xmlns="http://schemas.openxmlformats.org/officeDocument/2006/extended-properties" xmlns:vt="http://schemas.openxmlformats.org/officeDocument/2006/docPropsVTypes">
  <Template>Gallery</Template>
  <TotalTime>2674</TotalTime>
  <Words>1258</Words>
  <Application>Microsoft Office PowerPoint</Application>
  <PresentationFormat>Widescreen</PresentationFormat>
  <Paragraphs>167</Paragraphs>
  <Slides>5</Slides>
  <Notes>5</Notes>
  <HiddenSlides>0</HiddenSlides>
  <MMClips>0</MMClips>
  <ScaleCrop>false</ScaleCrop>
  <HeadingPairs>
    <vt:vector size="6" baseType="variant">
      <vt:variant>
        <vt:lpstr>Fonts Used</vt:lpstr>
      </vt:variant>
      <vt:variant>
        <vt:i4>4</vt:i4>
      </vt:variant>
      <vt:variant>
        <vt:lpstr>Theme</vt:lpstr>
      </vt:variant>
      <vt:variant>
        <vt:i4>1</vt:i4>
      </vt:variant>
      <vt:variant>
        <vt:lpstr>Slide Titles</vt:lpstr>
      </vt:variant>
      <vt:variant>
        <vt:i4>5</vt:i4>
      </vt:variant>
    </vt:vector>
  </HeadingPairs>
  <TitlesOfParts>
    <vt:vector size="10" baseType="lpstr">
      <vt:lpstr>Aptos</vt:lpstr>
      <vt:lpstr>Arial</vt:lpstr>
      <vt:lpstr>Gill Sans MT</vt:lpstr>
      <vt:lpstr>Wingdings</vt:lpstr>
      <vt:lpstr>Gallery</vt:lpstr>
      <vt:lpstr>System Architecture</vt:lpstr>
      <vt:lpstr>System Architecture</vt:lpstr>
      <vt:lpstr>System Architecture</vt:lpstr>
      <vt:lpstr>System Architecture</vt:lpstr>
      <vt:lpstr>System Architecture</vt:lpstr>
    </vt:vector>
  </TitlesOfParts>
  <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creator>Tan, Humphrey Wei Han</dc:creator>
  <cp:lastModifiedBy>Tan, Humphrey Wei Han</cp:lastModifiedBy>
  <cp:revision>704</cp:revision>
  <dcterms:created xsi:type="dcterms:W3CDTF">2026-01-26T05:50:14Z</dcterms:created>
  <dcterms:modified xsi:type="dcterms:W3CDTF">2026-02-12T05:13:38Z</dcterms:modified>
</cp:coreProperties>
</file>